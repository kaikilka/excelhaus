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irbnb.com/s/Bairro-Alto--Lisbon--Portugal/homes?checkin=2025-10-30&amp;checkout=2025-11-02&amp;adults=4&amp;min_bedrooms=2&amp;room_types%5B%5D=Entire+home%2Fapt" TargetMode="External"/><Relationship Id="rId4" Type="http://schemas.openxmlformats.org/officeDocument/2006/relationships/hyperlink" Target="https://www.airbnb.com/s/Chiado--Lisbon--Portugal/homes?checkin=2025-10-30&amp;checkout=2025-11-02&amp;adults=4&amp;min_bedrooms=2&amp;room_types%5B%5D=Entire+home%2Fapt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irbnb.com/s/Navigli--Milan--Italy/homes?checkin=2025-10-30&amp;checkout=2025-11-02&amp;adults=4&amp;min_bedrooms=2&amp;room_types%5B%5D=Entire+home%2Fapt" TargetMode="External"/><Relationship Id="rId4" Type="http://schemas.openxmlformats.org/officeDocument/2006/relationships/hyperlink" Target="https://www.airbnb.com/s/Brera--Milan--Italy/homes?checkin=2025-10-30&amp;checkout=2025-11-02&amp;adults=4&amp;min_bedrooms=2&amp;room_types%5B%5D=Entire+home%2Fapt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xcelhaus/halloween_trip/title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>
              <a:alpha val="58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0" y="594360"/>
            <a:ext cx="1219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🎃</a:t>
            </a:r>
            <a:endParaRPr lang="en-US" sz="7200" dirty="0"/>
          </a:p>
        </p:txBody>
      </p:sp>
      <p:sp>
        <p:nvSpPr>
          <p:cNvPr id="6" name="Text 3"/>
          <p:cNvSpPr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HALLOWEEN-TRIP 2025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457200" y="2542032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30. Okt. – 2. Nov.  ·  4 Jungs  ·  Europäische Hauptstadt  ·  Halloween-Nacht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1828800" y="3246120"/>
            <a:ext cx="8531352" cy="548640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828800" y="3246120"/>
            <a:ext cx="8531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Bereits bereist:   ✓ Riga   ✓ Athen   ✓ Tirana   ✓ Belgrad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57200" y="397764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 ZIELE STEHEN FEST — ES GEHT LOS!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1984248" y="4709160"/>
            <a:ext cx="3840480" cy="68580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984248" y="470916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LISSABON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6099048" y="4709160"/>
            <a:ext cx="3840480" cy="685800"/>
          </a:xfrm>
          <a:prstGeom prst="rect">
            <a:avLst/>
          </a:prstGeom>
          <a:solidFill>
            <a:srgbClr val="0F3460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99048" y="470916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🇮🇹 MAILAND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0" y="571500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Ziele: Direktflug ab DUS  ·  Lissabon 17–22°C · Mailand 12–16°C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REISEZIEL 1 — LISSABON, PORTUGAL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6" name="Image 0" descr="/home/user/Excelhaus/halloween_trip/lisbon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58952"/>
            <a:ext cx="6400800" cy="49377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03520" y="758952"/>
            <a:ext cx="1097280" cy="49377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8686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Nachtleben-Hauptstadt des Atlantiks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583680" y="1261872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Bairro Alto · Pink Street · Alfama Fado · Castelo de São Jorge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583680" y="169164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Flugdauer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583680" y="203911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3h 10m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 DUS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394192" y="169164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94192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Bier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394192" y="203911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€2 – €3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 Pint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0204704" y="169164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204704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🌡 Wetter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204704" y="203911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17–22°C ☀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Ende Oktober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583680" y="292608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83680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Kosten ca.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83680" y="327355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~€735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 Person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394192" y="292608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394192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🏙 Nightlife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394192" y="327355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⭐⭐⭐⭐⭐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Weltklasse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10204704" y="292608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204704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Ab Flughafen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10204704" y="327355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Nur DUS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(Eurowings/TAP)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583680" y="4251960"/>
            <a:ext cx="5394960" cy="14173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20840" y="4343400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Lissabon punktet mit warmem Atlantik-Charme und einer der günstigsten, lebendigsten Nachtlebensszenen Europas. Bairro Alto explodiert ab Mitternacht mit 200+ Bars. Pink-Street-Clubs laufen bis in den Morgen. Die Stadt feiert Halloween ausgiebig — Kneipentour, Kostümparties und Mega-Club-Events. Ende Oktober: T-Shirt-Wetter garantiert.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LISSABON — FLÜGE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1440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HINFLUG: Deutschland → LIS (Lissabon)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61872"/>
          <a:ext cx="11430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508760"/>
                <a:gridCol w="1828800"/>
                <a:gridCol w="1097280"/>
                <a:gridCol w="1097280"/>
                <a:gridCol w="1097280"/>
                <a:gridCol w="146304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Option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Flug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Strecke &amp; Datum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Abflug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Ankunft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Dauer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Preis p.P.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Gesamt (×4)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⭐ Empfohlen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EW9602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LIS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 Okt. morgens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12:20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05m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8C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Frühabflug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EW9602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LIS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 Okt.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06:20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08:25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05m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Vorabend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EW9604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LIS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 Okt. abends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~18:30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~20:30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00m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TP541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TAP Portugal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LIS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 Okt.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Verschieden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Verschieden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10m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€150–180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€600–720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3712464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RÜCKFLUG: LIS (Lissabon) → Deutschland (2. Nov.)</a:t>
            </a:r>
            <a:endParaRPr lang="en-US" sz="13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050792"/>
          <a:ext cx="11430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188720"/>
                <a:gridCol w="1188720"/>
                <a:gridCol w="1188720"/>
                <a:gridCol w="164592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Flug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Strecke &amp; Datum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Abflug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Ankunft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Dauer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Preis p.P.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Gesamt (×4)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EW9603 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 → DUS  /  2. Nov.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18:00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21:50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50m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365760" y="5010912"/>
            <a:ext cx="11430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02920" y="505663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DUS (Düsseldorf) ist der EINZIGE Flughafen mit Direktverbindung nach Lissabon — Eurowings &amp; TAP Air Portugal fliegen täglich non-stop.  DTM &amp; FMO erfordern Umsteigen (8h+ Gesamtreisezeit).  Buchen: eurowings.com · kayak.com · Hin &amp; Zurück Ø ~€170–190 p.P.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8046720" y="5788152"/>
            <a:ext cx="3749040" cy="77724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046720" y="58064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 &amp; Zurück · 4 Personen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8046720" y="60807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€640 – €760 gesamt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LISSABON — UNTERKUNFT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6" name="Image 0" descr="/home/user/Excelhaus/halloween_trip/lisbon_airbn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58952"/>
            <a:ext cx="5029200" cy="3108960"/>
          </a:xfrm>
          <a:prstGeom prst="rect">
            <a:avLst/>
          </a:prstGeom>
        </p:spPr>
      </p:pic>
      <p:pic>
        <p:nvPicPr>
          <p:cNvPr id="7" name="Image 1" descr="/home/user/Excelhaus/halloween_trip/lisbon_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13632"/>
            <a:ext cx="5029200" cy="21031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303520" y="822960"/>
            <a:ext cx="6675120" cy="50292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440680" y="82296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Bairro Alto / São Roque — 2-Zimmer-Wohnung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303520" y="142646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30352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🛏 2 Schlafzimmer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543800" y="142646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54380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🚿 2 Bäder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9784080" y="142646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78408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 Balkon ✓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303520" y="192938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30352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4 Gäste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543800" y="192938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54380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Zentrallage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784080" y="192938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78408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 Klimaanlage ✓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303520" y="2505456"/>
            <a:ext cx="6675120" cy="5029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394960" y="25054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Bairro Alto — direkt im Herz der 200+ Bars, Pink Street 10 Fußminuten entfernt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5303520" y="3108960"/>
            <a:ext cx="6675120" cy="13716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486400" y="3163824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PREISE  (30. Okt. – 2. Nov., 3 Nächte)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5486400" y="3493008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Nacht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9418320" y="3493008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~€130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5486400" y="3689604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Nächte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9418320" y="3689604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~€390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5486400" y="3886200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Reinigung &amp; Gebühren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9418320" y="3886200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~€60–80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5486400" y="4082796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 für 4 Pers.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9418320" y="4082796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~€450–480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5486400" y="4279392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Person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9418320" y="4279392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~€113–120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5303520" y="4599432"/>
            <a:ext cx="6675120" cy="603504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7" name="Text 33">
            <a:hlinkClick r:id="rId3" tooltip="Airbnb öffnen — 30. Okt.–2. Nov., 4 Gäste, 2 SZ"/>
          </p:cNvPr>
          <p:cNvSpPr/>
          <p:nvPr/>
        </p:nvSpPr>
        <p:spPr>
          <a:xfrm>
            <a:off x="5303520" y="4599432"/>
            <a:ext cx="6675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3" invalidUrl="" action="" tgtFrame="" tooltip="Airbnb öffnen — 30. Okt.–2. Nov., 4 Gäste, 2 SZ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🔍  Airbnb: Lissabon durchsuchen  →</a:t>
            </a:r>
            <a:endParaRPr lang="en-US" sz="1500" dirty="0"/>
          </a:p>
        </p:txBody>
      </p:sp>
      <p:sp>
        <p:nvSpPr>
          <p:cNvPr id="38" name="Text 34">
            <a:hlinkClick r:id="rId4" tooltip="Alternative Suche öffnen"/>
          </p:cNvPr>
          <p:cNvSpPr/>
          <p:nvPr/>
        </p:nvSpPr>
        <p:spPr>
          <a:xfrm>
            <a:off x="5394960" y="5276088"/>
            <a:ext cx="6492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u="sng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Alternative Suche öffne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📍 Alternativ in Chiado suchen: airbnb.com/s/Chiado--Lisbon (2 SZ, 4 Gäste, gleiche Daten)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5394960" y="5577840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Halloween-Wochenende ist schnell ausgebucht — jetzt klicken &amp; buchen!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LISSABON — TAGESPROGRAMM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9611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89611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91440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TAG 1 — DO., 30. OKT.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472" y="109728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Ankunftstag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33502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 EW9602 landet LIS 12:20 · Einchecken in Bairro Alto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🚶  SANDEMANs Stadtführung 15:30 @ Praça do Comércio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186537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(2,5h, Trinkgeld €10–15 · Baixa, Alfama, Aussichtspunkte)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213055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  Abendessen: Petiscos bei Tasca do Chico ab 20 Uhr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239572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 Bairro Alto Kneipenbummel: 200+ Bars, €2–3 Bier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26609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Start @ Park Bar (Dachterrasse) → Pavilhão Chinês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17920" y="89611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89611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91072" y="91440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TAG 2 — FR., 31. OKT. 🎃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91072" y="109728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HALLOWEEN-NACHT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09360" y="133502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🍳  Kochkurs Cooking Lisbon ab 9:30 Uhr (4h, €110 p.P.)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09360" y="1600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Mercado 31 de Janeiro · 3-Gang-Menü + Wein inklusive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309360" y="186537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Buchung: cookinglisbon.com/market-tour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09360" y="213055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🕙  Halloween-Kneipentour 22 Uhr · €28 p.P.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09360" y="239572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Treffpkt.: Praça Luís de Camões · 3 Bars · 1h offene Bar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309360" y="26609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Shots · Kostüm-Wettbewerb · VIP-Clubeintritt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92608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🎶  Ab 1 Uhr: Brunch Electronik Halloween Special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309360" y="319125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Pavilhão Carlos Lopes · Chris Liebing B2B Luke Slater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377647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" y="377647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7472" y="379476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TAG 3 — SA., 1. NOV.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47472" y="397764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Erkunden &amp; Entspannen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65760" y="421538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🌅  Ausschlafen — Pastéis de Nata bei Pasteis de Belém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" y="4480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🚋  Straßenbahn 28: malerische Fahrt durch Alfama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65760" y="474573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 Cerveja Musa Craft-Brauerei, Mouraria (lokale IPAs)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65760" y="501091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🌇  Miradouro da Graça: bester Sonnenuntergangs-Aussichtsp.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" y="52760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 Fado-Abend: Tasca do Chico oder Zé da Viola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5760" y="55412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🌃  Pink Street Nacht: Pensão Amor + Music Box · Lux Frágil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17920" y="377647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17920" y="377647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91072" y="379476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TAG 4 — SO., 2. NOV.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291072" y="397764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Abreisetag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09360" y="421538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Morgen-Kaffee @ A Brasileira, Chiado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09360" y="4480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🏰  Kurzer Besuch Castelo de São Jorge (optional)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309360" y="474573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🛍  Souvenirs: Ginjinha-Likör, Sardinenkonserven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09360" y="501091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🚌  Transfer zum Flughafen (45 Min. einplanen)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309360" y="52760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 EW9603  18:00 LIS → 21:50 DUS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74320" y="6510528"/>
            <a:ext cx="11612880" cy="20116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6510528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Kneipentour: eventbrite.co.uk/e/1981093800888  ·  Kochkurs: cookinglisbon.com/booking  ·  Stadtführung: neweuropetours.eu/lisbon  ·  Lux Frágil: luxfragil.com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LISSABON — KOSTENÜBERSICHT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11247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75488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Posten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Details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p.P.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Gesamt ×4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Hin- und Rückflug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 EW9602/9603  DUS ↔ LIS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~€680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Unterkunft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Airbnb Bairro Alto — 3 Nächte (inkl. Gebühren)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Halloween-Kneipentour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Halloween Haunts — Chiado (31. Okt.)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Kochkurs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Cooking Lisbon — Markt + 3-Gang-Menü + Wein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Stadtführung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SANDEMANs — Praça do Comércio (Trinkgeld)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Essen (3 Tage)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Mahlzeiten, Petiscos, Pastéis — Ø €15–25/Mahlzeit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Getränke &amp; Ausgehen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Bairro Alto + Pink Street + Clubs (3 Nächte)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Sonstiges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Bolt/Uber, Trinkgelder, Souvenirs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🏆  GESAMTSCHÄTZUNG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CA3A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Lissabon, 30. Okt. – 2. Nov. 2025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~€735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~€2.940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5257800"/>
            <a:ext cx="11247120" cy="59436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5303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Budgetrahmen: €600–900 p.P. je nach Partylust.  Bier ab €2–3, Supermarkt-Runs helfen sparen.  Clubs (Lux Frágil, Brunch Electronik) kosten je ~€20–30 extra.  Leitungswasser in Restaurants gratis.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8003C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🇮🇹  REISEZIEL 2 — MAILAND, ITALIEN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C8003C"/>
          </a:solidFill>
          <a:ln w="12700">
            <a:solidFill>
              <a:srgbClr val="C8003C"/>
            </a:solidFill>
            <a:prstDash val="solid"/>
          </a:ln>
        </p:spPr>
      </p:sp>
      <p:pic>
        <p:nvPicPr>
          <p:cNvPr id="6" name="Image 0" descr="/home/user/Excelhaus/halloween_trip/milan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58952"/>
            <a:ext cx="6400800" cy="49377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03520" y="758952"/>
            <a:ext cx="1097280" cy="49377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8686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Aperitivo, Mode &amp; Nachtleben an den Navigli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583680" y="1261872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Navigli · Corso Como · Duomo · Brera · Clubs bis 5 Uhr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583680" y="169164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Flugdauer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583680" y="203911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1h 40m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 DUS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394192" y="169164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94192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Bier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394192" y="203911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€5–7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(Nastro Azzurro)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0204704" y="169164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204704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🌡 Wetter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204704" y="203911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12–16°C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Ende Oktober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583680" y="292608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83680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Kosten ca.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83680" y="327355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~€700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 Person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394192" y="292608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394192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🏙 Nightlife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394192" y="327355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⭐⭐⭐⭐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Navigli &amp; Corso Como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10204704" y="292608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204704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Ab Flughafen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10204704" y="327355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DUS direkt!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(Eurowings/ITA)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583680" y="4251960"/>
            <a:ext cx="5394960" cy="14173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20840" y="4343400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Mailand ist mit nur 1h 40m Flugzeit das nächste Ziel — Direktflug ab DUS mit Eurowings. Das Navigli-Viertel mit seinen Kanälen ist die Aperitivo-Hochburg Italiens: ab 18 Uhr Drinks + gratis Buffet für ~€10. Corso Como und die Isola-Szene bieten Clubs bis 5 Uhr. Das Duomo di Milano leuchtet nachts orange — perfekt für Halloween-Fotos. Und die Mailänder feiern Halloween ausgiebig.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8003C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🇮🇹  MAILAND — FLÜGE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C8003C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1440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HINFLUG: Deutschland → MXP (Mailand-Malpensa)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61872"/>
          <a:ext cx="11430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508760"/>
                <a:gridCol w="1828800"/>
                <a:gridCol w="1097280"/>
                <a:gridCol w="1097280"/>
                <a:gridCol w="1097280"/>
                <a:gridCol w="146304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003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Option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003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Flug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003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Strecke &amp; Datum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003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Abflug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003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Ankunft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003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Dauer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003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Preis p.P.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003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Gesamt (×4)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⭐ Empfohlen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MXP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 Okt. früh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~07:00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~08:40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1h 40m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8C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Vorabend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MXP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 Okt. abends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~18:xx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~19:40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1h 40m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Mittag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 Airways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(ex-Alitalia)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MXP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 Okt.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~12:xx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~13:50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1h 40m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~€100–130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~€400–520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Ryanair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BGY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 Okt.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Verschieden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Verschieden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1h 45m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~€50–80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~€200–320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3712464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RÜCKFLUG: MXP (Mailand-Malpensa) → Deutschland (2. Nov.)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050792"/>
          <a:ext cx="11430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188720"/>
                <a:gridCol w="1188720"/>
                <a:gridCol w="1188720"/>
                <a:gridCol w="164592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003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Flug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003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Strecke &amp; Datum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003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Abflug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003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Ankunft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003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Dauer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003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Preis p.P.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003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Gesamt (×4)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 / Ryanair  (MXP/BGY→DUS)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MXP → DUS  /  2. Nov.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Verschieden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Verschieden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1h 40m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~€70–100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~€280–400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365760" y="5010912"/>
            <a:ext cx="11430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02920" y="505663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DUS (Düsseldorf) → MXP (Mailand-Malpensa): Direktflug mit Eurowings täglich, ~1h 40m.  Malpensa liegt 45 km nordwestlich vom Zentrum — Malpensa Express Zug ~52 Min., €13 ins Stadtzentrum.  Budget-Option: DUS → BGY (Bergamo/Orio al Serio) mit Ryanair — Bus nach Mailand ~1h, €5–6.  Buchen: eurowings.com · ryanair.com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8046720" y="5788152"/>
            <a:ext cx="3749040" cy="777240"/>
          </a:xfrm>
          <a:prstGeom prst="rect">
            <a:avLst/>
          </a:prstGeom>
          <a:solidFill>
            <a:srgbClr val="0F3460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046720" y="58064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 &amp; Zurück · 4 Personen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8046720" y="60807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€480 – €640 gesamt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8003C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🇮🇹  MAILAND — UNTERKUNFT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C8003C"/>
          </a:solidFill>
          <a:ln w="12700">
            <a:solidFill>
              <a:srgbClr val="C8003C"/>
            </a:solidFill>
            <a:prstDash val="solid"/>
          </a:ln>
        </p:spPr>
      </p:sp>
      <p:pic>
        <p:nvPicPr>
          <p:cNvPr id="6" name="Image 0" descr="/home/user/Excelhaus/halloween_trip/milan_airbn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58952"/>
            <a:ext cx="5029200" cy="3108960"/>
          </a:xfrm>
          <a:prstGeom prst="rect">
            <a:avLst/>
          </a:prstGeom>
        </p:spPr>
      </p:pic>
      <p:pic>
        <p:nvPicPr>
          <p:cNvPr id="7" name="Image 1" descr="/home/user/Excelhaus/halloween_trip/milan_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13632"/>
            <a:ext cx="5029200" cy="21031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303520" y="822960"/>
            <a:ext cx="6675120" cy="502920"/>
          </a:xfrm>
          <a:prstGeom prst="rect">
            <a:avLst/>
          </a:prstGeom>
          <a:solidFill>
            <a:srgbClr val="0F3460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440680" y="82296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Navigli / Porta Ticinese — 2-Zi.-Wohnung am Kanal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303520" y="142646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30352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0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🛏 2 Schlafzimmer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543800" y="142646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54380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0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🚿 2 Bäder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9784080" y="142646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78408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 Balkon/Terrasse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303520" y="192938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30352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0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4 Gäste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543800" y="192938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54380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0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 Klimaanlage ✓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784080" y="192938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78408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0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🍹 Navigli Bars 1 Min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303520" y="2505456"/>
            <a:ext cx="6675120" cy="5029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394960" y="25054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Navigli — direkt an der Aperitivo-Meile, 15 Min. per Metro/Tram zum Duomo &amp; Corso Como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5303520" y="3108960"/>
            <a:ext cx="6675120" cy="1371600"/>
          </a:xfrm>
          <a:prstGeom prst="rect">
            <a:avLst/>
          </a:prstGeom>
          <a:solidFill>
            <a:srgbClr val="16213E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486400" y="3163824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PREISE  (30. Okt. – 2. Nov., 3 Nächte)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5486400" y="3493008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Nacht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9418320" y="3493008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~€130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5486400" y="3689604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Nächte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9418320" y="3689604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~€390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5486400" y="3886200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Reinigung &amp; Gebühren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9418320" y="3886200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~€60–80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5486400" y="4082796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 für 4 Pers.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9418320" y="4082796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~€450–470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5486400" y="4279392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Person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9418320" y="4279392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~€113–118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5303520" y="4599432"/>
            <a:ext cx="6675120" cy="603504"/>
          </a:xfrm>
          <a:prstGeom prst="rect">
            <a:avLst/>
          </a:prstGeom>
          <a:solidFill>
            <a:srgbClr val="C8003C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37" name="Text 33">
            <a:hlinkClick r:id="rId3" tooltip="Airbnb öffnen — 30. Okt.–2. Nov., 4 Gäste, 2 SZ"/>
          </p:cNvPr>
          <p:cNvSpPr/>
          <p:nvPr/>
        </p:nvSpPr>
        <p:spPr>
          <a:xfrm>
            <a:off x="5303520" y="4599432"/>
            <a:ext cx="6675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3" invalidUrl="" action="" tgtFrame="" tooltip="Airbnb öffnen — 30. Okt.–2. Nov., 4 Gäste, 2 SZ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🔍  Airbnb: Mailand durchsuchen  →</a:t>
            </a:r>
            <a:endParaRPr lang="en-US" sz="1500" dirty="0"/>
          </a:p>
        </p:txBody>
      </p:sp>
      <p:sp>
        <p:nvSpPr>
          <p:cNvPr id="38" name="Text 34">
            <a:hlinkClick r:id="rId4" tooltip="Alternative Suche öffnen"/>
          </p:cNvPr>
          <p:cNvSpPr/>
          <p:nvPr/>
        </p:nvSpPr>
        <p:spPr>
          <a:xfrm>
            <a:off x="5394960" y="5276088"/>
            <a:ext cx="6492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u="sng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Alternative Suche öffne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📍 Alternativ in Brera/Isola suchen: airbnb.com/s/Brera--Milan (Designviertel, gleiche Daten)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5394960" y="5577840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Halloween-Wochenende ist schnell ausgebucht — jetzt klicken &amp; buchen!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8003C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🇮🇹  MAILAND — TAGESPROGRAMM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C8003C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9611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89611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91440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TAG 1 — DO., 30. OKT.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472" y="109728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Ankunftstag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33502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 Eurowings landet MXP ~08:40 · Malpensa Express ins Zentrum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 Einchecken in Navigli (Check-in ab 15 Uhr)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186537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🚶  SANDEMANs Stadtführung 14:30 @ Duomo (2,5h, Trinkgeld)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213055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Duomo, Galleria Vittorio Emanuele, Castello Sforzesco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239572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🍹  Aperitivo ab 18 Uhr am Naviglio Grande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26609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€8–10 Drink + gratis Buffet — Mailänder Tradition!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292608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🌃  Erste Nacht: Navigli-Bars &amp; Darsena-Platz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17920" y="89611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0" y="89611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91072" y="91440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TAG 2 — FR., 31. OKT. 🎃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91072" y="109728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HALLOWEEN-NACHT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09360" y="133502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🍳  Pasta-Kochkurs 10:00 Uhr (3h, €70 p.P., Navigli)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309360" y="1600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Risotto alla Milanese + Ossobuco + Tiramisu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09360" y="186537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🛍  Nachmittags: Brera Designviertel oder Modeboulevard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09360" y="213055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🎃  Halloween Kneipentour Navigli ab 21 Uhr · ~€20 p.P.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309360" y="239572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Treffpunkt Darsena · 4 Bars · Shots · Kostüm-Contest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6609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🎶  Ab 1 Uhr: Alcatraz oder Volt Club — Halloween Special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309360" y="292608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Corso Como Party bis 5 Uhr morgens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377647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" y="377647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7472" y="379476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TAG 3 — SA., 1. NOV.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47472" y="397764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Erkunden &amp; Ausgehen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65760" y="421538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🌅  Ausschlafen — Mailands Nächte enden spät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" y="4480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Frühstück: Cappuccino + Cornetto an der Bar (€2)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65760" y="474573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  Duomo Dachterrasse (Blick über ganz Mailand, ~€14)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65760" y="501091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🛒  Mercato Metropolitano oder Fiera di Sinigaglia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" y="52760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🍝  Abendessen: Risotto Milanese in der Navigli-Trattoria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5760" y="55412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🌃  Letzte Nacht: Isola-Viertel Bars + Corso Como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17920" y="377647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17920" y="377647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91072" y="379476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TAG 4 — SO., 2. NOV.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291072" y="397764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Abreisetag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09360" y="421538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Letzter Cappuccino an der Bar — nie im Sitzen!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09360" y="4480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🛍  Souvenirs: Panettone, Amaro, Design-Mitbringsel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309360" y="474573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🚂  Malpensa Express zum Flughafen (52 Min.)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09360" y="501091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 Eurowings MXP → DUS (Nachmittag)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74320" y="6510528"/>
            <a:ext cx="11612880" cy="20116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6510528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Halloween Kneipentour: eventbrite.it → "Milan Halloween Bar Crawl"  ·  Kochkurs: cookly.app → "Milan Pasta Class"  ·  Stadtführung: neweuropetours.eu/milan  ·  Alcatraz Club: alcatrazmilano.com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8003C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🇮🇹  MAILAND — KOSTENÜBERSICHT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C8003C"/>
          </a:solidFill>
          <a:ln w="12700">
            <a:solidFill>
              <a:srgbClr val="C8003C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11247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75488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8003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Posten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8003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Details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8003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p.P.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Gesamt ×4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Hin- und Rückflug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 EW  DUS ↔ MXP (Direktflug)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~€680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Unterkunft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Airbnb Navigli — 3 Nächte (inkl. Gebühren)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Halloween Kneipentour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 Crawl Navigli / Darsena (31. Okt.)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Kochkurs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Pasta-Kochkurs Navigli — Risotto + Ossobuco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Stadtführung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SANDEMANs — Duomo (Trinkgeld)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Essen (3 Tage)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Trattoria, Aperitivo-Buffet, Bar-Frühstück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~€520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Getränke &amp; Ausgehen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Navigli + Corso Como + Clubs (3 Nächte)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~€640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Sonstiges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Malpensa Express, Tram, Souvenirs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🏆  GESAMTSCHÄTZUNG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CA3A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Mailand, 30. Okt. – 2. Nov. 2025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8003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~€707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~€2.828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5257800"/>
            <a:ext cx="11247120" cy="594360"/>
          </a:xfrm>
          <a:prstGeom prst="rect">
            <a:avLst/>
          </a:prstGeom>
          <a:solidFill>
            <a:srgbClr val="16213E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5303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Kürzester Flug dieser Auswahl (1h 40m ab DUS)!  Aperitivo-Zeit (18–21 Uhr): Drink + gratis Buffet ~€10 — spart Abendessenkosten.  Cappuccino an der Bar stehend: €1,50.  Budgetrahmen: €600–850 p.P.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⚔️  DIREKTVERGLEICH — LISSABON vs. MAILAND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29000" y="777240"/>
            <a:ext cx="4160520" cy="512064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777240"/>
            <a:ext cx="4160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LISSABON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680960" y="777240"/>
            <a:ext cx="4160520" cy="512064"/>
          </a:xfrm>
          <a:prstGeom prst="rect">
            <a:avLst/>
          </a:prstGeom>
          <a:solidFill>
            <a:srgbClr val="0F3460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0" y="777240"/>
            <a:ext cx="4160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🇮🇹 MAILAND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4320" y="1325880"/>
            <a:ext cx="310896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3258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Kosten p.P.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9000" y="1325880"/>
            <a:ext cx="416052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0440" y="13258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~€735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680960" y="1325880"/>
            <a:ext cx="416052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0" y="13258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~€707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1783080"/>
            <a:ext cx="310896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7830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Flugdauer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429000" y="1783080"/>
            <a:ext cx="416052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20440" y="17830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3h 10m  ab DUS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80960" y="1783080"/>
            <a:ext cx="416052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0" y="17830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 40m  ab DUS  ✈ schnellste!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2240280"/>
            <a:ext cx="310896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2402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🛫 Flughafen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429000" y="2240280"/>
            <a:ext cx="416052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20440" y="22402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DUS — Eurowings / TAP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680960" y="2240280"/>
            <a:ext cx="416052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0" y="22402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DUS — Eurowings / ITA / Ryanair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2697480"/>
            <a:ext cx="310896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6974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Bierpreis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29000" y="2697480"/>
            <a:ext cx="416052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20440" y="26974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€2–3  (Super Bock / Sagres)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680960" y="2697480"/>
            <a:ext cx="416052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0" y="26974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€5–7  (Nastro Azzurro)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3154680"/>
            <a:ext cx="310896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1546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🌡 Wetter Ende Okt.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429000" y="3154680"/>
            <a:ext cx="416052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20440" y="31546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17–22°C  ☀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680960" y="3154680"/>
            <a:ext cx="416052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0" y="31546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12–16°C  🧥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74320" y="3611880"/>
            <a:ext cx="310896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36118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🎃 Halloween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29000" y="3611880"/>
            <a:ext cx="416052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520440" y="36118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⭐⭐⭐⭐  Clubs bis 6 Uhr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680960" y="3611880"/>
            <a:ext cx="416052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72400" y="36118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⭐⭐⭐⭐  Corso Como bis 5 Uhr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74320" y="4069080"/>
            <a:ext cx="310896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690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🏙 Viertel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429000" y="4069080"/>
            <a:ext cx="416052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20440" y="40690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Bairro Alto · Pink Street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680960" y="4069080"/>
            <a:ext cx="416052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72400" y="40690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Navigli · Corso Como · Isola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274320" y="4526280"/>
            <a:ext cx="310896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5262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Highlight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3429000" y="4526280"/>
            <a:ext cx="416052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520440" y="45262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Fado · Atlantik-Charme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7680960" y="4526280"/>
            <a:ext cx="416052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72400" y="45262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Aperitivo + gratis Buffet ab 18h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274320" y="4983480"/>
            <a:ext cx="310896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5760" y="49834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🍳 Kochkurs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429000" y="4983480"/>
            <a:ext cx="416052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520440" y="49834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€110 p.P.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7680960" y="4983480"/>
            <a:ext cx="416052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72400" y="49834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€70 p.P.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274320" y="5440680"/>
            <a:ext cx="310896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65760" y="54406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Unterkunft p.P.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3429000" y="5440680"/>
            <a:ext cx="416052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520440" y="54406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~€113–120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7680960" y="5440680"/>
            <a:ext cx="416052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772400" y="54406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~€113–118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274320" y="5897880"/>
            <a:ext cx="3108960" cy="4572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65760" y="58978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Stärke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3429000" y="5897880"/>
            <a:ext cx="4160520" cy="45720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520440" y="58978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Nightlife-Weltklasse + Wärme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7680960" y="5897880"/>
            <a:ext cx="4160520" cy="457200"/>
          </a:xfrm>
          <a:prstGeom prst="rect">
            <a:avLst/>
          </a:prstGeom>
          <a:solidFill>
            <a:srgbClr val="0F3460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772400" y="58978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Kürzester Flug + Fashion + Pasta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🏆  TRIP HALL OF FAME — DIE LEGENDE WÄCHST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32688"/>
            <a:ext cx="3291840" cy="2578608"/>
          </a:xfrm>
          <a:prstGeom prst="rect">
            <a:avLst/>
          </a:prstGeom>
          <a:solidFill>
            <a:srgbClr val="16213E"/>
          </a:solidFill>
          <a:ln w="12700">
            <a:solidFill>
              <a:srgbClr val="E8C85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932688"/>
            <a:ext cx="3291840" cy="420624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932688"/>
            <a:ext cx="3291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C85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🇱🇻  2021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28600" y="138988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1810512"/>
            <a:ext cx="3017520" cy="22860"/>
          </a:xfrm>
          <a:prstGeom prst="rect">
            <a:avLst/>
          </a:prstGeom>
          <a:solidFill>
            <a:srgbClr val="E8C85A"/>
          </a:solidFill>
          <a:ln w="12700">
            <a:solidFill>
              <a:srgbClr val="E8C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847088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Bier: €0,80 — ewiger Rekord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0040" y="2359152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🌃 Clubs bis 7 Uhr morgens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20040" y="2871216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8C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Günstigster Trip aller Zeiten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703320" y="932688"/>
            <a:ext cx="3291840" cy="2578608"/>
          </a:xfrm>
          <a:prstGeom prst="rect">
            <a:avLst/>
          </a:prstGeom>
          <a:solidFill>
            <a:srgbClr val="16213E"/>
          </a:solidFill>
          <a:ln w="12700">
            <a:solidFill>
              <a:srgbClr val="5A8F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03320" y="932688"/>
            <a:ext cx="3291840" cy="420624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3320" y="932688"/>
            <a:ext cx="3291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A8F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🇬🇷  2022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703320" y="138988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ATHEN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840480" y="1810512"/>
            <a:ext cx="3017520" cy="22860"/>
          </a:xfrm>
          <a:prstGeom prst="rect">
            <a:avLst/>
          </a:prstGeom>
          <a:solidFill>
            <a:srgbClr val="5A8FE8"/>
          </a:solidFill>
          <a:ln w="12700">
            <a:solidFill>
              <a:srgbClr val="5A8F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94760" y="1847088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🌅 Dachbar mit Akropolis-Blick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794760" y="2359152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🐟 Ouzo-Entscheidung: bereut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794760" y="2871216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A8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Wärmster Trip bisher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28600" y="3675888"/>
            <a:ext cx="3291840" cy="2578608"/>
          </a:xfrm>
          <a:prstGeom prst="rect">
            <a:avLst/>
          </a:prstGeom>
          <a:solidFill>
            <a:srgbClr val="16213E"/>
          </a:solidFill>
          <a:ln w="12700">
            <a:solidFill>
              <a:srgbClr val="E85A5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" y="3675888"/>
            <a:ext cx="3291840" cy="420624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" y="3675888"/>
            <a:ext cx="3291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5A5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🇦🇱  2023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228600" y="413308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TIRANA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365760" y="4553712"/>
            <a:ext cx="3017520" cy="22860"/>
          </a:xfrm>
          <a:prstGeom prst="rect">
            <a:avLst/>
          </a:prstGeom>
          <a:solidFill>
            <a:srgbClr val="E85A5A"/>
          </a:solidFill>
          <a:ln w="12700">
            <a:solidFill>
              <a:srgbClr val="E85A5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4590288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🥘 Bestes Essen: unerwartet gut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20040" y="5102352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Barkeeper wurde Freund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20040" y="5614416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8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Geheimtipp des Jahres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703320" y="3675888"/>
            <a:ext cx="3291840" cy="2578608"/>
          </a:xfrm>
          <a:prstGeom prst="rect">
            <a:avLst/>
          </a:prstGeom>
          <a:solidFill>
            <a:srgbClr val="16213E"/>
          </a:solidFill>
          <a:ln w="12700">
            <a:solidFill>
              <a:srgbClr val="A55A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03320" y="3675888"/>
            <a:ext cx="3291840" cy="420624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703320" y="3675888"/>
            <a:ext cx="3291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55A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🇷🇸  2024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3703320" y="413308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BELGRAD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3840480" y="4553712"/>
            <a:ext cx="3017520" cy="22860"/>
          </a:xfrm>
          <a:prstGeom prst="rect">
            <a:avLst/>
          </a:prstGeom>
          <a:solidFill>
            <a:srgbClr val="A55AE8"/>
          </a:solidFill>
          <a:ln w="12700">
            <a:solidFill>
              <a:srgbClr val="A55A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794760" y="4590288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⛵ Splavovi-Clubs am Fluss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794760" y="5102352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🌄 Heimkehr beim Sonnenaufgang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794760" y="5614416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A55A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Wildeste Nacht aller Zeiten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223760" y="914400"/>
            <a:ext cx="4709160" cy="5742432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23760" y="914400"/>
            <a:ext cx="4709160" cy="54864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3760" y="914400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2025  ·  NEXT STOP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223760" y="1536192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🎃</a:t>
            </a:r>
            <a:endParaRPr lang="en-US" sz="4400" dirty="0"/>
          </a:p>
        </p:txBody>
      </p:sp>
      <p:sp>
        <p:nvSpPr>
          <p:cNvPr id="42" name="Text 40"/>
          <p:cNvSpPr/>
          <p:nvPr/>
        </p:nvSpPr>
        <p:spPr>
          <a:xfrm>
            <a:off x="7360920" y="2249424"/>
            <a:ext cx="4434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TRIP #5 — DIE WAHL IST GEFALLEN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7406640" y="2761488"/>
            <a:ext cx="4343400" cy="530352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6640" y="2761488"/>
            <a:ext cx="4343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LISSABON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7406640" y="3328416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Nightlife-Hauptstadt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Atlantiks · 17–22°C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406640" y="4023360"/>
            <a:ext cx="4343400" cy="530352"/>
          </a:xfrm>
          <a:prstGeom prst="rect">
            <a:avLst/>
          </a:prstGeom>
          <a:solidFill>
            <a:srgbClr val="16213E"/>
          </a:solidFill>
          <a:ln w="12700">
            <a:solidFill>
              <a:srgbClr val="C8003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06640" y="4023360"/>
            <a:ext cx="4343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00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🇮🇹  MAILAND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7406640" y="4590288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Kürzester Flug (1h40)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Navigli · Aperitivo · Mode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360920" y="5431536"/>
            <a:ext cx="4434840" cy="2286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315200" y="5486400"/>
            <a:ext cx="4526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🎃  31. Oktober 2025 = FREITAG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315200" y="5961888"/>
            <a:ext cx="4526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Trip unvergessen — Trip 5 wird der Beste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Halloween-Trip 2025 – Lissabon vs. Mailand</dc:title>
  <dc:subject>PptxGenJS Presentation</dc:subject>
  <dc:creator>Halloween-Trip 2025</dc:creator>
  <cp:lastModifiedBy>Halloween-Trip 2025</cp:lastModifiedBy>
  <cp:revision>1</cp:revision>
  <dcterms:created xsi:type="dcterms:W3CDTF">2026-05-28T20:38:21Z</dcterms:created>
  <dcterms:modified xsi:type="dcterms:W3CDTF">2026-05-28T20:38:21Z</dcterms:modified>
</cp:coreProperties>
</file>