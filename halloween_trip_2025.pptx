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irbnb.com/s/Bairro-Alto--Lisbon--Portugal/homes?checkin=2025-10-30&amp;checkout=2025-11-02&amp;adults=4&amp;min_bedrooms=2&amp;room_types%5B%5D=Entire+home%2Fapt" TargetMode="External"/><Relationship Id="rId4" Type="http://schemas.openxmlformats.org/officeDocument/2006/relationships/hyperlink" Target="https://www.airbnb.com/s/Chiado--Lisbon--Portugal/homes?checkin=2025-10-30&amp;checkout=2025-11-02&amp;adults=4&amp;min_bedrooms=2&amp;room_types%5B%5D=Entire+home%2Fapt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irbnb.com/s/Sofia--Bulgaria/homes?checkin=2025-10-30&amp;checkout=2025-11-02&amp;adults=4&amp;min_bedrooms=2&amp;room_types%5B%5D=Entire+home%2Fapt" TargetMode="External"/><Relationship Id="rId4" Type="http://schemas.openxmlformats.org/officeDocument/2006/relationships/hyperlink" Target="https://www.airbnb.com/s/Studentski-Grad--Sofia--Bulgaria/homes?checkin=2025-10-30&amp;checkout=2025-11-02&amp;adults=4&amp;min_bedrooms=2&amp;room_types%5B%5D=Entire+home%2Fapt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99048" cy="64008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099048" y="0"/>
            <a:ext cx="6099048" cy="64008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502920"/>
            <a:ext cx="1072591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TRIP-PLANUNG 2025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731520" y="1481328"/>
            <a:ext cx="10725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 Oktober – 2. November  ·  4 Personen  ·  Europäische Hauptstadt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286000" y="2048256"/>
            <a:ext cx="7616952" cy="1371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0" y="2103120"/>
            <a:ext cx="7616952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2103120"/>
            <a:ext cx="76169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Bereits bereist:   ✓ Riga 2021   ✓ Athen 2022   ✓ Tirana 2023   ✓ Belgrad 2024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2798064"/>
            <a:ext cx="1072591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 Kandidaten für Trip #5: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14400" y="3291840"/>
            <a:ext cx="4727448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291840"/>
            <a:ext cx="4727448" cy="658368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3291840"/>
            <a:ext cx="4727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🇵🇹  LISSABON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143000" y="4059936"/>
            <a:ext cx="42702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3h 10m  ·  DUS direkt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43000" y="4626864"/>
            <a:ext cx="42702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17–22°C  Ende Oktober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143000" y="5193792"/>
            <a:ext cx="42702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~€735 pro Person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1143000" y="5760720"/>
            <a:ext cx="42702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€2–3 Bier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556248" y="3291840"/>
            <a:ext cx="4727448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56248" y="3291840"/>
            <a:ext cx="4727448" cy="658368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56248" y="3291840"/>
            <a:ext cx="4727448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🇧🇬  SOFIA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6784848" y="4059936"/>
            <a:ext cx="42702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~2h 30m  ·  DUS direkt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784848" y="4626864"/>
            <a:ext cx="42702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10–14°C  Ende Oktober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784848" y="5193792"/>
            <a:ext cx="42702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~€510 pro Person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784848" y="5760720"/>
            <a:ext cx="427024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€1–2 Bier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0" y="6583680"/>
            <a:ext cx="1219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Beide Ziele: Direktflug ab Düsseldorf (DUS)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6793992"/>
            <a:ext cx="6099048" cy="64008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099048" y="6793992"/>
            <a:ext cx="6099048" cy="64008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713232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0"/>
            <a:ext cx="1188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🇵🇹  Reiseziel 1 — Lissabon, Portugal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713232"/>
            <a:ext cx="12192000" cy="22860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pic>
        <p:nvPicPr>
          <p:cNvPr id="6" name="Image 0" descr="/home/user/Excelhaus/halloween_trip/lisbon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6400800" cy="5120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0" y="758952"/>
            <a:ext cx="164592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804672"/>
            <a:ext cx="548640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02552" y="896112"/>
            <a:ext cx="5166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Nachtleben-Hauptstadt des Atlantiks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702552" y="1261872"/>
            <a:ext cx="5166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Bairro Alto · Pink Street · Alfama Fado · Castelo de São Jorge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702552" y="1645920"/>
            <a:ext cx="162763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702552" y="1645920"/>
            <a:ext cx="1627632" cy="54864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702552" y="1737360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Flugdauer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702552" y="1993392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 10m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DUS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458200" y="1645920"/>
            <a:ext cx="162763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58200" y="1645920"/>
            <a:ext cx="1627632" cy="54864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58200" y="1737360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Bier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458200" y="1993392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 – €3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Pint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10213848" y="1645920"/>
            <a:ext cx="162763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213848" y="1645920"/>
            <a:ext cx="1627632" cy="54864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213848" y="1737360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Wetter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213848" y="1993392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17–22°C ☀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Oktober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702552" y="2852928"/>
            <a:ext cx="162763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702552" y="2852928"/>
            <a:ext cx="1627632" cy="54864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702552" y="294436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Kosten ca.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6702552" y="3200400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~€735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Person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8458200" y="2852928"/>
            <a:ext cx="162763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458200" y="2852928"/>
            <a:ext cx="1627632" cy="54864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458200" y="294436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 Nightlife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458200" y="3200400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⭐⭐⭐⭐⭐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Weltklasse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0213848" y="2852928"/>
            <a:ext cx="162763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213848" y="2852928"/>
            <a:ext cx="1627632" cy="54864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213848" y="294436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Ab Flughafen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0213848" y="3200400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 DUS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(Eurowings/TAP)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647688" y="4151376"/>
            <a:ext cx="5266944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702552" y="4206240"/>
            <a:ext cx="516636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Lissabon punktet mit warmem Atlantik-Charme und einer der günstigsten, lebendigsten Nachtlebensszenen Europas. Bairro Alto explodiert ab Mitternacht mit 200+ Bars. Pink-Street-Clubs laufen bis in den Morgen. Die Stadt feiert Halloween ausgiebig — Kneipentour, Kostümparties und Mega-Club-Events. Ende Oktober: T-Shirt-Wetter garantiert.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0" y="6784848"/>
            <a:ext cx="12192000" cy="18288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713232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0"/>
            <a:ext cx="1188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🇵🇹  Lissabon — Flüge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713232"/>
            <a:ext cx="12192000" cy="22860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32688"/>
            <a:ext cx="11430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Hinflug: Deutschland → LIS (Lissabon)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61872"/>
          <a:ext cx="11430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508760"/>
                <a:gridCol w="1828800"/>
                <a:gridCol w="1097280"/>
                <a:gridCol w="1097280"/>
                <a:gridCol w="1097280"/>
                <a:gridCol w="146304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Strecke &amp; Datum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Abflug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Ankunft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Dauer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Preis p.P.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Gesamt (×4)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⭐ Empfohlen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 morgens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10:15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12:20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05m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078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Frühabflug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06:20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08:25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05m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Vorabend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 Okt. abends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~18:30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~20:30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00m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TP541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TAP Portugal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LIS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10m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€150–180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€600–720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3712464"/>
            <a:ext cx="11430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Rückflug: LIS (Lissabon) → Deutschland (2. Nov.)</a:t>
            </a:r>
            <a:endParaRPr lang="en-US" sz="13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050792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188720"/>
                <a:gridCol w="1188720"/>
                <a:gridCol w="1188720"/>
                <a:gridCol w="164592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Strecke &amp; Datum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Abflug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Ankunft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Dauer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Preis p.P.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Gesamt (×4)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EW9603 Eurowings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 → DUS  /  2. Nov.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18:00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21:50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3h 50m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65760" y="5010912"/>
            <a:ext cx="11430000" cy="658368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505663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DUS (Düsseldorf) ist der EINZIGE Flughafen mit Direktverbindung nach Lissabon — Eurowings &amp; TAP Air Portugal fliegen täglich non-stop.  DTM &amp; FMO erfordern Umsteigen (8h+ Gesamtreisezeit).  Buchen: eurowings.com · kayak.com · Hin &amp; Zurück Ø ~€170–190 p.P.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046720" y="5788152"/>
            <a:ext cx="37490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046720" y="58064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 &amp; Zurück · 4 Personen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046720" y="60807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€640 – €760 gesamt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0" y="6784848"/>
            <a:ext cx="12192000" cy="18288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713232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0"/>
            <a:ext cx="1188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🇵🇹  Lissabon — Unterkunft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713232"/>
            <a:ext cx="12192000" cy="22860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pic>
        <p:nvPicPr>
          <p:cNvPr id="6" name="Image 0" descr="/home/user/Excelhaus/halloween_trip/lisbon_airbn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5029200" cy="3108960"/>
          </a:xfrm>
          <a:prstGeom prst="rect">
            <a:avLst/>
          </a:prstGeom>
        </p:spPr>
      </p:pic>
      <p:pic>
        <p:nvPicPr>
          <p:cNvPr id="7" name="Image 1" descr="/home/user/Excelhaus/halloween_trip/lisbon_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13632"/>
            <a:ext cx="5029200" cy="21031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303520" y="822960"/>
            <a:ext cx="6675120" cy="502920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40680" y="8229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Bairro Alto / São Roque — 2-Zimmer-Wohnung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🛏 2 Schlafzimmer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🚿 2 Bäder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Balkon ✓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4 Gäste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Zentrallage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 Klimaanlage ✓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303520" y="2505456"/>
            <a:ext cx="667512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94960" y="2505456"/>
            <a:ext cx="6492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Bairro Alto — direkt im Herz der 200+ Bars, Pink Street 10 Fußminuten entfernt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5303520" y="3090672"/>
            <a:ext cx="667512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486400" y="314553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Preise  (30. Okt. – 2. Nov., 3 Nächte)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5486400" y="3474720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Nacht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9418320" y="3474720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~€130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5486400" y="3671316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Nächte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9418320" y="3671316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~€390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486400" y="3867912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Reinigung &amp; Gebühren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18320" y="3867912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~€60–80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5486400" y="4064508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 für 4 Pers.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9418320" y="4064508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~€450–480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86400" y="4261104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Person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9418320" y="4261104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~€113–120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5303520" y="4572000"/>
            <a:ext cx="6675120" cy="603504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37" name="Text 33">
            <a:hlinkClick r:id="rId3" tooltip="Airbnb öffnen — 30. Okt.–2. Nov., 4 Gäste, 2 SZ"/>
          </p:cNvPr>
          <p:cNvSpPr/>
          <p:nvPr/>
        </p:nvSpPr>
        <p:spPr>
          <a:xfrm>
            <a:off x="5303520" y="4572000"/>
            <a:ext cx="667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Airbnb öffnen — 30. Okt.–2. Nov., 4 Gäste, 2 SZ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🔍  Airbnb: Lissabon durchsuchen  →</a:t>
            </a:r>
            <a:endParaRPr lang="en-US" sz="1500" dirty="0"/>
          </a:p>
        </p:txBody>
      </p:sp>
      <p:sp>
        <p:nvSpPr>
          <p:cNvPr id="38" name="Text 34">
            <a:hlinkClick r:id="rId4" tooltip="Alternative Suche öffnen"/>
          </p:cNvPr>
          <p:cNvSpPr/>
          <p:nvPr/>
        </p:nvSpPr>
        <p:spPr>
          <a:xfrm>
            <a:off x="5394960" y="5248656"/>
            <a:ext cx="6492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u="sng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Alternative Suche öffne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📍 Alternativ in Chiado suchen: airbnb.com/s/Chiado--Lisbon (2 SZ, 4 Gäste, gleiche Daten)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5394960" y="5559552"/>
            <a:ext cx="6492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Halloween-Wochenende — frühzeitig buchen!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0" y="6784848"/>
            <a:ext cx="12192000" cy="18288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713232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0"/>
            <a:ext cx="1188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🇵🇹  Lissabon — Tagesprogramm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713232"/>
            <a:ext cx="12192000" cy="22860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96112"/>
            <a:ext cx="56692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896112"/>
            <a:ext cx="5669280" cy="402336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91440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1 — Do., 30. Okt.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133856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Ankunftstag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" y="13533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EW9602 landet LIS 12:20 · Einchecken in Bairro Alto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6184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🚶  SANDEMANs Stadtführung 15:30 @ Praça do Comércio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1883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(2,5h, Trinkgeld €10–15 · Baixa, Alfama, Aussichtspunkte)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21488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  Abendessen: Petiscos bei Tasca do Chico ab 20 Uhr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241401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Bairro Alto Kneipenbummel: 200+ Bars, €2–3 Bier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67919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Start @ Park Bar (Dachterrasse) → Pavilhão Chinês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896112"/>
            <a:ext cx="56692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896112"/>
            <a:ext cx="5669280" cy="402336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91440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2 — Fr., 31. Okt. · Halloween-Nacht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09360" y="1133856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Highlights des Trips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309360" y="13533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 Kochkurs Cooking Lisbon ab 9:30 Uhr (4h, €110 p.P.)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09360" y="16184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Mercado 31 de Janeiro · 3-Gang-Menü + Wein inklusive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09360" y="1883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Buchung: cookinglisbon.com/market-tour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21488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🕙  Halloween-Kneipentour 22 Uhr · €28 p.P.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09360" y="241401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Treffpkt.: Praça Luís de Camões · 3 Bars · 1h offene Bar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09360" y="267919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Shots · Kostüm-Wettbewerb · VIP-Clubeintritt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9443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🎶  Ab 1 Uhr: Brunch Electronik Halloween Special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309360" y="320954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Pavilhão Carlos Lopes · Chris Liebing B2B Luke Slater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74320" y="3776472"/>
            <a:ext cx="56692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74320" y="3776472"/>
            <a:ext cx="5669280" cy="402336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379476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3 — Sa., 1. Nov.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65760" y="4014216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Erkunden &amp; Entspannen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365760" y="423367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🌅  Ausschlafen — Pastéis de Nata bei Pasteis de Belém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449884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🚋  Straßenbahn 28: malerische Fahrt durch Alfama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4764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Cerveja Musa Craft-Brauerei, Mouraria (lokale IPAs)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" y="5029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🌇  Miradouro da Graça: bester Sonnenuntergangs-Aussichtsp.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365760" y="5294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 Fado-Abend: Tasca do Chico oder Zé da Viola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65760" y="555955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 Pink Street Nacht: Pensão Amor + Music Box · Lux Frágil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3776472"/>
            <a:ext cx="56692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217920" y="3776472"/>
            <a:ext cx="5669280" cy="402336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309360" y="379476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4 — So., 2. Nov.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309360" y="4014216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Abreisetag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309360" y="423367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Morgen-Kaffee @ A Brasileira, Chiado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449884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🏰  Kurzer Besuch Castelo de São Jorge (optional)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309360" y="4764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🛍  Souvenirs: Ginjinha-Likör, Sardinenkonserven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09360" y="5029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🚌  Transfer zum Flughafen (45 Min. einplanen)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309360" y="5294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EW9603  18:00 LIS → 21:50 DUS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74320" y="6492240"/>
            <a:ext cx="11612880" cy="219456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6492240"/>
            <a:ext cx="11430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Kneipentour: eventbrite.co.uk/e/1981093800888  ·  Kochkurs: cookinglisbon.com/booking  ·  Stadtführung: neweuropetours.eu/lisbon  ·  Lux Frágil: luxfragil.com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0" y="6784848"/>
            <a:ext cx="12192000" cy="18288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713232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0"/>
            <a:ext cx="1188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🇵🇹  Lissabon — Kostenübersicht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713232"/>
            <a:ext cx="12192000" cy="22860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75488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p.P.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E0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Gesamt ×4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Hin- und Rückflug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Eurowings EW9602/9603  DUS ↔ LIS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Unterkunft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Airbnb Bairro Alto — 3 Nächte (inkl. Gebühren)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Halloween-Kneipentour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Halloween Haunts — Chiado (31. Okt.)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Kochkurs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Cooking Lisbon — Markt + 3-Gang-Menü + Wein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€110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€440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Stadtführung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SANDEMANs — Praça do Comércio (Trinkgeld)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Essen (3 Tage)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Mahlzeiten, Petiscos, Pastéis — Ø €15–25/Mahlzeit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Getränke &amp; Ausgehen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Bairro Alto + Pink Street + Clubs (3 Nächte)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Sonstiges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Bolt/Uber, Trinkgelder, Souvenirs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🏆  Gesamt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Lissabon, 30. Okt. – 2. Nov.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~€735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E0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~€2.940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800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257800"/>
            <a:ext cx="11247120" cy="594360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303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Budgetrahmen: €600–900 p.P. je nach Partylust.  Bier ab €2–3, Supermarkt-Runs helfen sparen.  Clubs (Lux Frágil, Brunch Electronik) kosten je ~€20–30 extra.  Leitungswasser in Restaurants gratis.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0" y="6784848"/>
            <a:ext cx="12192000" cy="18288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713232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0"/>
            <a:ext cx="1188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🇧🇬  Reiseziel 2 — Sofia, Bulgarien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713232"/>
            <a:ext cx="12192000" cy="22860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pic>
        <p:nvPicPr>
          <p:cNvPr id="6" name="Image 0" descr="/home/user/Excelhaus/halloween_trip/sofia_her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6400800" cy="51206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029200" y="758952"/>
            <a:ext cx="1645920" cy="5120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7960" y="804672"/>
            <a:ext cx="548640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702552" y="896112"/>
            <a:ext cx="5166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Günstigstes Ziel — €1 Bier &amp; Vitosha-Bergblick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702552" y="1261872"/>
            <a:ext cx="5166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Vitosha Blvd · Yalta Club · Alexander-Nevsky-Kathedrale · Studentski Grad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702552" y="1645920"/>
            <a:ext cx="162763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702552" y="1645920"/>
            <a:ext cx="1627632" cy="54864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702552" y="1737360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Flugdauer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702552" y="1993392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~2h 30m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 DUS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458200" y="1645920"/>
            <a:ext cx="162763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458200" y="1645920"/>
            <a:ext cx="1627632" cy="54864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458200" y="1737360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Bier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458200" y="1993392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 – €2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(günstigstes Eu.!)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10213848" y="1645920"/>
            <a:ext cx="162763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213848" y="1645920"/>
            <a:ext cx="1627632" cy="54864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213848" y="1737360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Wetter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213848" y="1993392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10–14°C 🧥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 Oktober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702552" y="2852928"/>
            <a:ext cx="162763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702552" y="2852928"/>
            <a:ext cx="1627632" cy="54864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702552" y="294436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Kosten ca.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6702552" y="3200400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~€520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Person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8458200" y="2852928"/>
            <a:ext cx="162763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458200" y="2852928"/>
            <a:ext cx="1627632" cy="54864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458200" y="294436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 Nightlife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8458200" y="3200400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⭐⭐⭐⭐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Yalta · Sin City</a:t>
            </a:r>
            <a:endParaRPr lang="en-US" sz="1500" dirty="0"/>
          </a:p>
        </p:txBody>
      </p:sp>
      <p:sp>
        <p:nvSpPr>
          <p:cNvPr id="31" name="Shape 28"/>
          <p:cNvSpPr/>
          <p:nvPr/>
        </p:nvSpPr>
        <p:spPr>
          <a:xfrm>
            <a:off x="10213848" y="2852928"/>
            <a:ext cx="1627632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213848" y="2852928"/>
            <a:ext cx="1627632" cy="54864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10213848" y="2944368"/>
            <a:ext cx="16276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Ab Flughafen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10213848" y="3200400"/>
            <a:ext cx="1627632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 direkt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(Bulgaria Air/Ryanair)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647688" y="4151376"/>
            <a:ext cx="5266944" cy="2286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702552" y="4206240"/>
            <a:ext cx="5166360" cy="15179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Sofia ist mit Abstand das günstigste Ziel — ein Bier kostet €1–2, Abendessen in einem guten Restaurant ~€8–12. Die bulgarische Hauptstadt überrascht mit einer lebhaften Ausgehszene rund um den Vitosha Boulevard und den Studentenvierteln. Im Hintergrund: das Vitosha-Gebirge, direkt an der Stadtgrenze. Die Alexander-Nevsky-Kathedrale leuchtet nachts golden — perfekte Halloween-Kulisse.</a:t>
            </a:r>
            <a:endParaRPr lang="en-US" sz="1000" dirty="0"/>
          </a:p>
        </p:txBody>
      </p:sp>
      <p:sp>
        <p:nvSpPr>
          <p:cNvPr id="37" name="Shape 34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0" y="6784848"/>
            <a:ext cx="12192000" cy="18288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713232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0"/>
            <a:ext cx="1188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🇧🇬  Sofia — Flüge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713232"/>
            <a:ext cx="12192000" cy="22860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32688"/>
            <a:ext cx="11430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Hinflug: Deutschland → SOF (Sofia)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261872"/>
          <a:ext cx="114300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508760"/>
                <a:gridCol w="1828800"/>
                <a:gridCol w="1097280"/>
                <a:gridCol w="1097280"/>
                <a:gridCol w="1097280"/>
                <a:gridCol w="1463040"/>
                <a:gridCol w="137160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Strecke &amp; Datum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Abflug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Ankunft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Dauer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Preis p.P.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Gesamt (×4)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⭐ Empfohlen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Bulgaria 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SOF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Morgens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~11:00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~2h 30m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~€80–120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7B3FC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~€320–480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Option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Ryanair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SOF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~2h 30m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~€50–90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~€200–360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Vorabend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Bulgaria 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(FB)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SOF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 Okt.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Abends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~2h 30m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~€90–130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~€360–520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Budget+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Wizz Air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(W6)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DUS → SOF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 Okt.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~2h 30m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~€40–80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~€160–320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3712464"/>
            <a:ext cx="11430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Rückflug: SOF (Sofia) → Deutschland (2. Nov.)</a:t>
            </a:r>
            <a:endParaRPr lang="en-US" sz="13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4050792"/>
          <a:ext cx="114300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1188720"/>
                <a:gridCol w="1188720"/>
                <a:gridCol w="1188720"/>
                <a:gridCol w="164592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Strecke &amp; Datum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Abflug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Ankunft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Dauer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Preis p.P.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Gesamt (×4)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596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Bulgaria Air / Ryanair  (SOF→DUS)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 → DUS  /  2. Nov.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Verschieden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~2h 30m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~€60–100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~€240–400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365760" y="5010912"/>
            <a:ext cx="11430000" cy="658368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02920" y="5056632"/>
            <a:ext cx="11155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DUS (Düsseldorf) → SOF (Sofia): Direktflüge mit Bulgaria Air und Ryanair.  Flughafen Sofia liegt 10 km östlich vom Zentrum — Metro Linie M1 (€0,80, 20 Min.) direkt ins Zentrum.  Buchen: bulgariaair.com · ryanair.com · wizzair.com · skyscanner.de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8046720" y="5788152"/>
            <a:ext cx="37490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046720" y="5806440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 &amp; Zurück · 4 Personen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046720" y="6080760"/>
            <a:ext cx="374904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€320 – €560 gesamt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0" y="6784848"/>
            <a:ext cx="12192000" cy="18288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713232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0"/>
            <a:ext cx="1188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🇧🇬  Sofia — Unterkunft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713232"/>
            <a:ext cx="12192000" cy="22860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pic>
        <p:nvPicPr>
          <p:cNvPr id="6" name="Image 0" descr="/home/user/Excelhaus/halloween_trip/sofia_airbn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758952"/>
            <a:ext cx="5029200" cy="3108960"/>
          </a:xfrm>
          <a:prstGeom prst="rect">
            <a:avLst/>
          </a:prstGeom>
        </p:spPr>
      </p:pic>
      <p:pic>
        <p:nvPicPr>
          <p:cNvPr id="7" name="Image 1" descr="/home/user/Excelhaus/halloween_trip/sofia_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913632"/>
            <a:ext cx="5029200" cy="21031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303520" y="822960"/>
            <a:ext cx="6675120" cy="502920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5440680" y="822960"/>
            <a:ext cx="6400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Vitosha Blvd / Zentrum — 2-Zi.-Wohnung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530352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🛏 2 Schlafzimmer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54380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🚿 2 Bäder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784080" y="142646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🏗 Balkon ✓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30352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 4 Gäste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754380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 Klimaanlage ✓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784080" y="1929384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 Vitosha-Blick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5303520" y="2505456"/>
            <a:ext cx="667512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94960" y="2505456"/>
            <a:ext cx="64922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Vitosha Blvd / Stadtzentrum — direkt an der besten Bar-Meile, 10 Min. zu Fuß zur Kathedrale</a:t>
            </a:r>
            <a:endParaRPr lang="en-US" sz="1000" dirty="0"/>
          </a:p>
        </p:txBody>
      </p:sp>
      <p:sp>
        <p:nvSpPr>
          <p:cNvPr id="24" name="Shape 20"/>
          <p:cNvSpPr/>
          <p:nvPr/>
        </p:nvSpPr>
        <p:spPr>
          <a:xfrm>
            <a:off x="5303520" y="3090672"/>
            <a:ext cx="6675120" cy="1389888"/>
          </a:xfrm>
          <a:prstGeom prst="rect">
            <a:avLst/>
          </a:prstGeom>
          <a:solidFill>
            <a:srgbClr val="FFFFFF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486400" y="3145536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Preise  (30. Okt. – 2. Nov., 3 Nächte)</a:t>
            </a:r>
            <a:endParaRPr lang="en-US" sz="1100" dirty="0"/>
          </a:p>
        </p:txBody>
      </p:sp>
      <p:sp>
        <p:nvSpPr>
          <p:cNvPr id="26" name="Text 22"/>
          <p:cNvSpPr/>
          <p:nvPr/>
        </p:nvSpPr>
        <p:spPr>
          <a:xfrm>
            <a:off x="5486400" y="3474720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Nacht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9418320" y="3474720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~€60–80</a:t>
            </a:r>
            <a:endParaRPr lang="en-US" sz="1000" dirty="0"/>
          </a:p>
        </p:txBody>
      </p:sp>
      <p:sp>
        <p:nvSpPr>
          <p:cNvPr id="28" name="Text 24"/>
          <p:cNvSpPr/>
          <p:nvPr/>
        </p:nvSpPr>
        <p:spPr>
          <a:xfrm>
            <a:off x="5486400" y="3671316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Nächte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9418320" y="3671316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~€180–240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5486400" y="3867912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Reinigung &amp; Gebühren</a:t>
            </a:r>
            <a:endParaRPr lang="en-US" sz="1000" dirty="0"/>
          </a:p>
        </p:txBody>
      </p:sp>
      <p:sp>
        <p:nvSpPr>
          <p:cNvPr id="31" name="Text 27"/>
          <p:cNvSpPr/>
          <p:nvPr/>
        </p:nvSpPr>
        <p:spPr>
          <a:xfrm>
            <a:off x="9418320" y="3867912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~€30–50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5486400" y="4064508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Gesamt für 4 Pers.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9418320" y="4064508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~€210–290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5486400" y="4261104"/>
            <a:ext cx="365760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Person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9418320" y="4261104"/>
            <a:ext cx="2377440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~€53–73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5303520" y="4572000"/>
            <a:ext cx="6675120" cy="603504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37" name="Text 33">
            <a:hlinkClick r:id="rId3" tooltip="Airbnb öffnen — 30. Okt.–2. Nov., 4 Gäste, 2 SZ"/>
          </p:cNvPr>
          <p:cNvSpPr/>
          <p:nvPr/>
        </p:nvSpPr>
        <p:spPr>
          <a:xfrm>
            <a:off x="5303520" y="4572000"/>
            <a:ext cx="66751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Airbnb öffnen — 30. Okt.–2. Nov., 4 Gäste, 2 SZ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🔍  Airbnb: Sofia durchsuchen  →</a:t>
            </a:r>
            <a:endParaRPr lang="en-US" sz="1500" dirty="0"/>
          </a:p>
        </p:txBody>
      </p:sp>
      <p:sp>
        <p:nvSpPr>
          <p:cNvPr id="38" name="Text 34">
            <a:hlinkClick r:id="rId4" tooltip="Alternative Suche öffnen"/>
          </p:cNvPr>
          <p:cNvSpPr/>
          <p:nvPr/>
        </p:nvSpPr>
        <p:spPr>
          <a:xfrm>
            <a:off x="5394960" y="5248656"/>
            <a:ext cx="6492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u="sng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Alternative Suche öffnen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📍 Alternativ im Studentenviertel suchen: airbnb.com/s/Studentski-Grad--Sofia (lebhafter, günstiger)</a:t>
            </a:r>
            <a:endParaRPr lang="en-US" sz="900" dirty="0"/>
          </a:p>
        </p:txBody>
      </p:sp>
      <p:sp>
        <p:nvSpPr>
          <p:cNvPr id="39" name="Text 35"/>
          <p:cNvSpPr/>
          <p:nvPr/>
        </p:nvSpPr>
        <p:spPr>
          <a:xfrm>
            <a:off x="5394960" y="5559552"/>
            <a:ext cx="64922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Halloween-Wochenende — frühzeitig buchen!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0" y="6784848"/>
            <a:ext cx="12192000" cy="18288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713232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0"/>
            <a:ext cx="1188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🇧🇬  Sofia — Tagesprogramm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713232"/>
            <a:ext cx="12192000" cy="22860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96112"/>
            <a:ext cx="56692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74320" y="896112"/>
            <a:ext cx="5669280" cy="402336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91440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1 — Do., 30. Okt.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133856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Ankunftstag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" y="13533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Landet SOF ~11:00 · Metro M1 ins Zentrum (€0,80!)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65760" y="16184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 Einchecken in der Vitosha-Nähe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1883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🚶  SANDEMANs Free Tour 14:30 @ Alexander-Nevsky-Platz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" y="21488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Kathedrale, Präsidentenpalast, Rotunde Sveti Georgi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241401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 Erste Biere am Vitosha Blvd: €1–2 pro Bier (kein Tippfehler!)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65760" y="267919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 Erste Nacht: Vitosha Blvd Bars &amp; Lounge-Cafés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217920" y="896112"/>
            <a:ext cx="56692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7920" y="896112"/>
            <a:ext cx="5669280" cy="402336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91440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2 — Fr., 31. Okt. · Halloween-Nacht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09360" y="1133856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Highlights des Trips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309360" y="135331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🏔  Morgens: Vitosha-Berg Wanderung (Bus/Gondel ab Stadtrand)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09360" y="161848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Bergblick über ganz Sofia — kostenloser Nationalpark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309360" y="188366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 Bulgarischer Kochkurs 15:00 Uhr (3h, ~€45 p.P.)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309360" y="214884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Shopska-Salat + Moussaka + Rakija-Verkostung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6309360" y="241401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🎃  Halloween Kneipentour ab 22 Uhr · ~€15 p.P.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309360" y="267919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Studentski Grad: Sin City · Yalta Club · Mixtape 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94436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Clubs bis 5 Uhr morgens · €1 Bier die ganze Nacht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74320" y="3776472"/>
            <a:ext cx="56692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74320" y="3776472"/>
            <a:ext cx="5669280" cy="402336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79476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3 — Sa., 1. Nov.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65760" y="4014216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Erkunden &amp; Ausgehen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365760" y="423367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🕌  Alexander-Nevsky-Kathedrale innen (kostenlos, atemberaubend)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65760" y="449884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  Nationales Historisches Museum (optional)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65760" y="4764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🛒  Weiblicher Markt (Ženski Pazar): lokales Essen &amp; Gewürze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65760" y="5029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🍽  Abendessen: Mehana-Restaurant — Shopska + Bier €8 gesamt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65760" y="5294376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 Letzte Nacht: Lozenets-Viertel Bars oder Yalta-Club-Afterparty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17920" y="3776472"/>
            <a:ext cx="56692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217920" y="3776472"/>
            <a:ext cx="5669280" cy="402336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09360" y="3794760"/>
            <a:ext cx="5486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4 — So., 2. Nov.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309360" y="4014216"/>
            <a:ext cx="548640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FFE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Abreisetag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6309360" y="4233672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 Banitsa (bulgarisches Blätterteig-Gebäck) zum Frühstück (€0,50)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6309360" y="4498848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🛍  Souvenirs: Rosen-Öl, Rakija, Mamarnitsa (Glücksbringer)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309360" y="476402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🚇  Metro M1 zum Flughafen (€0,80, 20 Min.)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309360" y="5029200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 Bulgaria Air / Ryanair SOF → DUS (Nachmittag)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74320" y="6492240"/>
            <a:ext cx="11612880" cy="219456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6492240"/>
            <a:ext cx="11430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Kneipentour: eventbrite.com → "Sofia Halloween Bar Crawl"  ·  Kochkurs: cookly.app → "Sofia Cooking Class"  ·  Stadtführung: neweuropetours.eu/sofia  ·  Yalta Club: yaltaclub.com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0" y="6784848"/>
            <a:ext cx="12192000" cy="18288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713232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0"/>
            <a:ext cx="1188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🇧🇬  Sofia — Kostenübersicht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713232"/>
            <a:ext cx="12192000" cy="22860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2688"/>
          <a:ext cx="1124712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75488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Posten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p.P.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E0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Gesamt ×4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Hin- und Rückflug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Bulgaria Air / Ryanair  DUS ↔ SOF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~€560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Unterkunft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Airbnb Zentrum — 3 Nächte (inkl. Gebühren)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Halloween Kneipentour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 Crawl Sofia (31. Okt.)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Kochkurs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Bulgarische Küche — Moussaka + Rakija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Stadtführung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SANDEMANs — Alexander-Nevsky (Trinkgeld)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Essen (3 Tage)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Mehana, Banitsa, Markt — Ø €10–15/Mahlzeit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~€360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Getränke &amp; Ausgehen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Vitosha Blvd + Clubs (€1 Bier, 3 Nächte)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~€480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Sonstiges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Metro, Uber, Souvenirs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741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~€100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🏆  Gesamt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0E0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Sofia, 30. Okt. – 2. Nov. 2025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~€510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E0B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~€2.040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B3FC5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5257800"/>
            <a:ext cx="11247120" cy="594360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303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Günstigstes Ziel: €1–2 Bier, €8 Abendessen, €0,80 Metro!  Budgetrahmen: €400–650 p.P.  Ideal wenn Ihr nach dem letzten Trip die Kasse schonen wollt — ohne auf Spaß zu verzichten.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0" y="6784848"/>
            <a:ext cx="12192000" cy="18288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713232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0"/>
            <a:ext cx="1188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⚖️  Direktvergleich — Lissabon vs. Sofia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713232"/>
            <a:ext cx="12192000" cy="2286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29000" y="777240"/>
            <a:ext cx="4160520" cy="493776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29000" y="777240"/>
            <a:ext cx="41605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🇵🇹 Lissabon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7680960" y="777240"/>
            <a:ext cx="4160520" cy="493776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0" y="777240"/>
            <a:ext cx="416052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🇧🇬 Sofia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74320" y="1307592"/>
            <a:ext cx="3108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1307592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💰 Kosten p.P.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9000" y="1307592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20440" y="13075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~€735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680960" y="1307592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0" y="13075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~€510  💸 Günstigstes Ziel!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74320" y="1764792"/>
            <a:ext cx="3108960" cy="457200"/>
          </a:xfrm>
          <a:prstGeom prst="rect">
            <a:avLst/>
          </a:prstGeom>
          <a:solidFill>
            <a:srgbClr val="F3F4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1764792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✈ Flugdauer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429000" y="1764792"/>
            <a:ext cx="4160520" cy="457200"/>
          </a:xfrm>
          <a:prstGeom prst="rect">
            <a:avLst/>
          </a:prstGeom>
          <a:solidFill>
            <a:srgbClr val="F3F4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520440" y="17647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3h 10m  ab DUS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80960" y="1764792"/>
            <a:ext cx="4160520" cy="457200"/>
          </a:xfrm>
          <a:prstGeom prst="rect">
            <a:avLst/>
          </a:prstGeom>
          <a:solidFill>
            <a:srgbClr val="F3F4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0" y="17647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~2h 30m  ab DUS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274320" y="2221992"/>
            <a:ext cx="3108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2221992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🛫 Flughafen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429000" y="2221992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20440" y="22219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 — Eurowings / TAP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680960" y="2221992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72400" y="22219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DUS — Bulgaria Air / Ryanair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2679192"/>
            <a:ext cx="3108960" cy="457200"/>
          </a:xfrm>
          <a:prstGeom prst="rect">
            <a:avLst/>
          </a:prstGeom>
          <a:solidFill>
            <a:srgbClr val="F3F4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679192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Bierpreis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429000" y="2679192"/>
            <a:ext cx="4160520" cy="457200"/>
          </a:xfrm>
          <a:prstGeom prst="rect">
            <a:avLst/>
          </a:prstGeom>
          <a:solidFill>
            <a:srgbClr val="F3F4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20440" y="26791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€2–3  (Super Bock / Sagres)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680960" y="2679192"/>
            <a:ext cx="4160520" cy="457200"/>
          </a:xfrm>
          <a:prstGeom prst="rect">
            <a:avLst/>
          </a:prstGeom>
          <a:solidFill>
            <a:srgbClr val="F3F4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72400" y="26791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€1–2  (günstigstes Eu. 🏆)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3136392"/>
            <a:ext cx="3108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5760" y="3136392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🌡 Wetter Ende Okt.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429000" y="3136392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520440" y="31363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17–22°C  ☀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680960" y="3136392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72400" y="31363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10–14°C  🧥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74320" y="3593592"/>
            <a:ext cx="3108960" cy="457200"/>
          </a:xfrm>
          <a:prstGeom prst="rect">
            <a:avLst/>
          </a:prstGeom>
          <a:solidFill>
            <a:srgbClr val="F3F4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3593592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🎃 Halloween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29000" y="3593592"/>
            <a:ext cx="4160520" cy="457200"/>
          </a:xfrm>
          <a:prstGeom prst="rect">
            <a:avLst/>
          </a:prstGeom>
          <a:solidFill>
            <a:srgbClr val="F3F4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520440" y="35935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⭐⭐⭐⭐  Clubs bis 6 Uhr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7680960" y="3593592"/>
            <a:ext cx="4160520" cy="457200"/>
          </a:xfrm>
          <a:prstGeom prst="rect">
            <a:avLst/>
          </a:prstGeom>
          <a:solidFill>
            <a:srgbClr val="F3F4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772400" y="35935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⭐⭐⭐⭐  Yalta · Sin City bis 5h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74320" y="4050792"/>
            <a:ext cx="3108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4050792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🏙 Viertel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429000" y="4050792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520440" y="40507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Bairro Alto · Pink Street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680960" y="4050792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72400" y="40507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Vitosha Blvd · Studentski Grad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274320" y="4507992"/>
            <a:ext cx="3108960" cy="457200"/>
          </a:xfrm>
          <a:prstGeom prst="rect">
            <a:avLst/>
          </a:prstGeom>
          <a:solidFill>
            <a:srgbClr val="F3F4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507992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Highlight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3429000" y="4507992"/>
            <a:ext cx="4160520" cy="457200"/>
          </a:xfrm>
          <a:prstGeom prst="rect">
            <a:avLst/>
          </a:prstGeom>
          <a:solidFill>
            <a:srgbClr val="F3F4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20440" y="45079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Fado · Atlantik-Charme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7680960" y="4507992"/>
            <a:ext cx="4160520" cy="457200"/>
          </a:xfrm>
          <a:prstGeom prst="rect">
            <a:avLst/>
          </a:prstGeom>
          <a:solidFill>
            <a:srgbClr val="F3F4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772400" y="45079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Alexander-Nevsky · Vitosha-Berg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274320" y="4965192"/>
            <a:ext cx="310896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5760" y="4965192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🍳 Kochkurs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429000" y="4965192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520440" y="49651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€110 p.P.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7680960" y="4965192"/>
            <a:ext cx="41605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72400" y="49651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~€45 p.P.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274320" y="5422392"/>
            <a:ext cx="3108960" cy="457200"/>
          </a:xfrm>
          <a:prstGeom prst="rect">
            <a:avLst/>
          </a:prstGeom>
          <a:solidFill>
            <a:srgbClr val="F3F4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65760" y="5422392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🏠 Unterkunft p.P.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3429000" y="5422392"/>
            <a:ext cx="4160520" cy="457200"/>
          </a:xfrm>
          <a:prstGeom prst="rect">
            <a:avLst/>
          </a:prstGeom>
          <a:solidFill>
            <a:srgbClr val="F3F4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520440" y="54223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~€113–120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7680960" y="5422392"/>
            <a:ext cx="4160520" cy="457200"/>
          </a:xfrm>
          <a:prstGeom prst="rect">
            <a:avLst/>
          </a:prstGeom>
          <a:solidFill>
            <a:srgbClr val="F3F4F8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772400" y="54223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~€53–73  (3× günstiger!)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274320" y="5879592"/>
            <a:ext cx="3108960" cy="457200"/>
          </a:xfrm>
          <a:prstGeom prst="rect">
            <a:avLst/>
          </a:prstGeom>
          <a:solidFill>
            <a:srgbClr val="EEF2F7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65760" y="5879592"/>
            <a:ext cx="2971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Stärke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3429000" y="5879592"/>
            <a:ext cx="4160520" cy="457200"/>
          </a:xfrm>
          <a:prstGeom prst="rect">
            <a:avLst/>
          </a:prstGeom>
          <a:solidFill>
            <a:srgbClr val="EEF2F7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520440" y="58795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7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Nightlife-Weltklasse + Wärme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7680960" y="5879592"/>
            <a:ext cx="4160520" cy="457200"/>
          </a:xfrm>
          <a:prstGeom prst="rect">
            <a:avLst/>
          </a:prstGeom>
          <a:solidFill>
            <a:srgbClr val="EEF2F7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772400" y="587959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B3F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Extremes Budget + Überraschung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0" y="6784848"/>
            <a:ext cx="1219200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73152" cy="7132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01168" y="0"/>
            <a:ext cx="118872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Trip Hall of Fame — Die Legende wächst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0" y="713232"/>
            <a:ext cx="12192000" cy="228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28600" y="932688"/>
            <a:ext cx="3291840" cy="2578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8600" y="932688"/>
            <a:ext cx="3291840" cy="420624"/>
          </a:xfrm>
          <a:prstGeom prst="rect">
            <a:avLst/>
          </a:prstGeom>
          <a:solidFill>
            <a:srgbClr val="C9973A"/>
          </a:solidFill>
          <a:ln w="12700">
            <a:solidFill>
              <a:srgbClr val="C9973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" y="932688"/>
            <a:ext cx="3291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🇱🇻  2021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228600" y="138988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792224"/>
            <a:ext cx="301752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" y="184708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🍺 Bier: €0,80 — ewiger Rekord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20040" y="235915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🌃 Clubs bis 7 Uhr morgens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0040" y="2871216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99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Günstigster Trip aller Zeiten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703320" y="932688"/>
            <a:ext cx="3291840" cy="2578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03320" y="932688"/>
            <a:ext cx="3291840" cy="420624"/>
          </a:xfrm>
          <a:prstGeom prst="rect">
            <a:avLst/>
          </a:prstGeom>
          <a:solidFill>
            <a:srgbClr val="3A72C9"/>
          </a:solidFill>
          <a:ln w="12700">
            <a:solidFill>
              <a:srgbClr val="3A72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3320" y="932688"/>
            <a:ext cx="3291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🇬🇷  2022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703320" y="138988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ATHEN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840480" y="1792224"/>
            <a:ext cx="301752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94760" y="184708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🌅 Dachbar mit Akropolis-Blick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794760" y="235915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🐟 Ouzo-Entscheidung: bereut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794760" y="2871216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A72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Wärmster Trip bisher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28600" y="3675888"/>
            <a:ext cx="3291840" cy="2578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" y="3675888"/>
            <a:ext cx="3291840" cy="420624"/>
          </a:xfrm>
          <a:prstGeom prst="rect">
            <a:avLst/>
          </a:prstGeom>
          <a:solidFill>
            <a:srgbClr val="C93A3A"/>
          </a:solidFill>
          <a:ln w="12700">
            <a:solidFill>
              <a:srgbClr val="C93A3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" y="3675888"/>
            <a:ext cx="3291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🇦🇱  2023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228600" y="413308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TIRANA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535424"/>
            <a:ext cx="301752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0040" y="459028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🥘 Bestes Essen: unerwartet gut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0040" y="510235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🎵 Barkeeper wurde Freund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320040" y="5614416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C93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Geheimtipp des Jahres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703320" y="3675888"/>
            <a:ext cx="3291840" cy="257860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03320" y="3675888"/>
            <a:ext cx="3291840" cy="420624"/>
          </a:xfrm>
          <a:prstGeom prst="rect">
            <a:avLst/>
          </a:prstGeom>
          <a:solidFill>
            <a:srgbClr val="7A3AC9"/>
          </a:solidFill>
          <a:ln w="12700">
            <a:solidFill>
              <a:srgbClr val="7A3AC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703320" y="3675888"/>
            <a:ext cx="32918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🇷🇸  2024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3703320" y="4133088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BELGRAD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840480" y="4535424"/>
            <a:ext cx="301752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794760" y="4590288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⛵ Splavovi-Clubs am Fluss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3794760" y="5102352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🌄 Heimkehr beim Sonnenaufgang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794760" y="5614416"/>
            <a:ext cx="3108960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7A3A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Wildeste Nacht aller Zeiten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223760" y="914400"/>
            <a:ext cx="4709160" cy="5742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3760" y="914400"/>
            <a:ext cx="4709160" cy="5669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3760" y="914400"/>
            <a:ext cx="47091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 ·  Next Stop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7223760" y="1554480"/>
            <a:ext cx="4709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✈</a:t>
            </a:r>
            <a:endParaRPr lang="en-US" sz="4400" dirty="0"/>
          </a:p>
        </p:txBody>
      </p:sp>
      <p:sp>
        <p:nvSpPr>
          <p:cNvPr id="42" name="Text 40"/>
          <p:cNvSpPr/>
          <p:nvPr/>
        </p:nvSpPr>
        <p:spPr>
          <a:xfrm>
            <a:off x="7360920" y="2267712"/>
            <a:ext cx="4434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TRIP #5 — DIE WAHL IST GEFALLEN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406640" y="2779776"/>
            <a:ext cx="4343400" cy="512064"/>
          </a:xfrm>
          <a:prstGeom prst="rect">
            <a:avLst/>
          </a:prstGeom>
          <a:solidFill>
            <a:srgbClr val="F07800"/>
          </a:solidFill>
          <a:ln w="12700">
            <a:solidFill>
              <a:srgbClr val="F078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0" y="2779776"/>
            <a:ext cx="4343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🇵🇹  LISSABON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7406640" y="3328416"/>
            <a:ext cx="43434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Nightlife-Hauptstadt des Atlantiks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17–22°C · Direktflug ab DUS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406640" y="4041648"/>
            <a:ext cx="4343400" cy="512064"/>
          </a:xfrm>
          <a:prstGeom prst="rect">
            <a:avLst/>
          </a:prstGeom>
          <a:solidFill>
            <a:srgbClr val="7B3FC5"/>
          </a:solidFill>
          <a:ln w="12700">
            <a:solidFill>
              <a:srgbClr val="7B3FC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06640" y="4041648"/>
            <a:ext cx="4343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🇧🇬  SOFIA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7406640" y="4590288"/>
            <a:ext cx="434340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Günstigstes Ziel: €1 Bier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Vitosha · Clubs · Kathedrale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360920" y="5449824"/>
            <a:ext cx="4434840" cy="1828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315200" y="5504688"/>
            <a:ext cx="4526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31. Oktober 2025 = Freitag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7315200" y="5961888"/>
            <a:ext cx="4526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Trip unvergessen — Trip 5 wird der Beste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0" y="6784848"/>
            <a:ext cx="12192000" cy="73152"/>
          </a:xfrm>
          <a:prstGeom prst="rect">
            <a:avLst/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0" y="6784848"/>
            <a:ext cx="12192000" cy="1828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Trip-Planung 2025 – Lissabon vs. Sofia</dc:title>
  <dc:subject>PptxGenJS Presentation</dc:subject>
  <dc:creator>Trip-Planung 2025</dc:creator>
  <cp:lastModifiedBy>Trip-Planung 2025</cp:lastModifiedBy>
  <cp:revision>1</cp:revision>
  <dcterms:created xsi:type="dcterms:W3CDTF">2026-05-29T18:05:00Z</dcterms:created>
  <dcterms:modified xsi:type="dcterms:W3CDTF">2026-05-29T18:05:00Z</dcterms:modified>
</cp:coreProperties>
</file>