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airbnb.com/s/Bairro-Alto--Lisbon--Portugal/homes?checkin=2025-10-30&amp;checkout=2025-11-02&amp;adults=4&amp;min_bedrooms=2&amp;room_types%5B%5D=Entire+home%2Fapt" TargetMode="External"/><Relationship Id="rId4" Type="http://schemas.openxmlformats.org/officeDocument/2006/relationships/hyperlink" Target="https://www.airbnb.com/s/Chiado--Lisbon--Portugal/homes?checkin=2025-10-30&amp;checkout=2025-11-02&amp;adults=4&amp;min_bedrooms=2&amp;room_types%5B%5D=Entire+home%2Fapt" TargetMode="External"/><Relationship Id="rId1" Type="http://schemas.openxmlformats.org/officeDocument/2006/relationships/image" Target="../media/image-4-1.png"/><Relationship Id="rId2" Type="http://schemas.openxmlformats.org/officeDocument/2006/relationships/image" Target="../media/image-4-2.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airbnb.com/s/St-Julian%27s--Malta/homes?checkin=2025-10-30&amp;checkout=2025-11-02&amp;adults=4&amp;min_bedrooms=2&amp;room_types%5B%5D=Entire+home%2Fapt" TargetMode="External"/><Relationship Id="rId4" Type="http://schemas.openxmlformats.org/officeDocument/2006/relationships/hyperlink" Target="https://www.airbnb.com/s/Sliema--Malta/homes?checkin=2025-10-30&amp;checkout=2025-11-02&amp;adults=4&amp;min_bedrooms=2&amp;room_types%5B%5D=Entire+home%2Fapt"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DIE ZIELE STEHEN FEST — ES GEHT LOS!</a:t>
            </a:r>
            <a:endParaRPr lang="en-US" sz="2600" dirty="0"/>
          </a:p>
        </p:txBody>
      </p:sp>
      <p:sp>
        <p:nvSpPr>
          <p:cNvPr id="11" name="Shape 8"/>
          <p:cNvSpPr/>
          <p:nvPr/>
        </p:nvSpPr>
        <p:spPr>
          <a:xfrm>
            <a:off x="1984248" y="4709160"/>
            <a:ext cx="3840480" cy="685800"/>
          </a:xfrm>
          <a:prstGeom prst="rect">
            <a:avLst/>
          </a:prstGeom>
          <a:solidFill>
            <a:srgbClr val="0F3460"/>
          </a:solidFill>
          <a:ln w="12700">
            <a:solidFill>
              <a:srgbClr val="FF8C00"/>
            </a:solidFill>
            <a:prstDash val="solid"/>
          </a:ln>
        </p:spPr>
      </p:sp>
      <p:sp>
        <p:nvSpPr>
          <p:cNvPr id="12" name="Text 9"/>
          <p:cNvSpPr/>
          <p:nvPr/>
        </p:nvSpPr>
        <p:spPr>
          <a:xfrm>
            <a:off x="19842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LISSABON</a:t>
            </a:r>
            <a:endParaRPr lang="en-US" sz="2400" dirty="0"/>
          </a:p>
        </p:txBody>
      </p:sp>
      <p:sp>
        <p:nvSpPr>
          <p:cNvPr id="13" name="Shape 10"/>
          <p:cNvSpPr/>
          <p:nvPr/>
        </p:nvSpPr>
        <p:spPr>
          <a:xfrm>
            <a:off x="6099048" y="4709160"/>
            <a:ext cx="3840480" cy="685800"/>
          </a:xfrm>
          <a:prstGeom prst="rect">
            <a:avLst/>
          </a:prstGeom>
          <a:solidFill>
            <a:srgbClr val="0F3460"/>
          </a:solidFill>
          <a:ln w="12700">
            <a:solidFill>
              <a:srgbClr val="1EB4C8"/>
            </a:solidFill>
            <a:prstDash val="solid"/>
          </a:ln>
        </p:spPr>
      </p:sp>
      <p:sp>
        <p:nvSpPr>
          <p:cNvPr id="14" name="Text 11"/>
          <p:cNvSpPr/>
          <p:nvPr/>
        </p:nvSpPr>
        <p:spPr>
          <a:xfrm>
            <a:off x="60990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MALTA</a:t>
            </a:r>
            <a:endParaRPr lang="en-US" sz="2400" dirty="0"/>
          </a:p>
        </p:txBody>
      </p:sp>
      <p:sp>
        <p:nvSpPr>
          <p:cNvPr id="15" name="Text 12"/>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Lissabon 17–22°C · Malta 22–24°C</a:t>
            </a:r>
            <a:endParaRPr lang="en-US" sz="1300" dirty="0"/>
          </a:p>
        </p:txBody>
      </p:sp>
      <p:sp>
        <p:nvSpPr>
          <p:cNvPr id="16" name="Shape 13"/>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603504"/>
          </a:xfrm>
          <a:prstGeom prst="rect">
            <a:avLst/>
          </a:prstGeom>
          <a:solidFill>
            <a:srgbClr val="FF8C00"/>
          </a:solidFill>
          <a:ln w="12700">
            <a:solidFill>
              <a:srgbClr val="FF8C00"/>
            </a:solidFill>
            <a:prstDash val="solid"/>
          </a:ln>
        </p:spPr>
      </p:sp>
      <p:sp>
        <p:nvSpPr>
          <p:cNvPr id="37" name="Text 33">
            <a:hlinkClick r:id="rId3" tooltip="Airbnb öffnen — 30. Okt.–2. Nov., 4 Gäste, 2 SZ"/>
          </p:cNvPr>
          <p:cNvSpPr/>
          <p:nvPr/>
        </p:nvSpPr>
        <p:spPr>
          <a:xfrm>
            <a:off x="5303520" y="4599432"/>
            <a:ext cx="6675120" cy="603504"/>
          </a:xfrm>
          <a:prstGeom prst="rect">
            <a:avLst/>
          </a:prstGeom>
          <a:noFill/>
          <a:ln/>
        </p:spPr>
        <p:txBody>
          <a:bodyPr wrap="square" rtlCol="0" anchor="ctr"/>
          <a:lstStyle/>
          <a:p>
            <a:pPr algn="ctr" indent="0" marL="0">
              <a:buNone/>
            </a:pPr>
            <a:r>
              <a:rPr lang="en-US" sz="1500" b="1" u="sng" dirty="0">
                <a:solidFill>
                  <a:srgbClr val="FFFFFF"/>
                </a:solidFill>
                <a:latin typeface="Trebuchet MS" pitchFamily="34" charset="0"/>
                <a:ea typeface="Trebuchet MS" pitchFamily="34" charset="-122"/>
                <a:cs typeface="Trebuchet MS" pitchFamily="34" charset="-120"/>
                <a:hlinkClick r:id="rId3" invalidUrl="" action="" tgtFrame="" tooltip="Airbnb öffnen — 30. Okt.–2. Nov., 4 Gäste, 2 SZ" history="1" highlightClick="0" endSnd="0">
                  <a:extLst>
                    <a:ext uri="{A12FA001-AC4F-418D-AE19-62706E023703}">
                      <ahyp:hlinkClr xmlns:ahyp="http://schemas.microsoft.com/office/drawing/2018/hyperlinkcolor" val="tx"/>
                    </a:ext>
                  </a:extLst>
                </a:hlinkClick>
              </a:rPr>
              <a:t>🔍  Airbnb: Lissabon durchsuchen  →</a:t>
            </a:r>
            <a:endParaRPr lang="en-US" sz="1500" dirty="0"/>
          </a:p>
        </p:txBody>
      </p:sp>
      <p:sp>
        <p:nvSpPr>
          <p:cNvPr id="38" name="Text 34">
            <a:hlinkClick r:id="rId4" tooltip="Alternative Suche öffnen"/>
          </p:cNvPr>
          <p:cNvSpPr/>
          <p:nvPr/>
        </p:nvSpPr>
        <p:spPr>
          <a:xfrm>
            <a:off x="5394960" y="5276088"/>
            <a:ext cx="6492240" cy="256032"/>
          </a:xfrm>
          <a:prstGeom prst="rect">
            <a:avLst/>
          </a:prstGeom>
          <a:noFill/>
          <a:ln/>
        </p:spPr>
        <p:txBody>
          <a:bodyPr wrap="square" rtlCol="0" anchor="ctr"/>
          <a:lstStyle/>
          <a:p>
            <a:pPr indent="0" marL="0">
              <a:buNone/>
            </a:pPr>
            <a:r>
              <a:rPr lang="en-US" sz="900" i="1" u="sng" dirty="0">
                <a:solidFill>
                  <a:srgbClr val="6B7280"/>
                </a:solidFill>
                <a:latin typeface="Calibri" pitchFamily="34" charset="0"/>
                <a:ea typeface="Calibri" pitchFamily="34" charset="-122"/>
                <a:cs typeface="Calibri" pitchFamily="34" charset="-120"/>
                <a:hlinkClick r:id="rId4" invalidUrl="" action="" tgtFrame="" tooltip="Alternative Suche öffnen" history="1" highlightClick="0" endSnd="0">
                  <a:extLst>
                    <a:ext uri="{A12FA001-AC4F-418D-AE19-62706E023703}">
                      <ahyp:hlinkClr xmlns:ahyp="http://schemas.microsoft.com/office/drawing/2018/hyperlinkcolor" val="tx"/>
                    </a:ext>
                  </a:extLst>
                </a:hlinkClick>
              </a:rPr>
              <a:t>📍 Alternativ in Chiado suchen: airbnb.com/s/Chiado--Lisbon (2 SZ, 4 Gäste, gleiche Daten)</a:t>
            </a:r>
            <a:endParaRPr lang="en-US" sz="900" dirty="0"/>
          </a:p>
        </p:txBody>
      </p:sp>
      <p:sp>
        <p:nvSpPr>
          <p:cNvPr id="39" name="Text 35"/>
          <p:cNvSpPr/>
          <p:nvPr/>
        </p:nvSpPr>
        <p:spPr>
          <a:xfrm>
            <a:off x="5394960" y="5577840"/>
            <a:ext cx="6492240" cy="274320"/>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Halloween-Wochenende ist schnell ausgebucht — jetzt klicken &amp; buchen!</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603504"/>
          </a:xfrm>
          <a:prstGeom prst="rect">
            <a:avLst/>
          </a:prstGeom>
          <a:solidFill>
            <a:srgbClr val="1EB4C8"/>
          </a:solidFill>
          <a:ln w="12700">
            <a:solidFill>
              <a:srgbClr val="1EB4C8"/>
            </a:solidFill>
            <a:prstDash val="solid"/>
          </a:ln>
        </p:spPr>
      </p:sp>
      <p:sp>
        <p:nvSpPr>
          <p:cNvPr id="37" name="Text 33">
            <a:hlinkClick r:id="rId3" tooltip="Airbnb öffnen — 30. Okt.–2. Nov., 4 Gäste, 2 SZ"/>
          </p:cNvPr>
          <p:cNvSpPr/>
          <p:nvPr/>
        </p:nvSpPr>
        <p:spPr>
          <a:xfrm>
            <a:off x="5303520" y="4599432"/>
            <a:ext cx="6675120" cy="603504"/>
          </a:xfrm>
          <a:prstGeom prst="rect">
            <a:avLst/>
          </a:prstGeom>
          <a:noFill/>
          <a:ln/>
        </p:spPr>
        <p:txBody>
          <a:bodyPr wrap="square" rtlCol="0" anchor="ctr"/>
          <a:lstStyle/>
          <a:p>
            <a:pPr algn="ctr" indent="0" marL="0">
              <a:buNone/>
            </a:pPr>
            <a:r>
              <a:rPr lang="en-US" sz="1500" b="1" u="sng" dirty="0">
                <a:solidFill>
                  <a:srgbClr val="FFFFFF"/>
                </a:solidFill>
                <a:latin typeface="Trebuchet MS" pitchFamily="34" charset="0"/>
                <a:ea typeface="Trebuchet MS" pitchFamily="34" charset="-122"/>
                <a:cs typeface="Trebuchet MS" pitchFamily="34" charset="-120"/>
                <a:hlinkClick r:id="rId3" invalidUrl="" action="" tgtFrame="" tooltip="Airbnb öffnen — 30. Okt.–2. Nov., 4 Gäste, 2 SZ" history="1" highlightClick="0" endSnd="0">
                  <a:extLst>
                    <a:ext uri="{A12FA001-AC4F-418D-AE19-62706E023703}">
                      <ahyp:hlinkClr xmlns:ahyp="http://schemas.microsoft.com/office/drawing/2018/hyperlinkcolor" val="tx"/>
                    </a:ext>
                  </a:extLst>
                </a:hlinkClick>
              </a:rPr>
              <a:t>🔍  Airbnb: Malta durchsuchen  →</a:t>
            </a:r>
            <a:endParaRPr lang="en-US" sz="1500" dirty="0"/>
          </a:p>
        </p:txBody>
      </p:sp>
      <p:sp>
        <p:nvSpPr>
          <p:cNvPr id="38" name="Text 34">
            <a:hlinkClick r:id="rId4" tooltip="Alternative Suche öffnen"/>
          </p:cNvPr>
          <p:cNvSpPr/>
          <p:nvPr/>
        </p:nvSpPr>
        <p:spPr>
          <a:xfrm>
            <a:off x="5394960" y="5276088"/>
            <a:ext cx="6492240" cy="256032"/>
          </a:xfrm>
          <a:prstGeom prst="rect">
            <a:avLst/>
          </a:prstGeom>
          <a:noFill/>
          <a:ln/>
        </p:spPr>
        <p:txBody>
          <a:bodyPr wrap="square" rtlCol="0" anchor="ctr"/>
          <a:lstStyle/>
          <a:p>
            <a:pPr indent="0" marL="0">
              <a:buNone/>
            </a:pPr>
            <a:r>
              <a:rPr lang="en-US" sz="900" i="1" u="sng" dirty="0">
                <a:solidFill>
                  <a:srgbClr val="6B7280"/>
                </a:solidFill>
                <a:latin typeface="Calibri" pitchFamily="34" charset="0"/>
                <a:ea typeface="Calibri" pitchFamily="34" charset="-122"/>
                <a:cs typeface="Calibri" pitchFamily="34" charset="-120"/>
                <a:hlinkClick r:id="rId4" invalidUrl="" action="" tgtFrame="" tooltip="Alternative Suche öffnen" history="1" highlightClick="0" endSnd="0">
                  <a:extLst>
                    <a:ext uri="{A12FA001-AC4F-418D-AE19-62706E023703}">
                      <ahyp:hlinkClr xmlns:ahyp="http://schemas.microsoft.com/office/drawing/2018/hyperlinkcolor" val="tx"/>
                    </a:ext>
                  </a:extLst>
                </a:hlinkClick>
              </a:rPr>
              <a:t>📍 Alternativ in Sliema suchen: airbnb.com/s/Sliema--Malta (ruhiger, Wasserfront, gleiche Daten)</a:t>
            </a:r>
            <a:endParaRPr lang="en-US" sz="900" dirty="0"/>
          </a:p>
        </p:txBody>
      </p:sp>
      <p:sp>
        <p:nvSpPr>
          <p:cNvPr id="39" name="Text 35"/>
          <p:cNvSpPr/>
          <p:nvPr/>
        </p:nvSpPr>
        <p:spPr>
          <a:xfrm>
            <a:off x="5394960" y="5577840"/>
            <a:ext cx="6492240" cy="274320"/>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Halloween-Wochenende ist schnell ausgebucht — jetzt klicken &amp; buchen!</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DIREKTVERGLEICH — LISSABON vs. MALTA</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3429000" y="777240"/>
            <a:ext cx="4160520" cy="512064"/>
          </a:xfrm>
          <a:prstGeom prst="rect">
            <a:avLst/>
          </a:prstGeom>
          <a:solidFill>
            <a:srgbClr val="0F3460"/>
          </a:solidFill>
          <a:ln w="12700">
            <a:solidFill>
              <a:srgbClr val="FF8C00"/>
            </a:solidFill>
            <a:prstDash val="solid"/>
          </a:ln>
        </p:spPr>
      </p:sp>
      <p:sp>
        <p:nvSpPr>
          <p:cNvPr id="7" name="Text 5"/>
          <p:cNvSpPr/>
          <p:nvPr/>
        </p:nvSpPr>
        <p:spPr>
          <a:xfrm>
            <a:off x="3429000" y="777240"/>
            <a:ext cx="4160520" cy="512064"/>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8" name="Shape 6"/>
          <p:cNvSpPr/>
          <p:nvPr/>
        </p:nvSpPr>
        <p:spPr>
          <a:xfrm>
            <a:off x="7680960" y="777240"/>
            <a:ext cx="4160520" cy="512064"/>
          </a:xfrm>
          <a:prstGeom prst="rect">
            <a:avLst/>
          </a:prstGeom>
          <a:solidFill>
            <a:srgbClr val="0F3460"/>
          </a:solidFill>
          <a:ln w="12700">
            <a:solidFill>
              <a:srgbClr val="1EB4C8"/>
            </a:solidFill>
            <a:prstDash val="solid"/>
          </a:ln>
        </p:spPr>
      </p:sp>
      <p:sp>
        <p:nvSpPr>
          <p:cNvPr id="9" name="Text 7"/>
          <p:cNvSpPr/>
          <p:nvPr/>
        </p:nvSpPr>
        <p:spPr>
          <a:xfrm>
            <a:off x="7680960" y="777240"/>
            <a:ext cx="4160520" cy="512064"/>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10" name="Shape 8"/>
          <p:cNvSpPr/>
          <p:nvPr/>
        </p:nvSpPr>
        <p:spPr>
          <a:xfrm>
            <a:off x="274320" y="1325880"/>
            <a:ext cx="3108960" cy="457200"/>
          </a:xfrm>
          <a:prstGeom prst="rect">
            <a:avLst/>
          </a:prstGeom>
          <a:solidFill>
            <a:srgbClr val="16213E"/>
          </a:solidFill>
          <a:ln w="12700">
            <a:solidFill>
              <a:srgbClr val="0F3460"/>
            </a:solidFill>
            <a:prstDash val="solid"/>
          </a:ln>
        </p:spPr>
      </p:sp>
      <p:sp>
        <p:nvSpPr>
          <p:cNvPr id="11" name="Text 9"/>
          <p:cNvSpPr/>
          <p:nvPr/>
        </p:nvSpPr>
        <p:spPr>
          <a:xfrm>
            <a:off x="365760" y="1325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Kosten p.P.</a:t>
            </a:r>
            <a:endParaRPr lang="en-US" sz="1000" dirty="0"/>
          </a:p>
        </p:txBody>
      </p:sp>
      <p:sp>
        <p:nvSpPr>
          <p:cNvPr id="12" name="Shape 10"/>
          <p:cNvSpPr/>
          <p:nvPr/>
        </p:nvSpPr>
        <p:spPr>
          <a:xfrm>
            <a:off x="3429000" y="1325880"/>
            <a:ext cx="4160520" cy="457200"/>
          </a:xfrm>
          <a:prstGeom prst="rect">
            <a:avLst/>
          </a:prstGeom>
          <a:solidFill>
            <a:srgbClr val="16213E"/>
          </a:solidFill>
          <a:ln w="12700">
            <a:solidFill>
              <a:srgbClr val="0F3460"/>
            </a:solidFill>
            <a:prstDash val="solid"/>
          </a:ln>
        </p:spPr>
      </p:sp>
      <p:sp>
        <p:nvSpPr>
          <p:cNvPr id="13" name="Text 11"/>
          <p:cNvSpPr/>
          <p:nvPr/>
        </p:nvSpPr>
        <p:spPr>
          <a:xfrm>
            <a:off x="352044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~€735</a:t>
            </a:r>
            <a:endParaRPr lang="en-US" sz="1000" dirty="0"/>
          </a:p>
        </p:txBody>
      </p:sp>
      <p:sp>
        <p:nvSpPr>
          <p:cNvPr id="14" name="Shape 12"/>
          <p:cNvSpPr/>
          <p:nvPr/>
        </p:nvSpPr>
        <p:spPr>
          <a:xfrm>
            <a:off x="7680960" y="1325880"/>
            <a:ext cx="4160520" cy="457200"/>
          </a:xfrm>
          <a:prstGeom prst="rect">
            <a:avLst/>
          </a:prstGeom>
          <a:solidFill>
            <a:srgbClr val="16213E"/>
          </a:solidFill>
          <a:ln w="12700">
            <a:solidFill>
              <a:srgbClr val="0F3460"/>
            </a:solidFill>
            <a:prstDash val="solid"/>
          </a:ln>
        </p:spPr>
      </p:sp>
      <p:sp>
        <p:nvSpPr>
          <p:cNvPr id="15" name="Text 13"/>
          <p:cNvSpPr/>
          <p:nvPr/>
        </p:nvSpPr>
        <p:spPr>
          <a:xfrm>
            <a:off x="777240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~€631</a:t>
            </a:r>
            <a:endParaRPr lang="en-US" sz="1000" dirty="0"/>
          </a:p>
        </p:txBody>
      </p:sp>
      <p:sp>
        <p:nvSpPr>
          <p:cNvPr id="16" name="Shape 14"/>
          <p:cNvSpPr/>
          <p:nvPr/>
        </p:nvSpPr>
        <p:spPr>
          <a:xfrm>
            <a:off x="274320" y="1783080"/>
            <a:ext cx="3108960" cy="457200"/>
          </a:xfrm>
          <a:prstGeom prst="rect">
            <a:avLst/>
          </a:prstGeom>
          <a:solidFill>
            <a:srgbClr val="1A1A2E"/>
          </a:solidFill>
          <a:ln w="12700">
            <a:solidFill>
              <a:srgbClr val="0F3460"/>
            </a:solidFill>
            <a:prstDash val="solid"/>
          </a:ln>
        </p:spPr>
      </p:sp>
      <p:sp>
        <p:nvSpPr>
          <p:cNvPr id="17" name="Text 15"/>
          <p:cNvSpPr/>
          <p:nvPr/>
        </p:nvSpPr>
        <p:spPr>
          <a:xfrm>
            <a:off x="365760" y="1783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8" name="Shape 16"/>
          <p:cNvSpPr/>
          <p:nvPr/>
        </p:nvSpPr>
        <p:spPr>
          <a:xfrm>
            <a:off x="3429000" y="1783080"/>
            <a:ext cx="4160520" cy="457200"/>
          </a:xfrm>
          <a:prstGeom prst="rect">
            <a:avLst/>
          </a:prstGeom>
          <a:solidFill>
            <a:srgbClr val="1A1A2E"/>
          </a:solidFill>
          <a:ln w="12700">
            <a:solidFill>
              <a:srgbClr val="0F3460"/>
            </a:solidFill>
            <a:prstDash val="solid"/>
          </a:ln>
        </p:spPr>
      </p:sp>
      <p:sp>
        <p:nvSpPr>
          <p:cNvPr id="19" name="Text 17"/>
          <p:cNvSpPr/>
          <p:nvPr/>
        </p:nvSpPr>
        <p:spPr>
          <a:xfrm>
            <a:off x="352044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10m  ab DUS</a:t>
            </a:r>
            <a:endParaRPr lang="en-US" sz="1000" dirty="0"/>
          </a:p>
        </p:txBody>
      </p:sp>
      <p:sp>
        <p:nvSpPr>
          <p:cNvPr id="20" name="Shape 18"/>
          <p:cNvSpPr/>
          <p:nvPr/>
        </p:nvSpPr>
        <p:spPr>
          <a:xfrm>
            <a:off x="7680960" y="1783080"/>
            <a:ext cx="4160520" cy="457200"/>
          </a:xfrm>
          <a:prstGeom prst="rect">
            <a:avLst/>
          </a:prstGeom>
          <a:solidFill>
            <a:srgbClr val="1A1A2E"/>
          </a:solidFill>
          <a:ln w="12700">
            <a:solidFill>
              <a:srgbClr val="0F3460"/>
            </a:solidFill>
            <a:prstDash val="solid"/>
          </a:ln>
        </p:spPr>
      </p:sp>
      <p:sp>
        <p:nvSpPr>
          <p:cNvPr id="21" name="Text 19"/>
          <p:cNvSpPr/>
          <p:nvPr/>
        </p:nvSpPr>
        <p:spPr>
          <a:xfrm>
            <a:off x="777240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00m  ab DUS</a:t>
            </a:r>
            <a:endParaRPr lang="en-US" sz="1000" dirty="0"/>
          </a:p>
        </p:txBody>
      </p:sp>
      <p:sp>
        <p:nvSpPr>
          <p:cNvPr id="22" name="Shape 20"/>
          <p:cNvSpPr/>
          <p:nvPr/>
        </p:nvSpPr>
        <p:spPr>
          <a:xfrm>
            <a:off x="274320" y="2240280"/>
            <a:ext cx="3108960" cy="457200"/>
          </a:xfrm>
          <a:prstGeom prst="rect">
            <a:avLst/>
          </a:prstGeom>
          <a:solidFill>
            <a:srgbClr val="16213E"/>
          </a:solidFill>
          <a:ln w="12700">
            <a:solidFill>
              <a:srgbClr val="0F3460"/>
            </a:solidFill>
            <a:prstDash val="solid"/>
          </a:ln>
        </p:spPr>
      </p:sp>
      <p:sp>
        <p:nvSpPr>
          <p:cNvPr id="23" name="Text 21"/>
          <p:cNvSpPr/>
          <p:nvPr/>
        </p:nvSpPr>
        <p:spPr>
          <a:xfrm>
            <a:off x="365760" y="2240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Flughafen</a:t>
            </a:r>
            <a:endParaRPr lang="en-US" sz="1000" dirty="0"/>
          </a:p>
        </p:txBody>
      </p:sp>
      <p:sp>
        <p:nvSpPr>
          <p:cNvPr id="24" name="Shape 22"/>
          <p:cNvSpPr/>
          <p:nvPr/>
        </p:nvSpPr>
        <p:spPr>
          <a:xfrm>
            <a:off x="3429000" y="2240280"/>
            <a:ext cx="4160520" cy="457200"/>
          </a:xfrm>
          <a:prstGeom prst="rect">
            <a:avLst/>
          </a:prstGeom>
          <a:solidFill>
            <a:srgbClr val="16213E"/>
          </a:solidFill>
          <a:ln w="12700">
            <a:solidFill>
              <a:srgbClr val="0F3460"/>
            </a:solidFill>
            <a:prstDash val="solid"/>
          </a:ln>
        </p:spPr>
      </p:sp>
      <p:sp>
        <p:nvSpPr>
          <p:cNvPr id="25" name="Text 23"/>
          <p:cNvSpPr/>
          <p:nvPr/>
        </p:nvSpPr>
        <p:spPr>
          <a:xfrm>
            <a:off x="352044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TAP</a:t>
            </a:r>
            <a:endParaRPr lang="en-US" sz="1000" dirty="0"/>
          </a:p>
        </p:txBody>
      </p:sp>
      <p:sp>
        <p:nvSpPr>
          <p:cNvPr id="26" name="Shape 24"/>
          <p:cNvSpPr/>
          <p:nvPr/>
        </p:nvSpPr>
        <p:spPr>
          <a:xfrm>
            <a:off x="7680960" y="2240280"/>
            <a:ext cx="4160520" cy="457200"/>
          </a:xfrm>
          <a:prstGeom prst="rect">
            <a:avLst/>
          </a:prstGeom>
          <a:solidFill>
            <a:srgbClr val="16213E"/>
          </a:solidFill>
          <a:ln w="12700">
            <a:solidFill>
              <a:srgbClr val="0F3460"/>
            </a:solidFill>
            <a:prstDash val="solid"/>
          </a:ln>
        </p:spPr>
      </p:sp>
      <p:sp>
        <p:nvSpPr>
          <p:cNvPr id="27" name="Text 25"/>
          <p:cNvSpPr/>
          <p:nvPr/>
        </p:nvSpPr>
        <p:spPr>
          <a:xfrm>
            <a:off x="777240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Ryanair</a:t>
            </a:r>
            <a:endParaRPr lang="en-US" sz="1000" dirty="0"/>
          </a:p>
        </p:txBody>
      </p:sp>
      <p:sp>
        <p:nvSpPr>
          <p:cNvPr id="28" name="Shape 26"/>
          <p:cNvSpPr/>
          <p:nvPr/>
        </p:nvSpPr>
        <p:spPr>
          <a:xfrm>
            <a:off x="274320" y="2697480"/>
            <a:ext cx="3108960" cy="457200"/>
          </a:xfrm>
          <a:prstGeom prst="rect">
            <a:avLst/>
          </a:prstGeom>
          <a:solidFill>
            <a:srgbClr val="1A1A2E"/>
          </a:solidFill>
          <a:ln w="12700">
            <a:solidFill>
              <a:srgbClr val="0F3460"/>
            </a:solidFill>
            <a:prstDash val="solid"/>
          </a:ln>
        </p:spPr>
      </p:sp>
      <p:sp>
        <p:nvSpPr>
          <p:cNvPr id="29" name="Text 27"/>
          <p:cNvSpPr/>
          <p:nvPr/>
        </p:nvSpPr>
        <p:spPr>
          <a:xfrm>
            <a:off x="365760" y="2697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Bierpreis</a:t>
            </a:r>
            <a:endParaRPr lang="en-US" sz="1000" dirty="0"/>
          </a:p>
        </p:txBody>
      </p:sp>
      <p:sp>
        <p:nvSpPr>
          <p:cNvPr id="30" name="Shape 28"/>
          <p:cNvSpPr/>
          <p:nvPr/>
        </p:nvSpPr>
        <p:spPr>
          <a:xfrm>
            <a:off x="3429000" y="2697480"/>
            <a:ext cx="4160520" cy="457200"/>
          </a:xfrm>
          <a:prstGeom prst="rect">
            <a:avLst/>
          </a:prstGeom>
          <a:solidFill>
            <a:srgbClr val="1A1A2E"/>
          </a:solidFill>
          <a:ln w="12700">
            <a:solidFill>
              <a:srgbClr val="0F3460"/>
            </a:solidFill>
            <a:prstDash val="solid"/>
          </a:ln>
        </p:spPr>
      </p:sp>
      <p:sp>
        <p:nvSpPr>
          <p:cNvPr id="31" name="Text 29"/>
          <p:cNvSpPr/>
          <p:nvPr/>
        </p:nvSpPr>
        <p:spPr>
          <a:xfrm>
            <a:off x="352044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(Super Bock / Sagres)</a:t>
            </a:r>
            <a:endParaRPr lang="en-US" sz="1000" dirty="0"/>
          </a:p>
        </p:txBody>
      </p:sp>
      <p:sp>
        <p:nvSpPr>
          <p:cNvPr id="32" name="Shape 30"/>
          <p:cNvSpPr/>
          <p:nvPr/>
        </p:nvSpPr>
        <p:spPr>
          <a:xfrm>
            <a:off x="7680960" y="2697480"/>
            <a:ext cx="4160520" cy="457200"/>
          </a:xfrm>
          <a:prstGeom prst="rect">
            <a:avLst/>
          </a:prstGeom>
          <a:solidFill>
            <a:srgbClr val="1A1A2E"/>
          </a:solidFill>
          <a:ln w="12700">
            <a:solidFill>
              <a:srgbClr val="0F3460"/>
            </a:solidFill>
            <a:prstDash val="solid"/>
          </a:ln>
        </p:spPr>
      </p:sp>
      <p:sp>
        <p:nvSpPr>
          <p:cNvPr id="33" name="Text 31"/>
          <p:cNvSpPr/>
          <p:nvPr/>
        </p:nvSpPr>
        <p:spPr>
          <a:xfrm>
            <a:off x="777240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(Cisk Lager, seit 1928)</a:t>
            </a:r>
            <a:endParaRPr lang="en-US" sz="1000" dirty="0"/>
          </a:p>
        </p:txBody>
      </p:sp>
      <p:sp>
        <p:nvSpPr>
          <p:cNvPr id="34" name="Shape 32"/>
          <p:cNvSpPr/>
          <p:nvPr/>
        </p:nvSpPr>
        <p:spPr>
          <a:xfrm>
            <a:off x="274320" y="3154680"/>
            <a:ext cx="3108960" cy="457200"/>
          </a:xfrm>
          <a:prstGeom prst="rect">
            <a:avLst/>
          </a:prstGeom>
          <a:solidFill>
            <a:srgbClr val="16213E"/>
          </a:solidFill>
          <a:ln w="12700">
            <a:solidFill>
              <a:srgbClr val="0F3460"/>
            </a:solidFill>
            <a:prstDash val="solid"/>
          </a:ln>
        </p:spPr>
      </p:sp>
      <p:sp>
        <p:nvSpPr>
          <p:cNvPr id="35" name="Text 33"/>
          <p:cNvSpPr/>
          <p:nvPr/>
        </p:nvSpPr>
        <p:spPr>
          <a:xfrm>
            <a:off x="365760" y="3154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Wetter Ende Okt.</a:t>
            </a:r>
            <a:endParaRPr lang="en-US" sz="1000" dirty="0"/>
          </a:p>
        </p:txBody>
      </p:sp>
      <p:sp>
        <p:nvSpPr>
          <p:cNvPr id="36" name="Shape 34"/>
          <p:cNvSpPr/>
          <p:nvPr/>
        </p:nvSpPr>
        <p:spPr>
          <a:xfrm>
            <a:off x="3429000" y="3154680"/>
            <a:ext cx="4160520" cy="457200"/>
          </a:xfrm>
          <a:prstGeom prst="rect">
            <a:avLst/>
          </a:prstGeom>
          <a:solidFill>
            <a:srgbClr val="16213E"/>
          </a:solidFill>
          <a:ln w="12700">
            <a:solidFill>
              <a:srgbClr val="0F3460"/>
            </a:solidFill>
            <a:prstDash val="solid"/>
          </a:ln>
        </p:spPr>
      </p:sp>
      <p:sp>
        <p:nvSpPr>
          <p:cNvPr id="37" name="Text 35"/>
          <p:cNvSpPr/>
          <p:nvPr/>
        </p:nvSpPr>
        <p:spPr>
          <a:xfrm>
            <a:off x="352044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17–22°C  ☀</a:t>
            </a:r>
            <a:endParaRPr lang="en-US" sz="1000" dirty="0"/>
          </a:p>
        </p:txBody>
      </p:sp>
      <p:sp>
        <p:nvSpPr>
          <p:cNvPr id="38" name="Shape 36"/>
          <p:cNvSpPr/>
          <p:nvPr/>
        </p:nvSpPr>
        <p:spPr>
          <a:xfrm>
            <a:off x="7680960" y="3154680"/>
            <a:ext cx="4160520" cy="457200"/>
          </a:xfrm>
          <a:prstGeom prst="rect">
            <a:avLst/>
          </a:prstGeom>
          <a:solidFill>
            <a:srgbClr val="16213E"/>
          </a:solidFill>
          <a:ln w="12700">
            <a:solidFill>
              <a:srgbClr val="0F3460"/>
            </a:solidFill>
            <a:prstDash val="solid"/>
          </a:ln>
        </p:spPr>
      </p:sp>
      <p:sp>
        <p:nvSpPr>
          <p:cNvPr id="39" name="Text 37"/>
          <p:cNvSpPr/>
          <p:nvPr/>
        </p:nvSpPr>
        <p:spPr>
          <a:xfrm>
            <a:off x="777240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22–24°C  ☀☀  (wärmer!)</a:t>
            </a:r>
            <a:endParaRPr lang="en-US" sz="1000" dirty="0"/>
          </a:p>
        </p:txBody>
      </p:sp>
      <p:sp>
        <p:nvSpPr>
          <p:cNvPr id="40" name="Shape 38"/>
          <p:cNvSpPr/>
          <p:nvPr/>
        </p:nvSpPr>
        <p:spPr>
          <a:xfrm>
            <a:off x="274320" y="3611880"/>
            <a:ext cx="3108960" cy="457200"/>
          </a:xfrm>
          <a:prstGeom prst="rect">
            <a:avLst/>
          </a:prstGeom>
          <a:solidFill>
            <a:srgbClr val="1A1A2E"/>
          </a:solidFill>
          <a:ln w="12700">
            <a:solidFill>
              <a:srgbClr val="0F3460"/>
            </a:solidFill>
            <a:prstDash val="solid"/>
          </a:ln>
        </p:spPr>
      </p:sp>
      <p:sp>
        <p:nvSpPr>
          <p:cNvPr id="41" name="Text 39"/>
          <p:cNvSpPr/>
          <p:nvPr/>
        </p:nvSpPr>
        <p:spPr>
          <a:xfrm>
            <a:off x="365760" y="3611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Halloween</a:t>
            </a:r>
            <a:endParaRPr lang="en-US" sz="1000" dirty="0"/>
          </a:p>
        </p:txBody>
      </p:sp>
      <p:sp>
        <p:nvSpPr>
          <p:cNvPr id="42" name="Shape 40"/>
          <p:cNvSpPr/>
          <p:nvPr/>
        </p:nvSpPr>
        <p:spPr>
          <a:xfrm>
            <a:off x="3429000" y="3611880"/>
            <a:ext cx="4160520" cy="457200"/>
          </a:xfrm>
          <a:prstGeom prst="rect">
            <a:avLst/>
          </a:prstGeom>
          <a:solidFill>
            <a:srgbClr val="1A1A2E"/>
          </a:solidFill>
          <a:ln w="12700">
            <a:solidFill>
              <a:srgbClr val="0F3460"/>
            </a:solidFill>
            <a:prstDash val="solid"/>
          </a:ln>
        </p:spPr>
      </p:sp>
      <p:sp>
        <p:nvSpPr>
          <p:cNvPr id="43" name="Text 41"/>
          <p:cNvSpPr/>
          <p:nvPr/>
        </p:nvSpPr>
        <p:spPr>
          <a:xfrm>
            <a:off x="352044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Clubs bis 6 Uhr</a:t>
            </a:r>
            <a:endParaRPr lang="en-US" sz="1000" dirty="0"/>
          </a:p>
        </p:txBody>
      </p:sp>
      <p:sp>
        <p:nvSpPr>
          <p:cNvPr id="44" name="Shape 42"/>
          <p:cNvSpPr/>
          <p:nvPr/>
        </p:nvSpPr>
        <p:spPr>
          <a:xfrm>
            <a:off x="7680960" y="3611880"/>
            <a:ext cx="4160520" cy="457200"/>
          </a:xfrm>
          <a:prstGeom prst="rect">
            <a:avLst/>
          </a:prstGeom>
          <a:solidFill>
            <a:srgbClr val="1A1A2E"/>
          </a:solidFill>
          <a:ln w="12700">
            <a:solidFill>
              <a:srgbClr val="0F3460"/>
            </a:solidFill>
            <a:prstDash val="solid"/>
          </a:ln>
        </p:spPr>
      </p:sp>
      <p:sp>
        <p:nvSpPr>
          <p:cNvPr id="45" name="Text 43"/>
          <p:cNvSpPr/>
          <p:nvPr/>
        </p:nvSpPr>
        <p:spPr>
          <a:xfrm>
            <a:off x="777240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Paceville bis 4 Uhr</a:t>
            </a:r>
            <a:endParaRPr lang="en-US" sz="1000" dirty="0"/>
          </a:p>
        </p:txBody>
      </p:sp>
      <p:sp>
        <p:nvSpPr>
          <p:cNvPr id="46" name="Shape 44"/>
          <p:cNvSpPr/>
          <p:nvPr/>
        </p:nvSpPr>
        <p:spPr>
          <a:xfrm>
            <a:off x="274320" y="4069080"/>
            <a:ext cx="3108960" cy="457200"/>
          </a:xfrm>
          <a:prstGeom prst="rect">
            <a:avLst/>
          </a:prstGeom>
          <a:solidFill>
            <a:srgbClr val="16213E"/>
          </a:solidFill>
          <a:ln w="12700">
            <a:solidFill>
              <a:srgbClr val="0F3460"/>
            </a:solidFill>
            <a:prstDash val="solid"/>
          </a:ln>
        </p:spPr>
      </p:sp>
      <p:sp>
        <p:nvSpPr>
          <p:cNvPr id="47" name="Text 45"/>
          <p:cNvSpPr/>
          <p:nvPr/>
        </p:nvSpPr>
        <p:spPr>
          <a:xfrm>
            <a:off x="365760" y="4069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Viertel</a:t>
            </a:r>
            <a:endParaRPr lang="en-US" sz="1000" dirty="0"/>
          </a:p>
        </p:txBody>
      </p:sp>
      <p:sp>
        <p:nvSpPr>
          <p:cNvPr id="48" name="Shape 46"/>
          <p:cNvSpPr/>
          <p:nvPr/>
        </p:nvSpPr>
        <p:spPr>
          <a:xfrm>
            <a:off x="3429000" y="4069080"/>
            <a:ext cx="4160520" cy="457200"/>
          </a:xfrm>
          <a:prstGeom prst="rect">
            <a:avLst/>
          </a:prstGeom>
          <a:solidFill>
            <a:srgbClr val="16213E"/>
          </a:solidFill>
          <a:ln w="12700">
            <a:solidFill>
              <a:srgbClr val="0F3460"/>
            </a:solidFill>
            <a:prstDash val="solid"/>
          </a:ln>
        </p:spPr>
      </p:sp>
      <p:sp>
        <p:nvSpPr>
          <p:cNvPr id="49" name="Text 47"/>
          <p:cNvSpPr/>
          <p:nvPr/>
        </p:nvSpPr>
        <p:spPr>
          <a:xfrm>
            <a:off x="352044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Bairro Alto · Pink Street</a:t>
            </a:r>
            <a:endParaRPr lang="en-US" sz="1000" dirty="0"/>
          </a:p>
        </p:txBody>
      </p:sp>
      <p:sp>
        <p:nvSpPr>
          <p:cNvPr id="50" name="Shape 48"/>
          <p:cNvSpPr/>
          <p:nvPr/>
        </p:nvSpPr>
        <p:spPr>
          <a:xfrm>
            <a:off x="7680960" y="4069080"/>
            <a:ext cx="4160520" cy="457200"/>
          </a:xfrm>
          <a:prstGeom prst="rect">
            <a:avLst/>
          </a:prstGeom>
          <a:solidFill>
            <a:srgbClr val="16213E"/>
          </a:solidFill>
          <a:ln w="12700">
            <a:solidFill>
              <a:srgbClr val="0F3460"/>
            </a:solidFill>
            <a:prstDash val="solid"/>
          </a:ln>
        </p:spPr>
      </p:sp>
      <p:sp>
        <p:nvSpPr>
          <p:cNvPr id="51" name="Text 49"/>
          <p:cNvSpPr/>
          <p:nvPr/>
        </p:nvSpPr>
        <p:spPr>
          <a:xfrm>
            <a:off x="777240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Paceville · St. Julian's</a:t>
            </a:r>
            <a:endParaRPr lang="en-US" sz="1000" dirty="0"/>
          </a:p>
        </p:txBody>
      </p:sp>
      <p:sp>
        <p:nvSpPr>
          <p:cNvPr id="52" name="Shape 50"/>
          <p:cNvSpPr/>
          <p:nvPr/>
        </p:nvSpPr>
        <p:spPr>
          <a:xfrm>
            <a:off x="274320" y="4526280"/>
            <a:ext cx="3108960" cy="457200"/>
          </a:xfrm>
          <a:prstGeom prst="rect">
            <a:avLst/>
          </a:prstGeom>
          <a:solidFill>
            <a:srgbClr val="1A1A2E"/>
          </a:solidFill>
          <a:ln w="12700">
            <a:solidFill>
              <a:srgbClr val="0F3460"/>
            </a:solidFill>
            <a:prstDash val="solid"/>
          </a:ln>
        </p:spPr>
      </p:sp>
      <p:sp>
        <p:nvSpPr>
          <p:cNvPr id="53" name="Text 51"/>
          <p:cNvSpPr/>
          <p:nvPr/>
        </p:nvSpPr>
        <p:spPr>
          <a:xfrm>
            <a:off x="365760" y="4526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Highlight</a:t>
            </a:r>
            <a:endParaRPr lang="en-US" sz="1000" dirty="0"/>
          </a:p>
        </p:txBody>
      </p:sp>
      <p:sp>
        <p:nvSpPr>
          <p:cNvPr id="54" name="Shape 52"/>
          <p:cNvSpPr/>
          <p:nvPr/>
        </p:nvSpPr>
        <p:spPr>
          <a:xfrm>
            <a:off x="3429000" y="4526280"/>
            <a:ext cx="4160520" cy="457200"/>
          </a:xfrm>
          <a:prstGeom prst="rect">
            <a:avLst/>
          </a:prstGeom>
          <a:solidFill>
            <a:srgbClr val="1A1A2E"/>
          </a:solidFill>
          <a:ln w="12700">
            <a:solidFill>
              <a:srgbClr val="0F3460"/>
            </a:solidFill>
            <a:prstDash val="solid"/>
          </a:ln>
        </p:spPr>
      </p:sp>
      <p:sp>
        <p:nvSpPr>
          <p:cNvPr id="55" name="Text 53"/>
          <p:cNvSpPr/>
          <p:nvPr/>
        </p:nvSpPr>
        <p:spPr>
          <a:xfrm>
            <a:off x="352044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Fado · Atlantik-Charme</a:t>
            </a:r>
            <a:endParaRPr lang="en-US" sz="1000" dirty="0"/>
          </a:p>
        </p:txBody>
      </p:sp>
      <p:sp>
        <p:nvSpPr>
          <p:cNvPr id="56" name="Shape 54"/>
          <p:cNvSpPr/>
          <p:nvPr/>
        </p:nvSpPr>
        <p:spPr>
          <a:xfrm>
            <a:off x="7680960" y="4526280"/>
            <a:ext cx="4160520" cy="457200"/>
          </a:xfrm>
          <a:prstGeom prst="rect">
            <a:avLst/>
          </a:prstGeom>
          <a:solidFill>
            <a:srgbClr val="1A1A2E"/>
          </a:solidFill>
          <a:ln w="12700">
            <a:solidFill>
              <a:srgbClr val="0F3460"/>
            </a:solidFill>
            <a:prstDash val="solid"/>
          </a:ln>
        </p:spPr>
      </p:sp>
      <p:sp>
        <p:nvSpPr>
          <p:cNvPr id="57" name="Text 55"/>
          <p:cNvSpPr/>
          <p:nvPr/>
        </p:nvSpPr>
        <p:spPr>
          <a:xfrm>
            <a:off x="777240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Blaue Lagune · Schwimmen!</a:t>
            </a:r>
            <a:endParaRPr lang="en-US" sz="1000" dirty="0"/>
          </a:p>
        </p:txBody>
      </p:sp>
      <p:sp>
        <p:nvSpPr>
          <p:cNvPr id="58" name="Shape 56"/>
          <p:cNvSpPr/>
          <p:nvPr/>
        </p:nvSpPr>
        <p:spPr>
          <a:xfrm>
            <a:off x="274320" y="4983480"/>
            <a:ext cx="3108960" cy="457200"/>
          </a:xfrm>
          <a:prstGeom prst="rect">
            <a:avLst/>
          </a:prstGeom>
          <a:solidFill>
            <a:srgbClr val="16213E"/>
          </a:solidFill>
          <a:ln w="12700">
            <a:solidFill>
              <a:srgbClr val="0F3460"/>
            </a:solidFill>
            <a:prstDash val="solid"/>
          </a:ln>
        </p:spPr>
      </p:sp>
      <p:sp>
        <p:nvSpPr>
          <p:cNvPr id="59" name="Text 57"/>
          <p:cNvSpPr/>
          <p:nvPr/>
        </p:nvSpPr>
        <p:spPr>
          <a:xfrm>
            <a:off x="365760" y="4983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Kochkurs</a:t>
            </a:r>
            <a:endParaRPr lang="en-US" sz="1000" dirty="0"/>
          </a:p>
        </p:txBody>
      </p:sp>
      <p:sp>
        <p:nvSpPr>
          <p:cNvPr id="60" name="Shape 58"/>
          <p:cNvSpPr/>
          <p:nvPr/>
        </p:nvSpPr>
        <p:spPr>
          <a:xfrm>
            <a:off x="3429000" y="4983480"/>
            <a:ext cx="4160520" cy="457200"/>
          </a:xfrm>
          <a:prstGeom prst="rect">
            <a:avLst/>
          </a:prstGeom>
          <a:solidFill>
            <a:srgbClr val="16213E"/>
          </a:solidFill>
          <a:ln w="12700">
            <a:solidFill>
              <a:srgbClr val="0F3460"/>
            </a:solidFill>
            <a:prstDash val="solid"/>
          </a:ln>
        </p:spPr>
      </p:sp>
      <p:sp>
        <p:nvSpPr>
          <p:cNvPr id="61" name="Text 59"/>
          <p:cNvSpPr/>
          <p:nvPr/>
        </p:nvSpPr>
        <p:spPr>
          <a:xfrm>
            <a:off x="352044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€110 p.P.</a:t>
            </a:r>
            <a:endParaRPr lang="en-US" sz="1000" dirty="0"/>
          </a:p>
        </p:txBody>
      </p:sp>
      <p:sp>
        <p:nvSpPr>
          <p:cNvPr id="62" name="Shape 60"/>
          <p:cNvSpPr/>
          <p:nvPr/>
        </p:nvSpPr>
        <p:spPr>
          <a:xfrm>
            <a:off x="7680960" y="4983480"/>
            <a:ext cx="4160520" cy="457200"/>
          </a:xfrm>
          <a:prstGeom prst="rect">
            <a:avLst/>
          </a:prstGeom>
          <a:solidFill>
            <a:srgbClr val="16213E"/>
          </a:solidFill>
          <a:ln w="12700">
            <a:solidFill>
              <a:srgbClr val="0F3460"/>
            </a:solidFill>
            <a:prstDash val="solid"/>
          </a:ln>
        </p:spPr>
      </p:sp>
      <p:sp>
        <p:nvSpPr>
          <p:cNvPr id="63" name="Text 61"/>
          <p:cNvSpPr/>
          <p:nvPr/>
        </p:nvSpPr>
        <p:spPr>
          <a:xfrm>
            <a:off x="777240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€65 p.P.</a:t>
            </a:r>
            <a:endParaRPr lang="en-US" sz="1000" dirty="0"/>
          </a:p>
        </p:txBody>
      </p:sp>
      <p:sp>
        <p:nvSpPr>
          <p:cNvPr id="64" name="Shape 62"/>
          <p:cNvSpPr/>
          <p:nvPr/>
        </p:nvSpPr>
        <p:spPr>
          <a:xfrm>
            <a:off x="274320" y="5440680"/>
            <a:ext cx="3108960" cy="457200"/>
          </a:xfrm>
          <a:prstGeom prst="rect">
            <a:avLst/>
          </a:prstGeom>
          <a:solidFill>
            <a:srgbClr val="1A1A2E"/>
          </a:solidFill>
          <a:ln w="12700">
            <a:solidFill>
              <a:srgbClr val="0F3460"/>
            </a:solidFill>
            <a:prstDash val="solid"/>
          </a:ln>
        </p:spPr>
      </p:sp>
      <p:sp>
        <p:nvSpPr>
          <p:cNvPr id="65" name="Text 63"/>
          <p:cNvSpPr/>
          <p:nvPr/>
        </p:nvSpPr>
        <p:spPr>
          <a:xfrm>
            <a:off x="365760" y="5440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Unterkunft p.P.</a:t>
            </a:r>
            <a:endParaRPr lang="en-US" sz="1000" dirty="0"/>
          </a:p>
        </p:txBody>
      </p:sp>
      <p:sp>
        <p:nvSpPr>
          <p:cNvPr id="66" name="Shape 64"/>
          <p:cNvSpPr/>
          <p:nvPr/>
        </p:nvSpPr>
        <p:spPr>
          <a:xfrm>
            <a:off x="3429000" y="5440680"/>
            <a:ext cx="4160520" cy="457200"/>
          </a:xfrm>
          <a:prstGeom prst="rect">
            <a:avLst/>
          </a:prstGeom>
          <a:solidFill>
            <a:srgbClr val="1A1A2E"/>
          </a:solidFill>
          <a:ln w="12700">
            <a:solidFill>
              <a:srgbClr val="0F3460"/>
            </a:solidFill>
            <a:prstDash val="solid"/>
          </a:ln>
        </p:spPr>
      </p:sp>
      <p:sp>
        <p:nvSpPr>
          <p:cNvPr id="67" name="Text 65"/>
          <p:cNvSpPr/>
          <p:nvPr/>
        </p:nvSpPr>
        <p:spPr>
          <a:xfrm>
            <a:off x="352044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~€113–120</a:t>
            </a:r>
            <a:endParaRPr lang="en-US" sz="1000" dirty="0"/>
          </a:p>
        </p:txBody>
      </p:sp>
      <p:sp>
        <p:nvSpPr>
          <p:cNvPr id="68" name="Shape 66"/>
          <p:cNvSpPr/>
          <p:nvPr/>
        </p:nvSpPr>
        <p:spPr>
          <a:xfrm>
            <a:off x="7680960" y="5440680"/>
            <a:ext cx="4160520" cy="457200"/>
          </a:xfrm>
          <a:prstGeom prst="rect">
            <a:avLst/>
          </a:prstGeom>
          <a:solidFill>
            <a:srgbClr val="1A1A2E"/>
          </a:solidFill>
          <a:ln w="12700">
            <a:solidFill>
              <a:srgbClr val="0F3460"/>
            </a:solidFill>
            <a:prstDash val="solid"/>
          </a:ln>
        </p:spPr>
      </p:sp>
      <p:sp>
        <p:nvSpPr>
          <p:cNvPr id="69" name="Text 67"/>
          <p:cNvSpPr/>
          <p:nvPr/>
        </p:nvSpPr>
        <p:spPr>
          <a:xfrm>
            <a:off x="777240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~€84–89</a:t>
            </a:r>
            <a:endParaRPr lang="en-US" sz="1000" dirty="0"/>
          </a:p>
        </p:txBody>
      </p:sp>
      <p:sp>
        <p:nvSpPr>
          <p:cNvPr id="70" name="Shape 68"/>
          <p:cNvSpPr/>
          <p:nvPr/>
        </p:nvSpPr>
        <p:spPr>
          <a:xfrm>
            <a:off x="274320" y="5897880"/>
            <a:ext cx="3108960" cy="457200"/>
          </a:xfrm>
          <a:prstGeom prst="rect">
            <a:avLst/>
          </a:prstGeom>
          <a:solidFill>
            <a:srgbClr val="0F3460"/>
          </a:solidFill>
          <a:ln w="12700">
            <a:solidFill>
              <a:srgbClr val="0F3460"/>
            </a:solidFill>
            <a:prstDash val="solid"/>
          </a:ln>
        </p:spPr>
      </p:sp>
      <p:sp>
        <p:nvSpPr>
          <p:cNvPr id="71" name="Text 69"/>
          <p:cNvSpPr/>
          <p:nvPr/>
        </p:nvSpPr>
        <p:spPr>
          <a:xfrm>
            <a:off x="365760" y="5897880"/>
            <a:ext cx="297180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Stärke</a:t>
            </a:r>
            <a:endParaRPr lang="en-US" sz="1100" dirty="0"/>
          </a:p>
        </p:txBody>
      </p:sp>
      <p:sp>
        <p:nvSpPr>
          <p:cNvPr id="72" name="Shape 70"/>
          <p:cNvSpPr/>
          <p:nvPr/>
        </p:nvSpPr>
        <p:spPr>
          <a:xfrm>
            <a:off x="3429000" y="5897880"/>
            <a:ext cx="4160520" cy="457200"/>
          </a:xfrm>
          <a:prstGeom prst="rect">
            <a:avLst/>
          </a:prstGeom>
          <a:solidFill>
            <a:srgbClr val="0F3460"/>
          </a:solidFill>
          <a:ln w="12700">
            <a:solidFill>
              <a:srgbClr val="FF8C00"/>
            </a:solidFill>
            <a:prstDash val="solid"/>
          </a:ln>
        </p:spPr>
      </p:sp>
      <p:sp>
        <p:nvSpPr>
          <p:cNvPr id="73" name="Text 71"/>
          <p:cNvSpPr/>
          <p:nvPr/>
        </p:nvSpPr>
        <p:spPr>
          <a:xfrm>
            <a:off x="3520440" y="5897880"/>
            <a:ext cx="3977640" cy="457200"/>
          </a:xfrm>
          <a:prstGeom prst="rect">
            <a:avLst/>
          </a:prstGeom>
          <a:noFill/>
          <a:ln/>
        </p:spPr>
        <p:txBody>
          <a:bodyPr wrap="square" rtlCol="0" anchor="ct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Nightlife-Weltklasse</a:t>
            </a:r>
            <a:endParaRPr lang="en-US" sz="1100" dirty="0"/>
          </a:p>
        </p:txBody>
      </p:sp>
      <p:sp>
        <p:nvSpPr>
          <p:cNvPr id="74" name="Shape 72"/>
          <p:cNvSpPr/>
          <p:nvPr/>
        </p:nvSpPr>
        <p:spPr>
          <a:xfrm>
            <a:off x="7680960" y="5897880"/>
            <a:ext cx="4160520" cy="457200"/>
          </a:xfrm>
          <a:prstGeom prst="rect">
            <a:avLst/>
          </a:prstGeom>
          <a:solidFill>
            <a:srgbClr val="0F3460"/>
          </a:solidFill>
          <a:ln w="12700">
            <a:solidFill>
              <a:srgbClr val="1EB4C8"/>
            </a:solidFill>
            <a:prstDash val="solid"/>
          </a:ln>
        </p:spPr>
      </p:sp>
      <p:sp>
        <p:nvSpPr>
          <p:cNvPr id="75" name="Text 73"/>
          <p:cNvSpPr/>
          <p:nvPr/>
        </p:nvSpPr>
        <p:spPr>
          <a:xfrm>
            <a:off x="7772400" y="5897880"/>
            <a:ext cx="3977640" cy="457200"/>
          </a:xfrm>
          <a:prstGeom prst="rect">
            <a:avLst/>
          </a:prstGeom>
          <a:noFill/>
          <a:ln/>
        </p:spPr>
        <p:txBody>
          <a:bodyPr wrap="square" rtlCol="0" anchor="ct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Wärme + Meer + Preis</a:t>
            </a:r>
            <a:endParaRPr lang="en-US" sz="1100" dirty="0"/>
          </a:p>
        </p:txBody>
      </p:sp>
      <p:sp>
        <p:nvSpPr>
          <p:cNvPr id="76" name="Shape 74"/>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TRIP HALL OF FAME — DIE LEGENDE WÄCHST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28600" y="932688"/>
            <a:ext cx="3291840" cy="2578608"/>
          </a:xfrm>
          <a:prstGeom prst="rect">
            <a:avLst/>
          </a:prstGeom>
          <a:solidFill>
            <a:srgbClr val="16213E"/>
          </a:solidFill>
          <a:ln w="12700">
            <a:solidFill>
              <a:srgbClr val="E8C85A"/>
            </a:solidFill>
            <a:prstDash val="solid"/>
          </a:ln>
        </p:spPr>
      </p:sp>
      <p:sp>
        <p:nvSpPr>
          <p:cNvPr id="7" name="Shape 5"/>
          <p:cNvSpPr/>
          <p:nvPr/>
        </p:nvSpPr>
        <p:spPr>
          <a:xfrm>
            <a:off x="228600" y="932688"/>
            <a:ext cx="3291840" cy="420624"/>
          </a:xfrm>
          <a:prstGeom prst="rect">
            <a:avLst/>
          </a:prstGeom>
          <a:solidFill>
            <a:srgbClr val="0F3460"/>
          </a:solidFill>
          <a:ln w="12700">
            <a:solidFill>
              <a:srgbClr val="0F3460"/>
            </a:solidFill>
            <a:prstDash val="solid"/>
          </a:ln>
        </p:spPr>
      </p:sp>
      <p:sp>
        <p:nvSpPr>
          <p:cNvPr id="8" name="Text 6"/>
          <p:cNvSpPr/>
          <p:nvPr/>
        </p:nvSpPr>
        <p:spPr>
          <a:xfrm>
            <a:off x="228600" y="932688"/>
            <a:ext cx="3291840" cy="420624"/>
          </a:xfrm>
          <a:prstGeom prst="rect">
            <a:avLst/>
          </a:prstGeom>
          <a:noFill/>
          <a:ln/>
        </p:spPr>
        <p:txBody>
          <a:bodyPr wrap="square" rtlCol="0" anchor="ctr"/>
          <a:lstStyle/>
          <a:p>
            <a:pPr algn="ctr" indent="0" marL="0">
              <a:buNone/>
            </a:pPr>
            <a:r>
              <a:rPr lang="en-US" sz="1700" b="1" dirty="0">
                <a:solidFill>
                  <a:srgbClr val="E8C85A"/>
                </a:solidFill>
                <a:latin typeface="Trebuchet MS" pitchFamily="34" charset="0"/>
                <a:ea typeface="Trebuchet MS" pitchFamily="34" charset="-122"/>
                <a:cs typeface="Trebuchet MS" pitchFamily="34" charset="-120"/>
              </a:rPr>
              <a:t>🇱🇻  2021</a:t>
            </a:r>
            <a:endParaRPr lang="en-US" sz="1700" dirty="0"/>
          </a:p>
        </p:txBody>
      </p:sp>
      <p:sp>
        <p:nvSpPr>
          <p:cNvPr id="9" name="Text 7"/>
          <p:cNvSpPr/>
          <p:nvPr/>
        </p:nvSpPr>
        <p:spPr>
          <a:xfrm>
            <a:off x="22860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RIGA</a:t>
            </a:r>
            <a:endParaRPr lang="en-US" sz="1500" dirty="0"/>
          </a:p>
        </p:txBody>
      </p:sp>
      <p:sp>
        <p:nvSpPr>
          <p:cNvPr id="10" name="Shape 8"/>
          <p:cNvSpPr/>
          <p:nvPr/>
        </p:nvSpPr>
        <p:spPr>
          <a:xfrm>
            <a:off x="365760" y="1810512"/>
            <a:ext cx="3017520" cy="22860"/>
          </a:xfrm>
          <a:prstGeom prst="rect">
            <a:avLst/>
          </a:prstGeom>
          <a:solidFill>
            <a:srgbClr val="E8C85A"/>
          </a:solidFill>
          <a:ln w="12700">
            <a:solidFill>
              <a:srgbClr val="E8C85A"/>
            </a:solidFill>
            <a:prstDash val="solid"/>
          </a:ln>
        </p:spPr>
      </p:sp>
      <p:sp>
        <p:nvSpPr>
          <p:cNvPr id="11" name="Text 9"/>
          <p:cNvSpPr/>
          <p:nvPr/>
        </p:nvSpPr>
        <p:spPr>
          <a:xfrm>
            <a:off x="32004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Bier: €0,80 — ewiger Rekord</a:t>
            </a:r>
            <a:endParaRPr lang="en-US" sz="950" dirty="0"/>
          </a:p>
        </p:txBody>
      </p:sp>
      <p:sp>
        <p:nvSpPr>
          <p:cNvPr id="12" name="Text 10"/>
          <p:cNvSpPr/>
          <p:nvPr/>
        </p:nvSpPr>
        <p:spPr>
          <a:xfrm>
            <a:off x="32004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Clubs bis 7 Uhr morgens</a:t>
            </a:r>
            <a:endParaRPr lang="en-US" sz="950" dirty="0"/>
          </a:p>
        </p:txBody>
      </p:sp>
      <p:sp>
        <p:nvSpPr>
          <p:cNvPr id="13" name="Text 11"/>
          <p:cNvSpPr/>
          <p:nvPr/>
        </p:nvSpPr>
        <p:spPr>
          <a:xfrm>
            <a:off x="320040" y="2871216"/>
            <a:ext cx="3108960" cy="475488"/>
          </a:xfrm>
          <a:prstGeom prst="rect">
            <a:avLst/>
          </a:prstGeom>
          <a:noFill/>
          <a:ln/>
        </p:spPr>
        <p:txBody>
          <a:bodyPr wrap="square" rtlCol="0" anchor="t"/>
          <a:lstStyle/>
          <a:p>
            <a:pPr indent="0" marL="0">
              <a:buNone/>
            </a:pPr>
            <a:r>
              <a:rPr lang="en-US" sz="950" b="1" dirty="0">
                <a:solidFill>
                  <a:srgbClr val="E8C85A"/>
                </a:solidFill>
                <a:latin typeface="Calibri" pitchFamily="34" charset="0"/>
                <a:ea typeface="Calibri" pitchFamily="34" charset="-122"/>
                <a:cs typeface="Calibri" pitchFamily="34" charset="-120"/>
              </a:rPr>
              <a:t>🏆 Günstigster Trip aller Zeiten</a:t>
            </a:r>
            <a:endParaRPr lang="en-US" sz="950" dirty="0"/>
          </a:p>
        </p:txBody>
      </p:sp>
      <p:sp>
        <p:nvSpPr>
          <p:cNvPr id="14" name="Shape 12"/>
          <p:cNvSpPr/>
          <p:nvPr/>
        </p:nvSpPr>
        <p:spPr>
          <a:xfrm>
            <a:off x="3703320" y="932688"/>
            <a:ext cx="3291840" cy="2578608"/>
          </a:xfrm>
          <a:prstGeom prst="rect">
            <a:avLst/>
          </a:prstGeom>
          <a:solidFill>
            <a:srgbClr val="16213E"/>
          </a:solidFill>
          <a:ln w="12700">
            <a:solidFill>
              <a:srgbClr val="5A8FE8"/>
            </a:solidFill>
            <a:prstDash val="solid"/>
          </a:ln>
        </p:spPr>
      </p:sp>
      <p:sp>
        <p:nvSpPr>
          <p:cNvPr id="15" name="Shape 13"/>
          <p:cNvSpPr/>
          <p:nvPr/>
        </p:nvSpPr>
        <p:spPr>
          <a:xfrm>
            <a:off x="3703320" y="932688"/>
            <a:ext cx="3291840" cy="420624"/>
          </a:xfrm>
          <a:prstGeom prst="rect">
            <a:avLst/>
          </a:prstGeom>
          <a:solidFill>
            <a:srgbClr val="0F3460"/>
          </a:solidFill>
          <a:ln w="12700">
            <a:solidFill>
              <a:srgbClr val="0F3460"/>
            </a:solidFill>
            <a:prstDash val="solid"/>
          </a:ln>
        </p:spPr>
      </p:sp>
      <p:sp>
        <p:nvSpPr>
          <p:cNvPr id="16" name="Text 14"/>
          <p:cNvSpPr/>
          <p:nvPr/>
        </p:nvSpPr>
        <p:spPr>
          <a:xfrm>
            <a:off x="3703320" y="932688"/>
            <a:ext cx="3291840" cy="420624"/>
          </a:xfrm>
          <a:prstGeom prst="rect">
            <a:avLst/>
          </a:prstGeom>
          <a:noFill/>
          <a:ln/>
        </p:spPr>
        <p:txBody>
          <a:bodyPr wrap="square" rtlCol="0" anchor="ctr"/>
          <a:lstStyle/>
          <a:p>
            <a:pPr algn="ctr" indent="0" marL="0">
              <a:buNone/>
            </a:pPr>
            <a:r>
              <a:rPr lang="en-US" sz="1700" b="1" dirty="0">
                <a:solidFill>
                  <a:srgbClr val="5A8FE8"/>
                </a:solidFill>
                <a:latin typeface="Trebuchet MS" pitchFamily="34" charset="0"/>
                <a:ea typeface="Trebuchet MS" pitchFamily="34" charset="-122"/>
                <a:cs typeface="Trebuchet MS" pitchFamily="34" charset="-120"/>
              </a:rPr>
              <a:t>🇬🇷  2022</a:t>
            </a:r>
            <a:endParaRPr lang="en-US" sz="1700" dirty="0"/>
          </a:p>
        </p:txBody>
      </p:sp>
      <p:sp>
        <p:nvSpPr>
          <p:cNvPr id="17" name="Text 15"/>
          <p:cNvSpPr/>
          <p:nvPr/>
        </p:nvSpPr>
        <p:spPr>
          <a:xfrm>
            <a:off x="370332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ATHEN</a:t>
            </a:r>
            <a:endParaRPr lang="en-US" sz="1500" dirty="0"/>
          </a:p>
        </p:txBody>
      </p:sp>
      <p:sp>
        <p:nvSpPr>
          <p:cNvPr id="18" name="Shape 16"/>
          <p:cNvSpPr/>
          <p:nvPr/>
        </p:nvSpPr>
        <p:spPr>
          <a:xfrm>
            <a:off x="3840480" y="1810512"/>
            <a:ext cx="3017520" cy="22860"/>
          </a:xfrm>
          <a:prstGeom prst="rect">
            <a:avLst/>
          </a:prstGeom>
          <a:solidFill>
            <a:srgbClr val="5A8FE8"/>
          </a:solidFill>
          <a:ln w="12700">
            <a:solidFill>
              <a:srgbClr val="5A8FE8"/>
            </a:solidFill>
            <a:prstDash val="solid"/>
          </a:ln>
        </p:spPr>
      </p:sp>
      <p:sp>
        <p:nvSpPr>
          <p:cNvPr id="19" name="Text 17"/>
          <p:cNvSpPr/>
          <p:nvPr/>
        </p:nvSpPr>
        <p:spPr>
          <a:xfrm>
            <a:off x="379476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Dachbar mit Akropolis-Blick</a:t>
            </a:r>
            <a:endParaRPr lang="en-US" sz="950" dirty="0"/>
          </a:p>
        </p:txBody>
      </p:sp>
      <p:sp>
        <p:nvSpPr>
          <p:cNvPr id="20" name="Text 18"/>
          <p:cNvSpPr/>
          <p:nvPr/>
        </p:nvSpPr>
        <p:spPr>
          <a:xfrm>
            <a:off x="379476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Ouzo-Entscheidung: bereut</a:t>
            </a:r>
            <a:endParaRPr lang="en-US" sz="950" dirty="0"/>
          </a:p>
        </p:txBody>
      </p:sp>
      <p:sp>
        <p:nvSpPr>
          <p:cNvPr id="21" name="Text 19"/>
          <p:cNvSpPr/>
          <p:nvPr/>
        </p:nvSpPr>
        <p:spPr>
          <a:xfrm>
            <a:off x="3794760" y="2871216"/>
            <a:ext cx="3108960" cy="475488"/>
          </a:xfrm>
          <a:prstGeom prst="rect">
            <a:avLst/>
          </a:prstGeom>
          <a:noFill/>
          <a:ln/>
        </p:spPr>
        <p:txBody>
          <a:bodyPr wrap="square" rtlCol="0" anchor="t"/>
          <a:lstStyle/>
          <a:p>
            <a:pPr indent="0" marL="0">
              <a:buNone/>
            </a:pPr>
            <a:r>
              <a:rPr lang="en-US" sz="950" b="1" dirty="0">
                <a:solidFill>
                  <a:srgbClr val="5A8FE8"/>
                </a:solidFill>
                <a:latin typeface="Calibri" pitchFamily="34" charset="0"/>
                <a:ea typeface="Calibri" pitchFamily="34" charset="-122"/>
                <a:cs typeface="Calibri" pitchFamily="34" charset="-120"/>
              </a:rPr>
              <a:t>🏆 Wärmster Trip bisher</a:t>
            </a:r>
            <a:endParaRPr lang="en-US" sz="950" dirty="0"/>
          </a:p>
        </p:txBody>
      </p:sp>
      <p:sp>
        <p:nvSpPr>
          <p:cNvPr id="22" name="Shape 20"/>
          <p:cNvSpPr/>
          <p:nvPr/>
        </p:nvSpPr>
        <p:spPr>
          <a:xfrm>
            <a:off x="228600" y="3675888"/>
            <a:ext cx="3291840" cy="2578608"/>
          </a:xfrm>
          <a:prstGeom prst="rect">
            <a:avLst/>
          </a:prstGeom>
          <a:solidFill>
            <a:srgbClr val="16213E"/>
          </a:solidFill>
          <a:ln w="12700">
            <a:solidFill>
              <a:srgbClr val="E85A5A"/>
            </a:solidFill>
            <a:prstDash val="solid"/>
          </a:ln>
        </p:spPr>
      </p:sp>
      <p:sp>
        <p:nvSpPr>
          <p:cNvPr id="23" name="Shape 21"/>
          <p:cNvSpPr/>
          <p:nvPr/>
        </p:nvSpPr>
        <p:spPr>
          <a:xfrm>
            <a:off x="228600" y="3675888"/>
            <a:ext cx="3291840" cy="420624"/>
          </a:xfrm>
          <a:prstGeom prst="rect">
            <a:avLst/>
          </a:prstGeom>
          <a:solidFill>
            <a:srgbClr val="0F3460"/>
          </a:solidFill>
          <a:ln w="12700">
            <a:solidFill>
              <a:srgbClr val="0F3460"/>
            </a:solidFill>
            <a:prstDash val="solid"/>
          </a:ln>
        </p:spPr>
      </p:sp>
      <p:sp>
        <p:nvSpPr>
          <p:cNvPr id="24" name="Text 22"/>
          <p:cNvSpPr/>
          <p:nvPr/>
        </p:nvSpPr>
        <p:spPr>
          <a:xfrm>
            <a:off x="228600" y="3675888"/>
            <a:ext cx="3291840" cy="420624"/>
          </a:xfrm>
          <a:prstGeom prst="rect">
            <a:avLst/>
          </a:prstGeom>
          <a:noFill/>
          <a:ln/>
        </p:spPr>
        <p:txBody>
          <a:bodyPr wrap="square" rtlCol="0" anchor="ctr"/>
          <a:lstStyle/>
          <a:p>
            <a:pPr algn="ctr" indent="0" marL="0">
              <a:buNone/>
            </a:pPr>
            <a:r>
              <a:rPr lang="en-US" sz="1700" b="1" dirty="0">
                <a:solidFill>
                  <a:srgbClr val="E85A5A"/>
                </a:solidFill>
                <a:latin typeface="Trebuchet MS" pitchFamily="34" charset="0"/>
                <a:ea typeface="Trebuchet MS" pitchFamily="34" charset="-122"/>
                <a:cs typeface="Trebuchet MS" pitchFamily="34" charset="-120"/>
              </a:rPr>
              <a:t>🇦🇱  2023</a:t>
            </a:r>
            <a:endParaRPr lang="en-US" sz="1700" dirty="0"/>
          </a:p>
        </p:txBody>
      </p:sp>
      <p:sp>
        <p:nvSpPr>
          <p:cNvPr id="25" name="Text 23"/>
          <p:cNvSpPr/>
          <p:nvPr/>
        </p:nvSpPr>
        <p:spPr>
          <a:xfrm>
            <a:off x="22860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TIRANA</a:t>
            </a:r>
            <a:endParaRPr lang="en-US" sz="1500" dirty="0"/>
          </a:p>
        </p:txBody>
      </p:sp>
      <p:sp>
        <p:nvSpPr>
          <p:cNvPr id="26" name="Shape 24"/>
          <p:cNvSpPr/>
          <p:nvPr/>
        </p:nvSpPr>
        <p:spPr>
          <a:xfrm>
            <a:off x="365760" y="4553712"/>
            <a:ext cx="3017520" cy="22860"/>
          </a:xfrm>
          <a:prstGeom prst="rect">
            <a:avLst/>
          </a:prstGeom>
          <a:solidFill>
            <a:srgbClr val="E85A5A"/>
          </a:solidFill>
          <a:ln w="12700">
            <a:solidFill>
              <a:srgbClr val="E85A5A"/>
            </a:solidFill>
            <a:prstDash val="solid"/>
          </a:ln>
        </p:spPr>
      </p:sp>
      <p:sp>
        <p:nvSpPr>
          <p:cNvPr id="27" name="Text 25"/>
          <p:cNvSpPr/>
          <p:nvPr/>
        </p:nvSpPr>
        <p:spPr>
          <a:xfrm>
            <a:off x="32004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Bestes Essen: unerwartet gut</a:t>
            </a:r>
            <a:endParaRPr lang="en-US" sz="950" dirty="0"/>
          </a:p>
        </p:txBody>
      </p:sp>
      <p:sp>
        <p:nvSpPr>
          <p:cNvPr id="28" name="Text 26"/>
          <p:cNvSpPr/>
          <p:nvPr/>
        </p:nvSpPr>
        <p:spPr>
          <a:xfrm>
            <a:off x="32004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Barkeeper wurde Freund</a:t>
            </a:r>
            <a:endParaRPr lang="en-US" sz="950" dirty="0"/>
          </a:p>
        </p:txBody>
      </p:sp>
      <p:sp>
        <p:nvSpPr>
          <p:cNvPr id="29" name="Text 27"/>
          <p:cNvSpPr/>
          <p:nvPr/>
        </p:nvSpPr>
        <p:spPr>
          <a:xfrm>
            <a:off x="320040" y="5614416"/>
            <a:ext cx="3108960" cy="475488"/>
          </a:xfrm>
          <a:prstGeom prst="rect">
            <a:avLst/>
          </a:prstGeom>
          <a:noFill/>
          <a:ln/>
        </p:spPr>
        <p:txBody>
          <a:bodyPr wrap="square" rtlCol="0" anchor="t"/>
          <a:lstStyle/>
          <a:p>
            <a:pPr indent="0" marL="0">
              <a:buNone/>
            </a:pPr>
            <a:r>
              <a:rPr lang="en-US" sz="950" b="1" dirty="0">
                <a:solidFill>
                  <a:srgbClr val="E85A5A"/>
                </a:solidFill>
                <a:latin typeface="Calibri" pitchFamily="34" charset="0"/>
                <a:ea typeface="Calibri" pitchFamily="34" charset="-122"/>
                <a:cs typeface="Calibri" pitchFamily="34" charset="-120"/>
              </a:rPr>
              <a:t>🏆 Geheimtipp des Jahres</a:t>
            </a:r>
            <a:endParaRPr lang="en-US" sz="950" dirty="0"/>
          </a:p>
        </p:txBody>
      </p:sp>
      <p:sp>
        <p:nvSpPr>
          <p:cNvPr id="30" name="Shape 28"/>
          <p:cNvSpPr/>
          <p:nvPr/>
        </p:nvSpPr>
        <p:spPr>
          <a:xfrm>
            <a:off x="3703320" y="3675888"/>
            <a:ext cx="3291840" cy="2578608"/>
          </a:xfrm>
          <a:prstGeom prst="rect">
            <a:avLst/>
          </a:prstGeom>
          <a:solidFill>
            <a:srgbClr val="16213E"/>
          </a:solidFill>
          <a:ln w="12700">
            <a:solidFill>
              <a:srgbClr val="A55AE8"/>
            </a:solidFill>
            <a:prstDash val="solid"/>
          </a:ln>
        </p:spPr>
      </p:sp>
      <p:sp>
        <p:nvSpPr>
          <p:cNvPr id="31" name="Shape 29"/>
          <p:cNvSpPr/>
          <p:nvPr/>
        </p:nvSpPr>
        <p:spPr>
          <a:xfrm>
            <a:off x="3703320" y="3675888"/>
            <a:ext cx="3291840" cy="420624"/>
          </a:xfrm>
          <a:prstGeom prst="rect">
            <a:avLst/>
          </a:prstGeom>
          <a:solidFill>
            <a:srgbClr val="0F3460"/>
          </a:solidFill>
          <a:ln w="12700">
            <a:solidFill>
              <a:srgbClr val="0F3460"/>
            </a:solidFill>
            <a:prstDash val="solid"/>
          </a:ln>
        </p:spPr>
      </p:sp>
      <p:sp>
        <p:nvSpPr>
          <p:cNvPr id="32" name="Text 30"/>
          <p:cNvSpPr/>
          <p:nvPr/>
        </p:nvSpPr>
        <p:spPr>
          <a:xfrm>
            <a:off x="3703320" y="3675888"/>
            <a:ext cx="3291840" cy="420624"/>
          </a:xfrm>
          <a:prstGeom prst="rect">
            <a:avLst/>
          </a:prstGeom>
          <a:noFill/>
          <a:ln/>
        </p:spPr>
        <p:txBody>
          <a:bodyPr wrap="square" rtlCol="0" anchor="ctr"/>
          <a:lstStyle/>
          <a:p>
            <a:pPr algn="ctr" indent="0" marL="0">
              <a:buNone/>
            </a:pPr>
            <a:r>
              <a:rPr lang="en-US" sz="1700" b="1" dirty="0">
                <a:solidFill>
                  <a:srgbClr val="A55AE8"/>
                </a:solidFill>
                <a:latin typeface="Trebuchet MS" pitchFamily="34" charset="0"/>
                <a:ea typeface="Trebuchet MS" pitchFamily="34" charset="-122"/>
                <a:cs typeface="Trebuchet MS" pitchFamily="34" charset="-120"/>
              </a:rPr>
              <a:t>🇷🇸  2024</a:t>
            </a:r>
            <a:endParaRPr lang="en-US" sz="1700" dirty="0"/>
          </a:p>
        </p:txBody>
      </p:sp>
      <p:sp>
        <p:nvSpPr>
          <p:cNvPr id="33" name="Text 31"/>
          <p:cNvSpPr/>
          <p:nvPr/>
        </p:nvSpPr>
        <p:spPr>
          <a:xfrm>
            <a:off x="370332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BELGRAD</a:t>
            </a:r>
            <a:endParaRPr lang="en-US" sz="1500" dirty="0"/>
          </a:p>
        </p:txBody>
      </p:sp>
      <p:sp>
        <p:nvSpPr>
          <p:cNvPr id="34" name="Shape 32"/>
          <p:cNvSpPr/>
          <p:nvPr/>
        </p:nvSpPr>
        <p:spPr>
          <a:xfrm>
            <a:off x="3840480" y="4553712"/>
            <a:ext cx="3017520" cy="22860"/>
          </a:xfrm>
          <a:prstGeom prst="rect">
            <a:avLst/>
          </a:prstGeom>
          <a:solidFill>
            <a:srgbClr val="A55AE8"/>
          </a:solidFill>
          <a:ln w="12700">
            <a:solidFill>
              <a:srgbClr val="A55AE8"/>
            </a:solidFill>
            <a:prstDash val="solid"/>
          </a:ln>
        </p:spPr>
      </p:sp>
      <p:sp>
        <p:nvSpPr>
          <p:cNvPr id="35" name="Text 33"/>
          <p:cNvSpPr/>
          <p:nvPr/>
        </p:nvSpPr>
        <p:spPr>
          <a:xfrm>
            <a:off x="379476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Splavovi-Clubs am Fluss</a:t>
            </a:r>
            <a:endParaRPr lang="en-US" sz="950" dirty="0"/>
          </a:p>
        </p:txBody>
      </p:sp>
      <p:sp>
        <p:nvSpPr>
          <p:cNvPr id="36" name="Text 34"/>
          <p:cNvSpPr/>
          <p:nvPr/>
        </p:nvSpPr>
        <p:spPr>
          <a:xfrm>
            <a:off x="379476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Heimkehr beim Sonnenaufgang</a:t>
            </a:r>
            <a:endParaRPr lang="en-US" sz="950" dirty="0"/>
          </a:p>
        </p:txBody>
      </p:sp>
      <p:sp>
        <p:nvSpPr>
          <p:cNvPr id="37" name="Text 35"/>
          <p:cNvSpPr/>
          <p:nvPr/>
        </p:nvSpPr>
        <p:spPr>
          <a:xfrm>
            <a:off x="3794760" y="5614416"/>
            <a:ext cx="3108960" cy="475488"/>
          </a:xfrm>
          <a:prstGeom prst="rect">
            <a:avLst/>
          </a:prstGeom>
          <a:noFill/>
          <a:ln/>
        </p:spPr>
        <p:txBody>
          <a:bodyPr wrap="square" rtlCol="0" anchor="t"/>
          <a:lstStyle/>
          <a:p>
            <a:pPr indent="0" marL="0">
              <a:buNone/>
            </a:pPr>
            <a:r>
              <a:rPr lang="en-US" sz="950" b="1" dirty="0">
                <a:solidFill>
                  <a:srgbClr val="A55AE8"/>
                </a:solidFill>
                <a:latin typeface="Calibri" pitchFamily="34" charset="0"/>
                <a:ea typeface="Calibri" pitchFamily="34" charset="-122"/>
                <a:cs typeface="Calibri" pitchFamily="34" charset="-120"/>
              </a:rPr>
              <a:t>🏆 Wildeste Nacht aller Zeiten</a:t>
            </a:r>
            <a:endParaRPr lang="en-US" sz="950" dirty="0"/>
          </a:p>
        </p:txBody>
      </p:sp>
      <p:sp>
        <p:nvSpPr>
          <p:cNvPr id="38" name="Shape 36"/>
          <p:cNvSpPr/>
          <p:nvPr/>
        </p:nvSpPr>
        <p:spPr>
          <a:xfrm>
            <a:off x="7223760" y="914400"/>
            <a:ext cx="4709160" cy="5742432"/>
          </a:xfrm>
          <a:prstGeom prst="rect">
            <a:avLst/>
          </a:prstGeom>
          <a:solidFill>
            <a:srgbClr val="0F3460"/>
          </a:solidFill>
          <a:ln w="12700">
            <a:solidFill>
              <a:srgbClr val="FF8C00"/>
            </a:solidFill>
            <a:prstDash val="solid"/>
          </a:ln>
        </p:spPr>
      </p:sp>
      <p:sp>
        <p:nvSpPr>
          <p:cNvPr id="39" name="Shape 37"/>
          <p:cNvSpPr/>
          <p:nvPr/>
        </p:nvSpPr>
        <p:spPr>
          <a:xfrm>
            <a:off x="7223760" y="914400"/>
            <a:ext cx="4709160" cy="548640"/>
          </a:xfrm>
          <a:prstGeom prst="rect">
            <a:avLst/>
          </a:prstGeom>
          <a:solidFill>
            <a:srgbClr val="FF8C00"/>
          </a:solidFill>
          <a:ln w="12700">
            <a:solidFill>
              <a:srgbClr val="FF8C00"/>
            </a:solidFill>
            <a:prstDash val="solid"/>
          </a:ln>
        </p:spPr>
      </p:sp>
      <p:sp>
        <p:nvSpPr>
          <p:cNvPr id="40" name="Text 38"/>
          <p:cNvSpPr/>
          <p:nvPr/>
        </p:nvSpPr>
        <p:spPr>
          <a:xfrm>
            <a:off x="7223760" y="914400"/>
            <a:ext cx="4709160" cy="548640"/>
          </a:xfrm>
          <a:prstGeom prst="rect">
            <a:avLst/>
          </a:prstGeom>
          <a:noFill/>
          <a:ln/>
        </p:spPr>
        <p:txBody>
          <a:bodyPr wrap="square" rtlCol="0" anchor="ctr"/>
          <a:lstStyle/>
          <a:p>
            <a:pPr algn="ctr" indent="0" marL="0">
              <a:buNone/>
            </a:pPr>
            <a:r>
              <a:rPr lang="en-US" sz="1600" b="1" dirty="0">
                <a:solidFill>
                  <a:srgbClr val="1A1A2E"/>
                </a:solidFill>
                <a:latin typeface="Trebuchet MS" pitchFamily="34" charset="0"/>
                <a:ea typeface="Trebuchet MS" pitchFamily="34" charset="-122"/>
                <a:cs typeface="Trebuchet MS" pitchFamily="34" charset="-120"/>
              </a:rPr>
              <a:t>2025  ·  NEXT STOP</a:t>
            </a:r>
            <a:endParaRPr lang="en-US" sz="1600" dirty="0"/>
          </a:p>
        </p:txBody>
      </p:sp>
      <p:sp>
        <p:nvSpPr>
          <p:cNvPr id="41" name="Text 39"/>
          <p:cNvSpPr/>
          <p:nvPr/>
        </p:nvSpPr>
        <p:spPr>
          <a:xfrm>
            <a:off x="7223760" y="1536192"/>
            <a:ext cx="4709160" cy="640080"/>
          </a:xfrm>
          <a:prstGeom prst="rect">
            <a:avLst/>
          </a:prstGeom>
          <a:noFill/>
          <a:ln/>
        </p:spPr>
        <p:txBody>
          <a:bodyPr wrap="square" rtlCol="0" anchor="ctr"/>
          <a:lstStyle/>
          <a:p>
            <a:pPr algn="ctr" indent="0" marL="0">
              <a:buNone/>
            </a:pPr>
            <a:r>
              <a:rPr lang="en-US" sz="4400" dirty="0">
                <a:solidFill>
                  <a:srgbClr val="000000"/>
                </a:solidFill>
                <a:latin typeface="Segoe UI Emoji" pitchFamily="34" charset="0"/>
                <a:ea typeface="Segoe UI Emoji" pitchFamily="34" charset="-122"/>
                <a:cs typeface="Segoe UI Emoji" pitchFamily="34" charset="-120"/>
              </a:rPr>
              <a:t>🎃</a:t>
            </a:r>
            <a:endParaRPr lang="en-US" sz="4400" dirty="0"/>
          </a:p>
        </p:txBody>
      </p:sp>
      <p:sp>
        <p:nvSpPr>
          <p:cNvPr id="42" name="Text 40"/>
          <p:cNvSpPr/>
          <p:nvPr/>
        </p:nvSpPr>
        <p:spPr>
          <a:xfrm>
            <a:off x="7360920" y="2249424"/>
            <a:ext cx="4434840" cy="402336"/>
          </a:xfrm>
          <a:prstGeom prst="rect">
            <a:avLst/>
          </a:prstGeom>
          <a:noFill/>
          <a:ln/>
        </p:spPr>
        <p:txBody>
          <a:bodyPr wrap="square" rtlCol="0" anchor="ctr"/>
          <a:lstStyle/>
          <a:p>
            <a:pPr algn="ctr" indent="0" marL="0">
              <a:buNone/>
            </a:pPr>
            <a:r>
              <a:rPr lang="en-US" sz="1200" b="1" dirty="0">
                <a:solidFill>
                  <a:srgbClr val="FFC107"/>
                </a:solidFill>
                <a:latin typeface="Trebuchet MS" pitchFamily="34" charset="0"/>
                <a:ea typeface="Trebuchet MS" pitchFamily="34" charset="-122"/>
                <a:cs typeface="Trebuchet MS" pitchFamily="34" charset="-120"/>
              </a:rPr>
              <a:t>TRIP #5 — DIE WAHL IST GEFALLEN</a:t>
            </a:r>
            <a:endParaRPr lang="en-US" sz="1200" dirty="0"/>
          </a:p>
        </p:txBody>
      </p:sp>
      <p:sp>
        <p:nvSpPr>
          <p:cNvPr id="43" name="Shape 41"/>
          <p:cNvSpPr/>
          <p:nvPr/>
        </p:nvSpPr>
        <p:spPr>
          <a:xfrm>
            <a:off x="7406640" y="2761488"/>
            <a:ext cx="4343400" cy="530352"/>
          </a:xfrm>
          <a:prstGeom prst="rect">
            <a:avLst/>
          </a:prstGeom>
          <a:solidFill>
            <a:srgbClr val="16213E"/>
          </a:solidFill>
          <a:ln w="12700">
            <a:solidFill>
              <a:srgbClr val="FF8C00"/>
            </a:solidFill>
            <a:prstDash val="solid"/>
          </a:ln>
        </p:spPr>
      </p:sp>
      <p:sp>
        <p:nvSpPr>
          <p:cNvPr id="44" name="Text 42"/>
          <p:cNvSpPr/>
          <p:nvPr/>
        </p:nvSpPr>
        <p:spPr>
          <a:xfrm>
            <a:off x="7406640" y="2761488"/>
            <a:ext cx="4343400" cy="530352"/>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45" name="Text 43"/>
          <p:cNvSpPr/>
          <p:nvPr/>
        </p:nvSpPr>
        <p:spPr>
          <a:xfrm>
            <a:off x="7406640" y="3328416"/>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Nightlife-Hauptstadt</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des Atlantiks · 17–22°C</a:t>
            </a:r>
            <a:endParaRPr lang="en-US" sz="950" dirty="0"/>
          </a:p>
        </p:txBody>
      </p:sp>
      <p:sp>
        <p:nvSpPr>
          <p:cNvPr id="46" name="Shape 44"/>
          <p:cNvSpPr/>
          <p:nvPr/>
        </p:nvSpPr>
        <p:spPr>
          <a:xfrm>
            <a:off x="7406640" y="4023360"/>
            <a:ext cx="4343400" cy="530352"/>
          </a:xfrm>
          <a:prstGeom prst="rect">
            <a:avLst/>
          </a:prstGeom>
          <a:solidFill>
            <a:srgbClr val="16213E"/>
          </a:solidFill>
          <a:ln w="12700">
            <a:solidFill>
              <a:srgbClr val="1EB4C8"/>
            </a:solidFill>
            <a:prstDash val="solid"/>
          </a:ln>
        </p:spPr>
      </p:sp>
      <p:sp>
        <p:nvSpPr>
          <p:cNvPr id="47" name="Text 45"/>
          <p:cNvSpPr/>
          <p:nvPr/>
        </p:nvSpPr>
        <p:spPr>
          <a:xfrm>
            <a:off x="7406640" y="4023360"/>
            <a:ext cx="4343400" cy="530352"/>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48" name="Text 46"/>
          <p:cNvSpPr/>
          <p:nvPr/>
        </p:nvSpPr>
        <p:spPr>
          <a:xfrm>
            <a:off x="7406640" y="4590288"/>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Wärmstes Ziel · Blaue</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Lagune · 22–24°C</a:t>
            </a:r>
            <a:endParaRPr lang="en-US" sz="950" dirty="0"/>
          </a:p>
        </p:txBody>
      </p:sp>
      <p:sp>
        <p:nvSpPr>
          <p:cNvPr id="49" name="Shape 47"/>
          <p:cNvSpPr/>
          <p:nvPr/>
        </p:nvSpPr>
        <p:spPr>
          <a:xfrm>
            <a:off x="7360920" y="5431536"/>
            <a:ext cx="4434840" cy="22860"/>
          </a:xfrm>
          <a:prstGeom prst="rect">
            <a:avLst/>
          </a:prstGeom>
          <a:solidFill>
            <a:srgbClr val="FF8C00"/>
          </a:solidFill>
          <a:ln w="12700">
            <a:solidFill>
              <a:srgbClr val="FF8C00"/>
            </a:solidFill>
            <a:prstDash val="solid"/>
          </a:ln>
        </p:spPr>
      </p:sp>
      <p:sp>
        <p:nvSpPr>
          <p:cNvPr id="50" name="Text 48"/>
          <p:cNvSpPr/>
          <p:nvPr/>
        </p:nvSpPr>
        <p:spPr>
          <a:xfrm>
            <a:off x="7315200" y="5486400"/>
            <a:ext cx="4526280" cy="438912"/>
          </a:xfrm>
          <a:prstGeom prst="rect">
            <a:avLst/>
          </a:prstGeom>
          <a:noFill/>
          <a:ln/>
        </p:spPr>
        <p:txBody>
          <a:bodyPr wrap="square" rtlCol="0" anchor="ctr"/>
          <a:lstStyle/>
          <a:p>
            <a:pPr algn="ctr" indent="0" marL="0">
              <a:buNone/>
            </a:pPr>
            <a:r>
              <a:rPr lang="en-US" sz="950" b="1" dirty="0">
                <a:solidFill>
                  <a:srgbClr val="FF8C00"/>
                </a:solidFill>
                <a:latin typeface="Calibri" pitchFamily="34" charset="0"/>
                <a:ea typeface="Calibri" pitchFamily="34" charset="-122"/>
                <a:cs typeface="Calibri" pitchFamily="34" charset="-120"/>
              </a:rPr>
              <a:t>🎃  31. Oktober 2025 = FREITAG</a:t>
            </a:r>
            <a:endParaRPr lang="en-US" sz="950" dirty="0"/>
          </a:p>
        </p:txBody>
      </p:sp>
      <p:sp>
        <p:nvSpPr>
          <p:cNvPr id="51" name="Text 49"/>
          <p:cNvSpPr/>
          <p:nvPr/>
        </p:nvSpPr>
        <p:spPr>
          <a:xfrm>
            <a:off x="7315200" y="5961888"/>
            <a:ext cx="4526280" cy="438912"/>
          </a:xfrm>
          <a:prstGeom prst="rect">
            <a:avLst/>
          </a:prstGeom>
          <a:noFill/>
          <a:ln/>
        </p:spPr>
        <p:txBody>
          <a:bodyPr wrap="square" rtlCol="0" anchor="ctr"/>
          <a:lstStyle/>
          <a:p>
            <a:pPr algn="ctr" indent="0" marL="0">
              <a:buNone/>
            </a:pPr>
            <a:r>
              <a:rPr lang="en-US" sz="950" i="1" dirty="0">
                <a:solidFill>
                  <a:srgbClr val="9CA3AF"/>
                </a:solidFill>
                <a:latin typeface="Calibri" pitchFamily="34" charset="0"/>
                <a:ea typeface="Calibri" pitchFamily="34" charset="-122"/>
                <a:cs typeface="Calibri" pitchFamily="34" charset="-120"/>
              </a:rPr>
              <a:t>Jeder Trip unvergessen — Trip 5 wird der Beste</a:t>
            </a:r>
            <a:endParaRPr lang="en-US" sz="95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2026-05-28T19:16:34Z</dcterms:created>
  <dcterms:modified xsi:type="dcterms:W3CDTF">2026-05-28T19:16:34Z</dcterms:modified>
</cp:coreProperties>
</file>