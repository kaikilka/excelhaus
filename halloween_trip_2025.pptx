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pic>
        <p:nvPicPr>
          <p:cNvPr id="2" name="Image 0" descr="/home/user/Excelhaus/halloween_trip/title_bg.png">    </p:cNvPr>
          <p:cNvPicPr>
            <a:picLocks noChangeAspect="1"/>
          </p:cNvPicPr>
          <p:nvPr/>
        </p:nvPicPr>
        <p:blipFill>
          <a:blip r:embed="rId1"/>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00000">
              <a:alpha val="58000"/>
            </a:srgbClr>
          </a:solidFill>
          <a:ln w="12700">
            <a:solidFill>
              <a:srgbClr val="000000"/>
            </a:solidFill>
            <a:prstDash val="solid"/>
          </a:ln>
        </p:spPr>
      </p:sp>
      <p:sp>
        <p:nvSpPr>
          <p:cNvPr id="4" name="Shape 1"/>
          <p:cNvSpPr/>
          <p:nvPr/>
        </p:nvSpPr>
        <p:spPr>
          <a:xfrm>
            <a:off x="0" y="0"/>
            <a:ext cx="12192000" cy="91440"/>
          </a:xfrm>
          <a:prstGeom prst="rect">
            <a:avLst/>
          </a:prstGeom>
          <a:solidFill>
            <a:srgbClr val="FF8C00"/>
          </a:solidFill>
          <a:ln w="12700">
            <a:solidFill>
              <a:srgbClr val="FF8C00"/>
            </a:solidFill>
            <a:prstDash val="solid"/>
          </a:ln>
        </p:spPr>
      </p:sp>
      <p:sp>
        <p:nvSpPr>
          <p:cNvPr id="5" name="Text 2"/>
          <p:cNvSpPr/>
          <p:nvPr/>
        </p:nvSpPr>
        <p:spPr>
          <a:xfrm>
            <a:off x="0" y="594360"/>
            <a:ext cx="12192000" cy="914400"/>
          </a:xfrm>
          <a:prstGeom prst="rect">
            <a:avLst/>
          </a:prstGeom>
          <a:noFill/>
          <a:ln/>
        </p:spPr>
        <p:txBody>
          <a:bodyPr wrap="square" rtlCol="0" anchor="ctr"/>
          <a:lstStyle/>
          <a:p>
            <a:pPr algn="ctr" indent="0" marL="0">
              <a:buNone/>
            </a:pPr>
            <a:r>
              <a:rPr lang="en-US" sz="7200" dirty="0">
                <a:solidFill>
                  <a:srgbClr val="000000"/>
                </a:solidFill>
                <a:latin typeface="Segoe UI Emoji" pitchFamily="34" charset="0"/>
                <a:ea typeface="Segoe UI Emoji" pitchFamily="34" charset="-122"/>
                <a:cs typeface="Segoe UI Emoji" pitchFamily="34" charset="-120"/>
              </a:rPr>
              <a:t>🎃</a:t>
            </a:r>
            <a:endParaRPr lang="en-US" sz="7200" dirty="0"/>
          </a:p>
        </p:txBody>
      </p:sp>
      <p:sp>
        <p:nvSpPr>
          <p:cNvPr id="6" name="Text 3"/>
          <p:cNvSpPr/>
          <p:nvPr/>
        </p:nvSpPr>
        <p:spPr>
          <a:xfrm>
            <a:off x="457200" y="1371600"/>
            <a:ext cx="11274552" cy="1097280"/>
          </a:xfrm>
          <a:prstGeom prst="rect">
            <a:avLst/>
          </a:prstGeom>
          <a:noFill/>
          <a:ln/>
        </p:spPr>
        <p:txBody>
          <a:bodyPr wrap="square" rtlCol="0" anchor="ctr"/>
          <a:lstStyle/>
          <a:p>
            <a:pPr algn="ctr" indent="0" marL="0">
              <a:buNone/>
            </a:pPr>
            <a:r>
              <a:rPr lang="en-US" sz="6000" b="1" dirty="0">
                <a:solidFill>
                  <a:srgbClr val="FF8C00"/>
                </a:solidFill>
                <a:latin typeface="Trebuchet MS" pitchFamily="34" charset="0"/>
                <a:ea typeface="Trebuchet MS" pitchFamily="34" charset="-122"/>
                <a:cs typeface="Trebuchet MS" pitchFamily="34" charset="-120"/>
              </a:rPr>
              <a:t>HALLOWEEN-TRIP 2025</a:t>
            </a:r>
            <a:endParaRPr lang="en-US" sz="6000" dirty="0"/>
          </a:p>
        </p:txBody>
      </p:sp>
      <p:sp>
        <p:nvSpPr>
          <p:cNvPr id="7" name="Text 4"/>
          <p:cNvSpPr/>
          <p:nvPr/>
        </p:nvSpPr>
        <p:spPr>
          <a:xfrm>
            <a:off x="457200" y="2542032"/>
            <a:ext cx="11274552" cy="502920"/>
          </a:xfrm>
          <a:prstGeom prst="rect">
            <a:avLst/>
          </a:prstGeom>
          <a:noFill/>
          <a:ln/>
        </p:spPr>
        <p:txBody>
          <a:bodyPr wrap="square" rtlCol="0" anchor="ctr"/>
          <a:lstStyle/>
          <a:p>
            <a:pPr algn="ctr" indent="0" marL="0">
              <a:buNone/>
            </a:pPr>
            <a:r>
              <a:rPr lang="en-US" sz="1900" dirty="0">
                <a:solidFill>
                  <a:srgbClr val="E8E8E8"/>
                </a:solidFill>
                <a:latin typeface="Trebuchet MS" pitchFamily="34" charset="0"/>
                <a:ea typeface="Trebuchet MS" pitchFamily="34" charset="-122"/>
                <a:cs typeface="Trebuchet MS" pitchFamily="34" charset="-120"/>
              </a:rPr>
              <a:t>30. Okt. – 2. Nov.  ·  4 Jungs  ·  Europäische Hauptstadt  ·  Halloween-Nacht</a:t>
            </a:r>
            <a:endParaRPr lang="en-US" sz="1900" dirty="0"/>
          </a:p>
        </p:txBody>
      </p:sp>
      <p:sp>
        <p:nvSpPr>
          <p:cNvPr id="8" name="Shape 5"/>
          <p:cNvSpPr/>
          <p:nvPr/>
        </p:nvSpPr>
        <p:spPr>
          <a:xfrm>
            <a:off x="1828800" y="3246120"/>
            <a:ext cx="8531352" cy="548640"/>
          </a:xfrm>
          <a:prstGeom prst="rect">
            <a:avLst/>
          </a:prstGeom>
          <a:solidFill>
            <a:srgbClr val="16213E">
              <a:alpha val="80000"/>
            </a:srgbClr>
          </a:solidFill>
          <a:ln w="12700">
            <a:solidFill>
              <a:srgbClr val="FF8C00"/>
            </a:solidFill>
            <a:prstDash val="solid"/>
          </a:ln>
        </p:spPr>
      </p:sp>
      <p:sp>
        <p:nvSpPr>
          <p:cNvPr id="9" name="Text 6"/>
          <p:cNvSpPr/>
          <p:nvPr/>
        </p:nvSpPr>
        <p:spPr>
          <a:xfrm>
            <a:off x="1828800" y="3246120"/>
            <a:ext cx="8531352" cy="548640"/>
          </a:xfrm>
          <a:prstGeom prst="rect">
            <a:avLst/>
          </a:prstGeom>
          <a:noFill/>
          <a:ln/>
        </p:spPr>
        <p:txBody>
          <a:bodyPr wrap="square" rtlCol="0" anchor="ctr"/>
          <a:lstStyle/>
          <a:p>
            <a:pPr algn="ctr" indent="0" marL="0">
              <a:buNone/>
            </a:pPr>
            <a:r>
              <a:rPr lang="en-US" sz="1500" dirty="0">
                <a:solidFill>
                  <a:srgbClr val="9CA3AF"/>
                </a:solidFill>
                <a:latin typeface="Calibri" pitchFamily="34" charset="0"/>
                <a:ea typeface="Calibri" pitchFamily="34" charset="-122"/>
                <a:cs typeface="Calibri" pitchFamily="34" charset="-120"/>
              </a:rPr>
              <a:t>Bereits bereist:   ✓ Riga   ✓ Athen   ✓ Tirana   ✓ Belgrad</a:t>
            </a:r>
            <a:endParaRPr lang="en-US" sz="1500" dirty="0"/>
          </a:p>
        </p:txBody>
      </p:sp>
      <p:sp>
        <p:nvSpPr>
          <p:cNvPr id="10" name="Text 7"/>
          <p:cNvSpPr/>
          <p:nvPr/>
        </p:nvSpPr>
        <p:spPr>
          <a:xfrm>
            <a:off x="457200" y="3977640"/>
            <a:ext cx="11274552" cy="594360"/>
          </a:xfrm>
          <a:prstGeom prst="rect">
            <a:avLst/>
          </a:prstGeom>
          <a:noFill/>
          <a:ln/>
        </p:spPr>
        <p:txBody>
          <a:bodyPr wrap="square" rtlCol="0" anchor="ctr"/>
          <a:lstStyle/>
          <a:p>
            <a:pPr algn="ctr" indent="0" marL="0">
              <a:buNone/>
            </a:pPr>
            <a:r>
              <a:rPr lang="en-US" sz="2600" b="1" dirty="0">
                <a:solidFill>
                  <a:srgbClr val="F96167"/>
                </a:solidFill>
                <a:latin typeface="Trebuchet MS" pitchFamily="34" charset="0"/>
                <a:ea typeface="Trebuchet MS" pitchFamily="34" charset="-122"/>
                <a:cs typeface="Trebuchet MS" pitchFamily="34" charset="-120"/>
              </a:rPr>
              <a:t>DIE ZIELE STEHEN FEST — ES GEHT LOS!</a:t>
            </a:r>
            <a:endParaRPr lang="en-US" sz="2600" dirty="0"/>
          </a:p>
        </p:txBody>
      </p:sp>
      <p:sp>
        <p:nvSpPr>
          <p:cNvPr id="11" name="Shape 8"/>
          <p:cNvSpPr/>
          <p:nvPr/>
        </p:nvSpPr>
        <p:spPr>
          <a:xfrm>
            <a:off x="1984248" y="4709160"/>
            <a:ext cx="3840480" cy="685800"/>
          </a:xfrm>
          <a:prstGeom prst="rect">
            <a:avLst/>
          </a:prstGeom>
          <a:solidFill>
            <a:srgbClr val="0F3460"/>
          </a:solidFill>
          <a:ln w="12700">
            <a:solidFill>
              <a:srgbClr val="FF8C00"/>
            </a:solidFill>
            <a:prstDash val="solid"/>
          </a:ln>
        </p:spPr>
      </p:sp>
      <p:sp>
        <p:nvSpPr>
          <p:cNvPr id="12" name="Text 9"/>
          <p:cNvSpPr/>
          <p:nvPr/>
        </p:nvSpPr>
        <p:spPr>
          <a:xfrm>
            <a:off x="1984248" y="4709160"/>
            <a:ext cx="3840480" cy="68580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 LISSABON</a:t>
            </a:r>
            <a:endParaRPr lang="en-US" sz="2400" dirty="0"/>
          </a:p>
        </p:txBody>
      </p:sp>
      <p:sp>
        <p:nvSpPr>
          <p:cNvPr id="13" name="Shape 10"/>
          <p:cNvSpPr/>
          <p:nvPr/>
        </p:nvSpPr>
        <p:spPr>
          <a:xfrm>
            <a:off x="6099048" y="4709160"/>
            <a:ext cx="3840480" cy="685800"/>
          </a:xfrm>
          <a:prstGeom prst="rect">
            <a:avLst/>
          </a:prstGeom>
          <a:solidFill>
            <a:srgbClr val="0F3460"/>
          </a:solidFill>
          <a:ln w="12700">
            <a:solidFill>
              <a:srgbClr val="1EB4C8"/>
            </a:solidFill>
            <a:prstDash val="solid"/>
          </a:ln>
        </p:spPr>
      </p:sp>
      <p:sp>
        <p:nvSpPr>
          <p:cNvPr id="14" name="Text 11"/>
          <p:cNvSpPr/>
          <p:nvPr/>
        </p:nvSpPr>
        <p:spPr>
          <a:xfrm>
            <a:off x="6099048" y="4709160"/>
            <a:ext cx="3840480" cy="68580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 MALTA</a:t>
            </a:r>
            <a:endParaRPr lang="en-US" sz="2400" dirty="0"/>
          </a:p>
        </p:txBody>
      </p:sp>
      <p:sp>
        <p:nvSpPr>
          <p:cNvPr id="15" name="Text 12"/>
          <p:cNvSpPr/>
          <p:nvPr/>
        </p:nvSpPr>
        <p:spPr>
          <a:xfrm>
            <a:off x="0" y="5715000"/>
            <a:ext cx="12192000" cy="365760"/>
          </a:xfrm>
          <a:prstGeom prst="rect">
            <a:avLst/>
          </a:prstGeom>
          <a:noFill/>
          <a:ln/>
        </p:spPr>
        <p:txBody>
          <a:bodyPr wrap="square" rtlCol="0" anchor="ctr"/>
          <a:lstStyle/>
          <a:p>
            <a:pPr algn="ctr" indent="0" marL="0">
              <a:buNone/>
            </a:pPr>
            <a:r>
              <a:rPr lang="en-US" sz="1300" i="1" dirty="0">
                <a:solidFill>
                  <a:srgbClr val="6B7280"/>
                </a:solidFill>
                <a:latin typeface="Calibri" pitchFamily="34" charset="0"/>
                <a:ea typeface="Calibri" pitchFamily="34" charset="-122"/>
                <a:cs typeface="Calibri" pitchFamily="34" charset="-120"/>
              </a:rPr>
              <a:t>Flüge ab DUS · FMO · DTM  ·  Lissabon 17–22°C · Malta 22–24°C</a:t>
            </a:r>
            <a:endParaRPr lang="en-US" sz="1300" dirty="0"/>
          </a:p>
        </p:txBody>
      </p:sp>
      <p:sp>
        <p:nvSpPr>
          <p:cNvPr id="16" name="Shape 13"/>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1 — LISSABON, PORTUGAL</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FF8C00"/>
                </a:solidFill>
                <a:latin typeface="Trebuchet MS" pitchFamily="34" charset="0"/>
                <a:ea typeface="Trebuchet MS" pitchFamily="34" charset="-122"/>
                <a:cs typeface="Trebuchet MS" pitchFamily="34" charset="-120"/>
              </a:rPr>
              <a:t>Nachtleben-Hauptstadt des Atlantiks</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Bairro Alto · Pink Street · Alfama Fado · Castelo de São Jorge</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FF8C00"/>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3h 10m</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FF8C00"/>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Pint</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FF8C00"/>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17–22°C ☀</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Ende Oktober</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FF8C00"/>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~€735</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FF8C00"/>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Weltklasse</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FF8C00"/>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Nur DUS</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(Eurowings/TAP)</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Lissabon punktet mit warmem Atlantik-Charme und einer der günstigsten, lebendigsten Nachtlebensszenen Europas. Bairro Alto explodiert ab Mitternacht mit 200+ Bars. Pink-Street-Clubs laufen bis in den Morgen. Die Stadt feiert Halloween ausgiebig — Kneipentour, Kostümparties und Mega-Club-Events. Ende Oktober: T-Shirt-Wetter garantiert.</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FLÜGE</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HINFLUG: Deutschland → LIS (Lissabon)</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morgens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10:15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12:20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Frühabflug</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06:20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08:25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EW9604</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~20:30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Premium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TP541</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TAP Portugal</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10m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€150–180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€600–720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bl>
          </a:graphicData>
        </a:graphic>
      </p:graphicFrame>
      <p:sp>
        <p:nvSpPr>
          <p:cNvPr id="8" name="Text 5"/>
          <p:cNvSpPr/>
          <p:nvPr/>
        </p:nvSpPr>
        <p:spPr>
          <a:xfrm>
            <a:off x="365760" y="3712464"/>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RÜCKFLUG: LIS (Lissabon) → Deutschland (2. Nov.)</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365760" y="4050792"/>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EW9603 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LIS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21:50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50m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5010912"/>
            <a:ext cx="11430000" cy="658368"/>
          </a:xfrm>
          <a:prstGeom prst="rect">
            <a:avLst/>
          </a:prstGeom>
          <a:solidFill>
            <a:srgbClr val="16213E"/>
          </a:solidFill>
          <a:ln w="12700">
            <a:solidFill>
              <a:srgbClr val="0F3460"/>
            </a:solidFill>
            <a:prstDash val="solid"/>
          </a:ln>
        </p:spPr>
      </p:sp>
      <p:sp>
        <p:nvSpPr>
          <p:cNvPr id="11" name="Text 7"/>
          <p:cNvSpPr/>
          <p:nvPr/>
        </p:nvSpPr>
        <p:spPr>
          <a:xfrm>
            <a:off x="502920" y="5056632"/>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DUS (Düsseldorf) ist der EINZIGE Flughafen mit Direktverbindung nach Lissabon — Eurowings &amp; TAP Air Portugal fliegen täglich non-stop.  DTM &amp; FMO erfordern Umsteigen (8h+ Gesamtreisezeit).  Buchen: eurowings.com · kayak.com · Hin &amp; Zurück Ø ~€170–190 p.P.</a:t>
            </a:r>
            <a:endParaRPr lang="en-US" sz="1000" dirty="0"/>
          </a:p>
        </p:txBody>
      </p:sp>
      <p:sp>
        <p:nvSpPr>
          <p:cNvPr id="12" name="Shape 8"/>
          <p:cNvSpPr/>
          <p:nvPr/>
        </p:nvSpPr>
        <p:spPr>
          <a:xfrm>
            <a:off x="8046720" y="5788152"/>
            <a:ext cx="3749040" cy="777240"/>
          </a:xfrm>
          <a:prstGeom prst="rect">
            <a:avLst/>
          </a:prstGeom>
          <a:solidFill>
            <a:srgbClr val="0F3460"/>
          </a:solidFill>
          <a:ln w="12700">
            <a:solidFill>
              <a:srgbClr val="FF8C00"/>
            </a:solidFill>
            <a:prstDash val="solid"/>
          </a:ln>
        </p:spPr>
      </p:sp>
      <p:sp>
        <p:nvSpPr>
          <p:cNvPr id="13" name="Text 9"/>
          <p:cNvSpPr/>
          <p:nvPr/>
        </p:nvSpPr>
        <p:spPr>
          <a:xfrm>
            <a:off x="8046720" y="5806440"/>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6080760"/>
            <a:ext cx="3749040" cy="438912"/>
          </a:xfrm>
          <a:prstGeom prst="rect">
            <a:avLst/>
          </a:prstGeom>
          <a:noFill/>
          <a:ln/>
        </p:spPr>
        <p:txBody>
          <a:bodyPr wrap="square" rtlCol="0" anchor="ctr"/>
          <a:lstStyle/>
          <a:p>
            <a:pPr algn="ctr" indent="0" marL="0">
              <a:buNone/>
            </a:pPr>
            <a:r>
              <a:rPr lang="en-US" sz="2000" b="1" dirty="0">
                <a:solidFill>
                  <a:srgbClr val="FF8C00"/>
                </a:solidFill>
                <a:latin typeface="Trebuchet MS" pitchFamily="34" charset="0"/>
                <a:ea typeface="Trebuchet MS" pitchFamily="34" charset="-122"/>
                <a:cs typeface="Trebuchet MS" pitchFamily="34" charset="-120"/>
              </a:rPr>
              <a:t>€640 – €760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UNTERKUNFT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lisbon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FF8C00"/>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Bairro Alto / São Roque — 2-Zimmer-Wohnung</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FF8C00"/>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FF8C00"/>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Balkon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FF8C00"/>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FF8C00"/>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Zentrallage</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FF8C00"/>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Klimaanlage ✓</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Bairro Alto — direkt im Herz der 200+ Bars, Pink Street 10 Fußminuten entfernt</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FF8C00"/>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~€130</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~€390</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~€60–80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FF8C00"/>
                </a:solidFill>
                <a:latin typeface="Trebuchet MS" pitchFamily="34" charset="0"/>
                <a:ea typeface="Trebuchet MS" pitchFamily="34" charset="-122"/>
                <a:cs typeface="Trebuchet MS" pitchFamily="34" charset="-120"/>
              </a:rPr>
              <a:t>~€450–480</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~€113–120</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FF8C00"/>
                </a:solidFill>
                <a:latin typeface="Calibri" pitchFamily="34" charset="0"/>
                <a:ea typeface="Calibri" pitchFamily="34" charset="-122"/>
                <a:cs typeface="Calibri" pitchFamily="34" charset="-120"/>
              </a:rPr>
              <a:t>airbnb.com/rooms/26081783  (Bairro Alto / São Roque — Verfügbarkeit prüfen)</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Alternative: "Garrett 48" in Chiado — Terrasse, 2 SZ, ~€100–130/Nacht → airbnb.com/rooms/1016061</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TAGESPROGRAMM</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74320" y="896112"/>
            <a:ext cx="5669280" cy="2743200"/>
          </a:xfrm>
          <a:prstGeom prst="rect">
            <a:avLst/>
          </a:prstGeom>
          <a:solidFill>
            <a:srgbClr val="16213E"/>
          </a:solidFill>
          <a:ln w="12700">
            <a:solidFill>
              <a:srgbClr val="FF8C00"/>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EW9602 landet LIS 12:20 · Einchecken in Bairro Alto</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SANDEMANs Stadtführung 15:30 @ Praça do Comércio</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(2,5h, Trinkgeld €10–15 · Baixa, Alfama, Aussichtspunkte)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Abendessen: Petiscos bei Tasca do Chico ab 20 Uhr</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Bairro Alto Kneipenbummel: 200+ Bars, €2–3 Bier</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Start @ Park Bar (Dachterrasse) → Pavilhão Chinês</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FF8C00"/>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Kochkurs Cooking Lisbon ab 9:30 Uhr (4h, €110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Mercado 31 de Janeiro · 3-Gang-Menü + Wein inklusive</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Buchung: cookinglisbon.com/market-tour</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Halloween-Kneipentour 22 Uhr · €28 p.P.</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Treffpkt.: Praça Luís de Camões · 3 Bars · 1h offene Bar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Shots · Kostüm-Wettbewerb · VIP-Clubeintritt</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 1 Uhr: Brunch Electronik Halloween Special</a:t>
            </a:r>
            <a:endParaRPr lang="en-US" sz="900" dirty="0"/>
          </a:p>
        </p:txBody>
      </p:sp>
      <p:sp>
        <p:nvSpPr>
          <p:cNvPr id="27" name="Text 25"/>
          <p:cNvSpPr/>
          <p:nvPr/>
        </p:nvSpPr>
        <p:spPr>
          <a:xfrm>
            <a:off x="6309360" y="319125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Pavilhão Carlos Lopes · Chris Liebing B2B Luke Slater</a:t>
            </a:r>
            <a:endParaRPr lang="en-US" sz="900" dirty="0"/>
          </a:p>
        </p:txBody>
      </p:sp>
      <p:sp>
        <p:nvSpPr>
          <p:cNvPr id="28" name="Shape 26"/>
          <p:cNvSpPr/>
          <p:nvPr/>
        </p:nvSpPr>
        <p:spPr>
          <a:xfrm>
            <a:off x="274320" y="3776472"/>
            <a:ext cx="5669280" cy="2743200"/>
          </a:xfrm>
          <a:prstGeom prst="rect">
            <a:avLst/>
          </a:prstGeom>
          <a:solidFill>
            <a:srgbClr val="16213E"/>
          </a:solidFill>
          <a:ln w="12700">
            <a:solidFill>
              <a:srgbClr val="FF8C00"/>
            </a:solidFill>
            <a:prstDash val="solid"/>
          </a:ln>
        </p:spPr>
      </p:sp>
      <p:sp>
        <p:nvSpPr>
          <p:cNvPr id="29" name="Shape 27"/>
          <p:cNvSpPr/>
          <p:nvPr/>
        </p:nvSpPr>
        <p:spPr>
          <a:xfrm>
            <a:off x="274320" y="3776472"/>
            <a:ext cx="5669280" cy="384048"/>
          </a:xfrm>
          <a:prstGeom prst="rect">
            <a:avLst/>
          </a:prstGeom>
          <a:solidFill>
            <a:srgbClr val="0F3460"/>
          </a:solidFill>
          <a:ln w="12700">
            <a:solidFill>
              <a:srgbClr val="0F3460"/>
            </a:solidFill>
            <a:prstDash val="solid"/>
          </a:ln>
        </p:spPr>
      </p:sp>
      <p:sp>
        <p:nvSpPr>
          <p:cNvPr id="30" name="Text 28"/>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3 — SA., 1. NOV.</a:t>
            </a:r>
            <a:endParaRPr lang="en-US" sz="1100" dirty="0"/>
          </a:p>
        </p:txBody>
      </p:sp>
      <p:sp>
        <p:nvSpPr>
          <p:cNvPr id="31" name="Text 29"/>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Erkunden &amp; Entspannen</a:t>
            </a:r>
            <a:endParaRPr lang="en-US" sz="900" dirty="0"/>
          </a:p>
        </p:txBody>
      </p:sp>
      <p:sp>
        <p:nvSpPr>
          <p:cNvPr id="32" name="Text 30"/>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Ausschlafen — Pastéis de Nata bei Pasteis de Belém</a:t>
            </a:r>
            <a:endParaRPr lang="en-US" sz="900" dirty="0"/>
          </a:p>
        </p:txBody>
      </p:sp>
      <p:sp>
        <p:nvSpPr>
          <p:cNvPr id="33" name="Text 31"/>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Straßenbahn 28: malerische Fahrt durch Alfama</a:t>
            </a:r>
            <a:endParaRPr lang="en-US" sz="900" dirty="0"/>
          </a:p>
        </p:txBody>
      </p:sp>
      <p:sp>
        <p:nvSpPr>
          <p:cNvPr id="34" name="Text 32"/>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Cerveja Musa Craft-Brauerei, Mouraria (lokale IPAs)</a:t>
            </a:r>
            <a:endParaRPr lang="en-US" sz="900" dirty="0"/>
          </a:p>
        </p:txBody>
      </p:sp>
      <p:sp>
        <p:nvSpPr>
          <p:cNvPr id="35" name="Text 33"/>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Miradouro da Graça: bester Sonnenuntergangs-Aussichtsp.</a:t>
            </a:r>
            <a:endParaRPr lang="en-US" sz="900" dirty="0"/>
          </a:p>
        </p:txBody>
      </p:sp>
      <p:sp>
        <p:nvSpPr>
          <p:cNvPr id="36" name="Text 34"/>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Fado-Abend: Tasca do Chico oder Zé da Viola</a:t>
            </a:r>
            <a:endParaRPr lang="en-US" sz="900" dirty="0"/>
          </a:p>
        </p:txBody>
      </p:sp>
      <p:sp>
        <p:nvSpPr>
          <p:cNvPr id="37" name="Text 35"/>
          <p:cNvSpPr/>
          <p:nvPr/>
        </p:nvSpPr>
        <p:spPr>
          <a:xfrm>
            <a:off x="365760" y="554126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Pink Street Nacht: Pensão Amor + Music Box · Lux Frágil</a:t>
            </a:r>
            <a:endParaRPr lang="en-US" sz="900" dirty="0"/>
          </a:p>
        </p:txBody>
      </p:sp>
      <p:sp>
        <p:nvSpPr>
          <p:cNvPr id="38" name="Shape 36"/>
          <p:cNvSpPr/>
          <p:nvPr/>
        </p:nvSpPr>
        <p:spPr>
          <a:xfrm>
            <a:off x="6217920" y="3776472"/>
            <a:ext cx="5669280" cy="2743200"/>
          </a:xfrm>
          <a:prstGeom prst="rect">
            <a:avLst/>
          </a:prstGeom>
          <a:solidFill>
            <a:srgbClr val="16213E"/>
          </a:solidFill>
          <a:ln w="12700">
            <a:solidFill>
              <a:srgbClr val="FF8C00"/>
            </a:solidFill>
            <a:prstDash val="solid"/>
          </a:ln>
        </p:spPr>
      </p:sp>
      <p:sp>
        <p:nvSpPr>
          <p:cNvPr id="39" name="Shape 37"/>
          <p:cNvSpPr/>
          <p:nvPr/>
        </p:nvSpPr>
        <p:spPr>
          <a:xfrm>
            <a:off x="6217920" y="3776472"/>
            <a:ext cx="5669280" cy="384048"/>
          </a:xfrm>
          <a:prstGeom prst="rect">
            <a:avLst/>
          </a:prstGeom>
          <a:solidFill>
            <a:srgbClr val="0F3460"/>
          </a:solidFill>
          <a:ln w="12700">
            <a:solidFill>
              <a:srgbClr val="0F3460"/>
            </a:solidFill>
            <a:prstDash val="solid"/>
          </a:ln>
        </p:spPr>
      </p:sp>
      <p:sp>
        <p:nvSpPr>
          <p:cNvPr id="40" name="Text 38"/>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4 — SO., 2. NOV.</a:t>
            </a:r>
            <a:endParaRPr lang="en-US" sz="1100" dirty="0"/>
          </a:p>
        </p:txBody>
      </p:sp>
      <p:sp>
        <p:nvSpPr>
          <p:cNvPr id="41" name="Text 39"/>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2" name="Text 40"/>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Morgen-Kaffee @ A Brasileira, Chiado</a:t>
            </a:r>
            <a:endParaRPr lang="en-US" sz="900" dirty="0"/>
          </a:p>
        </p:txBody>
      </p:sp>
      <p:sp>
        <p:nvSpPr>
          <p:cNvPr id="43" name="Text 41"/>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Kurzer Besuch Castelo de São Jorge (optional)</a:t>
            </a:r>
            <a:endParaRPr lang="en-US" sz="900" dirty="0"/>
          </a:p>
        </p:txBody>
      </p:sp>
      <p:sp>
        <p:nvSpPr>
          <p:cNvPr id="44" name="Text 42"/>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Ginjinha-Likör, Sardinenkonserven</a:t>
            </a:r>
            <a:endParaRPr lang="en-US" sz="900" dirty="0"/>
          </a:p>
        </p:txBody>
      </p:sp>
      <p:sp>
        <p:nvSpPr>
          <p:cNvPr id="45" name="Text 43"/>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Transfer zum Flughafen (45 Min. einplanen)</a:t>
            </a:r>
            <a:endParaRPr lang="en-US" sz="900" dirty="0"/>
          </a:p>
        </p:txBody>
      </p:sp>
      <p:sp>
        <p:nvSpPr>
          <p:cNvPr id="46" name="Text 44"/>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EW9603  18:00 LIS → 21:50 DUS</a:t>
            </a:r>
            <a:endParaRPr lang="en-US" sz="900" dirty="0"/>
          </a:p>
        </p:txBody>
      </p:sp>
      <p:sp>
        <p:nvSpPr>
          <p:cNvPr id="47" name="Shape 45"/>
          <p:cNvSpPr/>
          <p:nvPr/>
        </p:nvSpPr>
        <p:spPr>
          <a:xfrm>
            <a:off x="274320" y="6510528"/>
            <a:ext cx="11612880" cy="201168"/>
          </a:xfrm>
          <a:prstGeom prst="rect">
            <a:avLst/>
          </a:prstGeom>
          <a:solidFill>
            <a:srgbClr val="16213E"/>
          </a:solidFill>
          <a:ln w="12700">
            <a:solidFill>
              <a:srgbClr val="0F3460"/>
            </a:solidFill>
            <a:prstDash val="solid"/>
          </a:ln>
        </p:spPr>
      </p:sp>
      <p:sp>
        <p:nvSpPr>
          <p:cNvPr id="48" name="Text 46"/>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Kneipentour: eventbrite.co.uk/e/1981093800888  ·  Kochkurs: cookinglisbon.com/booking  ·  Stadtführung: neweuropetours.eu/lisbon  ·  Lux Frágil: luxfragil.com</a:t>
            </a:r>
            <a:endParaRPr lang="en-US" sz="800" dirty="0"/>
          </a:p>
        </p:txBody>
      </p:sp>
      <p:sp>
        <p:nvSpPr>
          <p:cNvPr id="49" name="Shape 4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KOSTENÜBERSICHT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 EW9602/9603  DUS ↔ LIS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~€170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Bairro Alto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Halloween-Kneipentour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 Haunts — Chiado (31. Okt.)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Cooking Lisbon — Markt + 3-Gang-Menü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SANDEMANs — Praça do Comércio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Mahlzeiten, Petiscos, Pastéis — Ø €15–25/Mahlzeit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Bairro Alto + Pink Street + Clubs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Bolt/Uber, Trinkgelder,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Lissabon,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~€735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~€2.940</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257800"/>
            <a:ext cx="11247120" cy="594360"/>
          </a:xfrm>
          <a:prstGeom prst="rect">
            <a:avLst/>
          </a:prstGeom>
          <a:solidFill>
            <a:srgbClr val="16213E"/>
          </a:solidFill>
          <a:ln w="12700">
            <a:solidFill>
              <a:srgbClr val="FF8C00"/>
            </a:solidFill>
            <a:prstDash val="solid"/>
          </a:ln>
        </p:spPr>
      </p:sp>
      <p:sp>
        <p:nvSpPr>
          <p:cNvPr id="8" name="Text 5"/>
          <p:cNvSpPr/>
          <p:nvPr/>
        </p:nvSpPr>
        <p:spPr>
          <a:xfrm>
            <a:off x="594360" y="5303520"/>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Budgetrahmen: €600–900 p.P. je nach Partylust.  Bier ab €2–3, Supermarkt-Runs helfen sparen.  Clubs (Lux Frágil, Brunch Electronik) kosten je ~€20–30 extra.  Leitungswasser in Restaurants gratis.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4 — MALTA, VALLETTA</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1EB4C8"/>
                </a:solidFill>
                <a:latin typeface="Trebuchet MS" pitchFamily="34" charset="0"/>
                <a:ea typeface="Trebuchet MS" pitchFamily="34" charset="-122"/>
                <a:cs typeface="Trebuchet MS" pitchFamily="34" charset="-120"/>
              </a:rPr>
              <a:t>Wärmstes Ziel — Mittelmeer im Oktober</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Paceville · Sliema · Valletta · Blaue Lagune · Cisk Lager</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1EB4C8"/>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~3h 00m</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1EB4C8"/>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(Cisk Lager)</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1EB4C8"/>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22–24°C ☀☀</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Wärmstes Ziel!</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1EB4C8"/>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~€580</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1EB4C8"/>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Paceville Clubs</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1EB4C8"/>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DUS</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(Eurowings/Ryanair)</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Malta ist mit 22–24°C das WÄRMSTE europäische Ziel dieser Auswahl — und Ende Oktober noch Badesaison! Die Insel bietet UNESCO-Welterbe Valletta, das mittelalterliche Mdina und das Nachtleben von Paceville (St. Julian's). Halloween in den Clubs von Paceville ist eine eigene Kategorie. Und das Cisk Lager gehört zu den günstigsten Bieren Europas.</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FLÜGE</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HINFLUG: Deutschland → MLA (Malta)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früh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~07:xx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55m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 29.10.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 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Budget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~€70–90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~€280–360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8" name="Text 5"/>
          <p:cNvSpPr/>
          <p:nvPr/>
        </p:nvSpPr>
        <p:spPr>
          <a:xfrm>
            <a:off x="365760" y="3236976"/>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RÜCKFLUG: MLA (Malta) → Deutschland (2. Nov.)</a:t>
            </a:r>
            <a:endParaRPr lang="en-US" sz="13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365760" y="3575304"/>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Eurowings/Ryanair  (MLA→DUS)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MLA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~€320–400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4535424"/>
            <a:ext cx="11430000" cy="658368"/>
          </a:xfrm>
          <a:prstGeom prst="rect">
            <a:avLst/>
          </a:prstGeom>
          <a:solidFill>
            <a:srgbClr val="16213E"/>
          </a:solidFill>
          <a:ln w="12700">
            <a:solidFill>
              <a:srgbClr val="0F3460"/>
            </a:solidFill>
            <a:prstDash val="solid"/>
          </a:ln>
        </p:spPr>
      </p:sp>
      <p:sp>
        <p:nvSpPr>
          <p:cNvPr id="11" name="Text 7"/>
          <p:cNvSpPr/>
          <p:nvPr/>
        </p:nvSpPr>
        <p:spPr>
          <a:xfrm>
            <a:off x="502920" y="4581144"/>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Malta ist mit 22–24°C Anfang November das WÄRMSTE Reiseziel dieser Auswahl!  Flughafen Malta (MLA) liegt 8 km südlich von Valletta — Taxi/Bus ins Zentrum ~20 Min.  Direktflüge ab DUS mit Eurowings &amp; Ryanair.  Buchen: eurowings.com · ryanair.com · skyscanner.de</a:t>
            </a:r>
            <a:endParaRPr lang="en-US" sz="1000" dirty="0"/>
          </a:p>
        </p:txBody>
      </p:sp>
      <p:sp>
        <p:nvSpPr>
          <p:cNvPr id="12" name="Shape 8"/>
          <p:cNvSpPr/>
          <p:nvPr/>
        </p:nvSpPr>
        <p:spPr>
          <a:xfrm>
            <a:off x="8046720" y="5312664"/>
            <a:ext cx="3749040" cy="777240"/>
          </a:xfrm>
          <a:prstGeom prst="rect">
            <a:avLst/>
          </a:prstGeom>
          <a:solidFill>
            <a:srgbClr val="0F3460"/>
          </a:solidFill>
          <a:ln w="12700">
            <a:solidFill>
              <a:srgbClr val="1EB4C8"/>
            </a:solidFill>
            <a:prstDash val="solid"/>
          </a:ln>
        </p:spPr>
      </p:sp>
      <p:sp>
        <p:nvSpPr>
          <p:cNvPr id="13" name="Text 9"/>
          <p:cNvSpPr/>
          <p:nvPr/>
        </p:nvSpPr>
        <p:spPr>
          <a:xfrm>
            <a:off x="8046720" y="5330952"/>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5605272"/>
            <a:ext cx="3749040" cy="438912"/>
          </a:xfrm>
          <a:prstGeom prst="rect">
            <a:avLst/>
          </a:prstGeom>
          <a:noFill/>
          <a:ln/>
        </p:spPr>
        <p:txBody>
          <a:bodyPr wrap="square" rtlCol="0" anchor="ctr"/>
          <a:lstStyle/>
          <a:p>
            <a:pPr algn="ctr" indent="0" marL="0">
              <a:buNone/>
            </a:pPr>
            <a:r>
              <a:rPr lang="en-US" sz="2000" b="1" dirty="0">
                <a:solidFill>
                  <a:srgbClr val="1EB4C8"/>
                </a:solidFill>
                <a:latin typeface="Trebuchet MS" pitchFamily="34" charset="0"/>
                <a:ea typeface="Trebuchet MS" pitchFamily="34" charset="-122"/>
                <a:cs typeface="Trebuchet MS" pitchFamily="34" charset="-120"/>
              </a:rPr>
              <a:t>€600 – €800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UNTERKUNFT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malta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1EB4C8"/>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St. Julian's / Sliema — 2-Zi.-Wohnung mit Terrasse &amp; Meerblick</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1EB4C8"/>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1EB4C8"/>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Terrasse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1EB4C8"/>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1EB4C8"/>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Klimaanlage ✓</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1EB4C8"/>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Meerblick mögl.</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St. Julian's / Paceville — direkt am Nachtleben, 2 Min. zu Hugo's Lounge &amp; Beach Clubs</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1EB4C8"/>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~€95</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~€285</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~€50–70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1EB4C8"/>
                </a:solidFill>
                <a:latin typeface="Trebuchet MS" pitchFamily="34" charset="0"/>
                <a:ea typeface="Trebuchet MS" pitchFamily="34" charset="-122"/>
                <a:cs typeface="Trebuchet MS" pitchFamily="34" charset="-120"/>
              </a:rPr>
              <a:t>~€335–355</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~€84–89</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1EB4C8"/>
                </a:solidFill>
                <a:latin typeface="Calibri" pitchFamily="34" charset="0"/>
                <a:ea typeface="Calibri" pitchFamily="34" charset="-122"/>
                <a:cs typeface="Calibri" pitchFamily="34" charset="-120"/>
              </a:rPr>
              <a:t>airbnb.com → Suche: St. Julian's Malta, 4 Gäste, 2 SZ, Terrasse, 30. Okt.–2. Nov.</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Alternative: Sliema (ruhiger, Wasserfront) oder Valletta (historisch, UNESCO) ebenfalls empfohlen</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TAGESPROGRAMM</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Shape 4"/>
          <p:cNvSpPr/>
          <p:nvPr/>
        </p:nvSpPr>
        <p:spPr>
          <a:xfrm>
            <a:off x="274320" y="896112"/>
            <a:ext cx="5669280" cy="2743200"/>
          </a:xfrm>
          <a:prstGeom prst="rect">
            <a:avLst/>
          </a:prstGeom>
          <a:solidFill>
            <a:srgbClr val="16213E"/>
          </a:solidFill>
          <a:ln w="12700">
            <a:solidFill>
              <a:srgbClr val="1EB4C8"/>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 landet MLA ~10:00 · Taxi nach St. Julian's</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Einchecken · erstes kühles Cisk-Bier auf der Terrasse</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Valletta Altstadt-Spaziergang (UNESCO-Welterbe)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Sliema Waterfront zum Sonnenuntergang</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Erste Bar-Nacht in Paceville: Hugo's Lounge</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Cisk 0,5l: ~€2,50 · T-Shirt-Wetter um Mitternacht!</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1EB4C8"/>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Tagesausflug Blaue Lagune (Bootsfahrt, ~€35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Kristallklares Mittelmeer · letztes Bad im Oktober!</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Maltesischer Kochkurs nachmittags (€65 p.P.)</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Kaninchen-Eintopf (Fenek) + Pastizzi + lokaler Wein</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 in Paceville ab 22 Uhr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Clubmeile: Sky Club · Footloose · Level 22</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Bis 4 Uhr morgens · alle mit Halloween-Deko</a:t>
            </a:r>
            <a:endParaRPr lang="en-US" sz="900" dirty="0"/>
          </a:p>
        </p:txBody>
      </p:sp>
      <p:sp>
        <p:nvSpPr>
          <p:cNvPr id="27" name="Shape 25"/>
          <p:cNvSpPr/>
          <p:nvPr/>
        </p:nvSpPr>
        <p:spPr>
          <a:xfrm>
            <a:off x="274320" y="3776472"/>
            <a:ext cx="5669280" cy="2743200"/>
          </a:xfrm>
          <a:prstGeom prst="rect">
            <a:avLst/>
          </a:prstGeom>
          <a:solidFill>
            <a:srgbClr val="16213E"/>
          </a:solidFill>
          <a:ln w="12700">
            <a:solidFill>
              <a:srgbClr val="1EB4C8"/>
            </a:solidFill>
            <a:prstDash val="solid"/>
          </a:ln>
        </p:spPr>
      </p:sp>
      <p:sp>
        <p:nvSpPr>
          <p:cNvPr id="28" name="Shape 26"/>
          <p:cNvSpPr/>
          <p:nvPr/>
        </p:nvSpPr>
        <p:spPr>
          <a:xfrm>
            <a:off x="274320" y="3776472"/>
            <a:ext cx="5669280" cy="384048"/>
          </a:xfrm>
          <a:prstGeom prst="rect">
            <a:avLst/>
          </a:prstGeom>
          <a:solidFill>
            <a:srgbClr val="0F3460"/>
          </a:solidFill>
          <a:ln w="12700">
            <a:solidFill>
              <a:srgbClr val="0F3460"/>
            </a:solidFill>
            <a:prstDash val="solid"/>
          </a:ln>
        </p:spPr>
      </p:sp>
      <p:sp>
        <p:nvSpPr>
          <p:cNvPr id="29" name="Text 27"/>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3 — SA., 1. NOV.</a:t>
            </a:r>
            <a:endParaRPr lang="en-US" sz="1100" dirty="0"/>
          </a:p>
        </p:txBody>
      </p:sp>
      <p:sp>
        <p:nvSpPr>
          <p:cNvPr id="30" name="Text 28"/>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Malta Erkunden</a:t>
            </a:r>
            <a:endParaRPr lang="en-US" sz="900" dirty="0"/>
          </a:p>
        </p:txBody>
      </p:sp>
      <p:sp>
        <p:nvSpPr>
          <p:cNvPr id="31" name="Text 29"/>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Mdina: "Die Stille Stadt" — mittelalterl. Festungsstadt</a:t>
            </a:r>
            <a:endParaRPr lang="en-US" sz="900" dirty="0"/>
          </a:p>
        </p:txBody>
      </p:sp>
      <p:sp>
        <p:nvSpPr>
          <p:cNvPr id="32" name="Text 30"/>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Marsaxlokk Fischmarkt: frischer Fang, bunte Boote</a:t>
            </a:r>
            <a:endParaRPr lang="en-US" sz="900" dirty="0"/>
          </a:p>
        </p:txBody>
      </p:sp>
      <p:sp>
        <p:nvSpPr>
          <p:cNvPr id="33" name="Text 31"/>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Mittagspause: Pasta + Cisk am Hafen (~€12)</a:t>
            </a:r>
            <a:endParaRPr lang="en-US" sz="900" dirty="0"/>
          </a:p>
        </p:txBody>
      </p:sp>
      <p:sp>
        <p:nvSpPr>
          <p:cNvPr id="34" name="Text 32"/>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Nachmittag: Baden an den Felsenbädern (noch warm!)</a:t>
            </a:r>
            <a:endParaRPr lang="en-US" sz="900" dirty="0"/>
          </a:p>
        </p:txBody>
      </p:sp>
      <p:sp>
        <p:nvSpPr>
          <p:cNvPr id="35" name="Text 33"/>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Nacht: Paceville + Strand-Bars</a:t>
            </a:r>
            <a:endParaRPr lang="en-US" sz="900" dirty="0"/>
          </a:p>
        </p:txBody>
      </p:sp>
      <p:sp>
        <p:nvSpPr>
          <p:cNvPr id="36" name="Shape 34"/>
          <p:cNvSpPr/>
          <p:nvPr/>
        </p:nvSpPr>
        <p:spPr>
          <a:xfrm>
            <a:off x="6217920" y="3776472"/>
            <a:ext cx="5669280" cy="2743200"/>
          </a:xfrm>
          <a:prstGeom prst="rect">
            <a:avLst/>
          </a:prstGeom>
          <a:solidFill>
            <a:srgbClr val="16213E"/>
          </a:solidFill>
          <a:ln w="12700">
            <a:solidFill>
              <a:srgbClr val="1EB4C8"/>
            </a:solidFill>
            <a:prstDash val="solid"/>
          </a:ln>
        </p:spPr>
      </p:sp>
      <p:sp>
        <p:nvSpPr>
          <p:cNvPr id="37" name="Shape 35"/>
          <p:cNvSpPr/>
          <p:nvPr/>
        </p:nvSpPr>
        <p:spPr>
          <a:xfrm>
            <a:off x="6217920" y="3776472"/>
            <a:ext cx="5669280" cy="384048"/>
          </a:xfrm>
          <a:prstGeom prst="rect">
            <a:avLst/>
          </a:prstGeom>
          <a:solidFill>
            <a:srgbClr val="0F3460"/>
          </a:solidFill>
          <a:ln w="12700">
            <a:solidFill>
              <a:srgbClr val="0F3460"/>
            </a:solidFill>
            <a:prstDash val="solid"/>
          </a:ln>
        </p:spPr>
      </p:sp>
      <p:sp>
        <p:nvSpPr>
          <p:cNvPr id="38" name="Text 36"/>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4 — SO., 2. NOV.</a:t>
            </a:r>
            <a:endParaRPr lang="en-US" sz="1100" dirty="0"/>
          </a:p>
        </p:txBody>
      </p:sp>
      <p:sp>
        <p:nvSpPr>
          <p:cNvPr id="39" name="Text 37"/>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0" name="Text 38"/>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Frühstück auf der Terrasse bei 20°C</a:t>
            </a:r>
            <a:endParaRPr lang="en-US" sz="900" dirty="0"/>
          </a:p>
        </p:txBody>
      </p:sp>
      <p:sp>
        <p:nvSpPr>
          <p:cNvPr id="41" name="Text 39"/>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Pastizzi zum Frühstück (Ricotta-Blätterteig, €0,50!)</a:t>
            </a:r>
            <a:endParaRPr lang="en-US" sz="900" dirty="0"/>
          </a:p>
        </p:txBody>
      </p:sp>
      <p:sp>
        <p:nvSpPr>
          <p:cNvPr id="42" name="Text 40"/>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Stunde am Meer (badefertig!)</a:t>
            </a:r>
            <a:endParaRPr lang="en-US" sz="900" dirty="0"/>
          </a:p>
        </p:txBody>
      </p:sp>
      <p:sp>
        <p:nvSpPr>
          <p:cNvPr id="43" name="Text 41"/>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Maltesisches Kreuz, Ftira-Brot, Cisk-Sixpack</a:t>
            </a:r>
            <a:endParaRPr lang="en-US" sz="900" dirty="0"/>
          </a:p>
        </p:txBody>
      </p:sp>
      <p:sp>
        <p:nvSpPr>
          <p:cNvPr id="44" name="Text 42"/>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Eurowings/Ryanair Rückflug nach DUS</a:t>
            </a:r>
            <a:endParaRPr lang="en-US" sz="900" dirty="0"/>
          </a:p>
        </p:txBody>
      </p:sp>
      <p:sp>
        <p:nvSpPr>
          <p:cNvPr id="45" name="Shape 43"/>
          <p:cNvSpPr/>
          <p:nvPr/>
        </p:nvSpPr>
        <p:spPr>
          <a:xfrm>
            <a:off x="274320" y="6510528"/>
            <a:ext cx="11612880" cy="201168"/>
          </a:xfrm>
          <a:prstGeom prst="rect">
            <a:avLst/>
          </a:prstGeom>
          <a:solidFill>
            <a:srgbClr val="16213E"/>
          </a:solidFill>
          <a:ln w="12700">
            <a:solidFill>
              <a:srgbClr val="0F3460"/>
            </a:solidFill>
            <a:prstDash val="solid"/>
          </a:ln>
        </p:spPr>
      </p:sp>
      <p:sp>
        <p:nvSpPr>
          <p:cNvPr id="46" name="Text 44"/>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Bootsausflug Blaue Lagune: katarinaLine.com oder lokal buchen  ·  Kochkurs: experiencemalta.com  ·  Stadtführung: visitvalletta.mt  ·  Paceville Clubs: hugo.com.mt</a:t>
            </a:r>
            <a:endParaRPr lang="en-US" sz="800" dirty="0"/>
          </a:p>
        </p:txBody>
      </p:sp>
      <p:sp>
        <p:nvSpPr>
          <p:cNvPr id="47" name="Shape 45"/>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KOSTENÜBERSICHT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Eurowings/Ryanair  DUS ↔ MLA</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~€185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~€740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St. Julian's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~€89</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Halloween-Party</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Clubeintritt (31. Okt.) — meist günstiger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Maltesische Küche — Fenek + Pastizzi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Bootsausflug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Blaue Lagune (31. Okt. tagsüber)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Valletta Free Tour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Fisch, Pasta, Pastizzi, Hafenrestaurants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~€95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Clubs + Strandbar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Taxi Flughafen, Bus,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Malta,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1EB4C8"/>
                          </a:solidFill>
                          <a:latin typeface="Trebuchet MS" pitchFamily="34" charset="0"/>
                          <a:ea typeface="Trebuchet MS" pitchFamily="34" charset="-122"/>
                          <a:cs typeface="Trebuchet MS" pitchFamily="34" charset="-120"/>
                        </a:rPr>
                        <a:t>~€631</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~€2.523</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687568"/>
            <a:ext cx="11247120" cy="594360"/>
          </a:xfrm>
          <a:prstGeom prst="rect">
            <a:avLst/>
          </a:prstGeom>
          <a:solidFill>
            <a:srgbClr val="16213E"/>
          </a:solidFill>
          <a:ln w="12700">
            <a:solidFill>
              <a:srgbClr val="1EB4C8"/>
            </a:solidFill>
            <a:prstDash val="solid"/>
          </a:ln>
        </p:spPr>
      </p:sp>
      <p:sp>
        <p:nvSpPr>
          <p:cNvPr id="8" name="Text 5"/>
          <p:cNvSpPr/>
          <p:nvPr/>
        </p:nvSpPr>
        <p:spPr>
          <a:xfrm>
            <a:off x="594360" y="5733288"/>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Günstigste Unterkunft dieser Auswahl!  Cisk-Bier ab €2,50.  Pastizzi (maltesisches Gebäck) für €0,50.  Baden im Mittelmeer noch möglich!  Blaue Lagune ist eines der schönsten Gewässer Europas.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DIREKTVERGLEICH — LISSABON vs. MALTA</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3429000" y="777240"/>
            <a:ext cx="4160520" cy="512064"/>
          </a:xfrm>
          <a:prstGeom prst="rect">
            <a:avLst/>
          </a:prstGeom>
          <a:solidFill>
            <a:srgbClr val="0F3460"/>
          </a:solidFill>
          <a:ln w="12700">
            <a:solidFill>
              <a:srgbClr val="FF8C00"/>
            </a:solidFill>
            <a:prstDash val="solid"/>
          </a:ln>
        </p:spPr>
      </p:sp>
      <p:sp>
        <p:nvSpPr>
          <p:cNvPr id="7" name="Text 5"/>
          <p:cNvSpPr/>
          <p:nvPr/>
        </p:nvSpPr>
        <p:spPr>
          <a:xfrm>
            <a:off x="3429000" y="777240"/>
            <a:ext cx="4160520" cy="512064"/>
          </a:xfrm>
          <a:prstGeom prst="rect">
            <a:avLst/>
          </a:prstGeom>
          <a:noFill/>
          <a:ln/>
        </p:spPr>
        <p:txBody>
          <a:bodyPr wrap="square" rtlCol="0" anchor="ctr"/>
          <a:lstStyle/>
          <a:p>
            <a:pPr algn="ctr" indent="0" marL="0">
              <a:buNone/>
            </a:pPr>
            <a:r>
              <a:rPr lang="en-US" sz="1800" b="1" dirty="0">
                <a:solidFill>
                  <a:srgbClr val="FF8C00"/>
                </a:solidFill>
                <a:latin typeface="Trebuchet MS" pitchFamily="34" charset="0"/>
                <a:ea typeface="Trebuchet MS" pitchFamily="34" charset="-122"/>
                <a:cs typeface="Trebuchet MS" pitchFamily="34" charset="-120"/>
              </a:rPr>
              <a:t>🇵🇹 LISSABON</a:t>
            </a:r>
            <a:endParaRPr lang="en-US" sz="1800" dirty="0"/>
          </a:p>
        </p:txBody>
      </p:sp>
      <p:sp>
        <p:nvSpPr>
          <p:cNvPr id="8" name="Shape 6"/>
          <p:cNvSpPr/>
          <p:nvPr/>
        </p:nvSpPr>
        <p:spPr>
          <a:xfrm>
            <a:off x="7680960" y="777240"/>
            <a:ext cx="4160520" cy="512064"/>
          </a:xfrm>
          <a:prstGeom prst="rect">
            <a:avLst/>
          </a:prstGeom>
          <a:solidFill>
            <a:srgbClr val="0F3460"/>
          </a:solidFill>
          <a:ln w="12700">
            <a:solidFill>
              <a:srgbClr val="1EB4C8"/>
            </a:solidFill>
            <a:prstDash val="solid"/>
          </a:ln>
        </p:spPr>
      </p:sp>
      <p:sp>
        <p:nvSpPr>
          <p:cNvPr id="9" name="Text 7"/>
          <p:cNvSpPr/>
          <p:nvPr/>
        </p:nvSpPr>
        <p:spPr>
          <a:xfrm>
            <a:off x="7680960" y="777240"/>
            <a:ext cx="4160520" cy="512064"/>
          </a:xfrm>
          <a:prstGeom prst="rect">
            <a:avLst/>
          </a:prstGeom>
          <a:noFill/>
          <a:ln/>
        </p:spPr>
        <p:txBody>
          <a:bodyPr wrap="square" rtlCol="0" anchor="ctr"/>
          <a:lstStyle/>
          <a:p>
            <a:pPr algn="ctr" indent="0" marL="0">
              <a:buNone/>
            </a:pPr>
            <a:r>
              <a:rPr lang="en-US" sz="1800" b="1" dirty="0">
                <a:solidFill>
                  <a:srgbClr val="1EB4C8"/>
                </a:solidFill>
                <a:latin typeface="Trebuchet MS" pitchFamily="34" charset="0"/>
                <a:ea typeface="Trebuchet MS" pitchFamily="34" charset="-122"/>
                <a:cs typeface="Trebuchet MS" pitchFamily="34" charset="-120"/>
              </a:rPr>
              <a:t>🇲🇹 MALTA</a:t>
            </a:r>
            <a:endParaRPr lang="en-US" sz="1800" dirty="0"/>
          </a:p>
        </p:txBody>
      </p:sp>
      <p:sp>
        <p:nvSpPr>
          <p:cNvPr id="10" name="Shape 8"/>
          <p:cNvSpPr/>
          <p:nvPr/>
        </p:nvSpPr>
        <p:spPr>
          <a:xfrm>
            <a:off x="274320" y="1325880"/>
            <a:ext cx="3108960" cy="457200"/>
          </a:xfrm>
          <a:prstGeom prst="rect">
            <a:avLst/>
          </a:prstGeom>
          <a:solidFill>
            <a:srgbClr val="16213E"/>
          </a:solidFill>
          <a:ln w="12700">
            <a:solidFill>
              <a:srgbClr val="0F3460"/>
            </a:solidFill>
            <a:prstDash val="solid"/>
          </a:ln>
        </p:spPr>
      </p:sp>
      <p:sp>
        <p:nvSpPr>
          <p:cNvPr id="11" name="Text 9"/>
          <p:cNvSpPr/>
          <p:nvPr/>
        </p:nvSpPr>
        <p:spPr>
          <a:xfrm>
            <a:off x="365760" y="13258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Kosten p.P.</a:t>
            </a:r>
            <a:endParaRPr lang="en-US" sz="1000" dirty="0"/>
          </a:p>
        </p:txBody>
      </p:sp>
      <p:sp>
        <p:nvSpPr>
          <p:cNvPr id="12" name="Shape 10"/>
          <p:cNvSpPr/>
          <p:nvPr/>
        </p:nvSpPr>
        <p:spPr>
          <a:xfrm>
            <a:off x="3429000" y="1325880"/>
            <a:ext cx="4160520" cy="457200"/>
          </a:xfrm>
          <a:prstGeom prst="rect">
            <a:avLst/>
          </a:prstGeom>
          <a:solidFill>
            <a:srgbClr val="16213E"/>
          </a:solidFill>
          <a:ln w="12700">
            <a:solidFill>
              <a:srgbClr val="0F3460"/>
            </a:solidFill>
            <a:prstDash val="solid"/>
          </a:ln>
        </p:spPr>
      </p:sp>
      <p:sp>
        <p:nvSpPr>
          <p:cNvPr id="13" name="Text 11"/>
          <p:cNvSpPr/>
          <p:nvPr/>
        </p:nvSpPr>
        <p:spPr>
          <a:xfrm>
            <a:off x="3520440" y="1325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~€735</a:t>
            </a:r>
            <a:endParaRPr lang="en-US" sz="1000" dirty="0"/>
          </a:p>
        </p:txBody>
      </p:sp>
      <p:sp>
        <p:nvSpPr>
          <p:cNvPr id="14" name="Shape 12"/>
          <p:cNvSpPr/>
          <p:nvPr/>
        </p:nvSpPr>
        <p:spPr>
          <a:xfrm>
            <a:off x="7680960" y="1325880"/>
            <a:ext cx="4160520" cy="457200"/>
          </a:xfrm>
          <a:prstGeom prst="rect">
            <a:avLst/>
          </a:prstGeom>
          <a:solidFill>
            <a:srgbClr val="16213E"/>
          </a:solidFill>
          <a:ln w="12700">
            <a:solidFill>
              <a:srgbClr val="0F3460"/>
            </a:solidFill>
            <a:prstDash val="solid"/>
          </a:ln>
        </p:spPr>
      </p:sp>
      <p:sp>
        <p:nvSpPr>
          <p:cNvPr id="15" name="Text 13"/>
          <p:cNvSpPr/>
          <p:nvPr/>
        </p:nvSpPr>
        <p:spPr>
          <a:xfrm>
            <a:off x="7772400" y="1325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~€631</a:t>
            </a:r>
            <a:endParaRPr lang="en-US" sz="1000" dirty="0"/>
          </a:p>
        </p:txBody>
      </p:sp>
      <p:sp>
        <p:nvSpPr>
          <p:cNvPr id="16" name="Shape 14"/>
          <p:cNvSpPr/>
          <p:nvPr/>
        </p:nvSpPr>
        <p:spPr>
          <a:xfrm>
            <a:off x="274320" y="1783080"/>
            <a:ext cx="3108960" cy="457200"/>
          </a:xfrm>
          <a:prstGeom prst="rect">
            <a:avLst/>
          </a:prstGeom>
          <a:solidFill>
            <a:srgbClr val="1A1A2E"/>
          </a:solidFill>
          <a:ln w="12700">
            <a:solidFill>
              <a:srgbClr val="0F3460"/>
            </a:solidFill>
            <a:prstDash val="solid"/>
          </a:ln>
        </p:spPr>
      </p:sp>
      <p:sp>
        <p:nvSpPr>
          <p:cNvPr id="17" name="Text 15"/>
          <p:cNvSpPr/>
          <p:nvPr/>
        </p:nvSpPr>
        <p:spPr>
          <a:xfrm>
            <a:off x="365760" y="17830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8" name="Shape 16"/>
          <p:cNvSpPr/>
          <p:nvPr/>
        </p:nvSpPr>
        <p:spPr>
          <a:xfrm>
            <a:off x="3429000" y="1783080"/>
            <a:ext cx="4160520" cy="457200"/>
          </a:xfrm>
          <a:prstGeom prst="rect">
            <a:avLst/>
          </a:prstGeom>
          <a:solidFill>
            <a:srgbClr val="1A1A2E"/>
          </a:solidFill>
          <a:ln w="12700">
            <a:solidFill>
              <a:srgbClr val="0F3460"/>
            </a:solidFill>
            <a:prstDash val="solid"/>
          </a:ln>
        </p:spPr>
      </p:sp>
      <p:sp>
        <p:nvSpPr>
          <p:cNvPr id="19" name="Text 17"/>
          <p:cNvSpPr/>
          <p:nvPr/>
        </p:nvSpPr>
        <p:spPr>
          <a:xfrm>
            <a:off x="3520440" y="1783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3h 10m  ab DUS</a:t>
            </a:r>
            <a:endParaRPr lang="en-US" sz="1000" dirty="0"/>
          </a:p>
        </p:txBody>
      </p:sp>
      <p:sp>
        <p:nvSpPr>
          <p:cNvPr id="20" name="Shape 18"/>
          <p:cNvSpPr/>
          <p:nvPr/>
        </p:nvSpPr>
        <p:spPr>
          <a:xfrm>
            <a:off x="7680960" y="1783080"/>
            <a:ext cx="4160520" cy="457200"/>
          </a:xfrm>
          <a:prstGeom prst="rect">
            <a:avLst/>
          </a:prstGeom>
          <a:solidFill>
            <a:srgbClr val="1A1A2E"/>
          </a:solidFill>
          <a:ln w="12700">
            <a:solidFill>
              <a:srgbClr val="0F3460"/>
            </a:solidFill>
            <a:prstDash val="solid"/>
          </a:ln>
        </p:spPr>
      </p:sp>
      <p:sp>
        <p:nvSpPr>
          <p:cNvPr id="21" name="Text 19"/>
          <p:cNvSpPr/>
          <p:nvPr/>
        </p:nvSpPr>
        <p:spPr>
          <a:xfrm>
            <a:off x="7772400" y="1783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~3h 00m  ab DUS</a:t>
            </a:r>
            <a:endParaRPr lang="en-US" sz="1000" dirty="0"/>
          </a:p>
        </p:txBody>
      </p:sp>
      <p:sp>
        <p:nvSpPr>
          <p:cNvPr id="22" name="Shape 20"/>
          <p:cNvSpPr/>
          <p:nvPr/>
        </p:nvSpPr>
        <p:spPr>
          <a:xfrm>
            <a:off x="274320" y="2240280"/>
            <a:ext cx="3108960" cy="457200"/>
          </a:xfrm>
          <a:prstGeom prst="rect">
            <a:avLst/>
          </a:prstGeom>
          <a:solidFill>
            <a:srgbClr val="16213E"/>
          </a:solidFill>
          <a:ln w="12700">
            <a:solidFill>
              <a:srgbClr val="0F3460"/>
            </a:solidFill>
            <a:prstDash val="solid"/>
          </a:ln>
        </p:spPr>
      </p:sp>
      <p:sp>
        <p:nvSpPr>
          <p:cNvPr id="23" name="Text 21"/>
          <p:cNvSpPr/>
          <p:nvPr/>
        </p:nvSpPr>
        <p:spPr>
          <a:xfrm>
            <a:off x="365760" y="22402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Flughafen</a:t>
            </a:r>
            <a:endParaRPr lang="en-US" sz="1000" dirty="0"/>
          </a:p>
        </p:txBody>
      </p:sp>
      <p:sp>
        <p:nvSpPr>
          <p:cNvPr id="24" name="Shape 22"/>
          <p:cNvSpPr/>
          <p:nvPr/>
        </p:nvSpPr>
        <p:spPr>
          <a:xfrm>
            <a:off x="3429000" y="2240280"/>
            <a:ext cx="4160520" cy="457200"/>
          </a:xfrm>
          <a:prstGeom prst="rect">
            <a:avLst/>
          </a:prstGeom>
          <a:solidFill>
            <a:srgbClr val="16213E"/>
          </a:solidFill>
          <a:ln w="12700">
            <a:solidFill>
              <a:srgbClr val="0F3460"/>
            </a:solidFill>
            <a:prstDash val="solid"/>
          </a:ln>
        </p:spPr>
      </p:sp>
      <p:sp>
        <p:nvSpPr>
          <p:cNvPr id="25" name="Text 23"/>
          <p:cNvSpPr/>
          <p:nvPr/>
        </p:nvSpPr>
        <p:spPr>
          <a:xfrm>
            <a:off x="3520440" y="2240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DUS — Eurowings / TAP</a:t>
            </a:r>
            <a:endParaRPr lang="en-US" sz="1000" dirty="0"/>
          </a:p>
        </p:txBody>
      </p:sp>
      <p:sp>
        <p:nvSpPr>
          <p:cNvPr id="26" name="Shape 24"/>
          <p:cNvSpPr/>
          <p:nvPr/>
        </p:nvSpPr>
        <p:spPr>
          <a:xfrm>
            <a:off x="7680960" y="2240280"/>
            <a:ext cx="4160520" cy="457200"/>
          </a:xfrm>
          <a:prstGeom prst="rect">
            <a:avLst/>
          </a:prstGeom>
          <a:solidFill>
            <a:srgbClr val="16213E"/>
          </a:solidFill>
          <a:ln w="12700">
            <a:solidFill>
              <a:srgbClr val="0F3460"/>
            </a:solidFill>
            <a:prstDash val="solid"/>
          </a:ln>
        </p:spPr>
      </p:sp>
      <p:sp>
        <p:nvSpPr>
          <p:cNvPr id="27" name="Text 25"/>
          <p:cNvSpPr/>
          <p:nvPr/>
        </p:nvSpPr>
        <p:spPr>
          <a:xfrm>
            <a:off x="7772400" y="2240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DUS — Eurowings / Ryanair</a:t>
            </a:r>
            <a:endParaRPr lang="en-US" sz="1000" dirty="0"/>
          </a:p>
        </p:txBody>
      </p:sp>
      <p:sp>
        <p:nvSpPr>
          <p:cNvPr id="28" name="Shape 26"/>
          <p:cNvSpPr/>
          <p:nvPr/>
        </p:nvSpPr>
        <p:spPr>
          <a:xfrm>
            <a:off x="274320" y="2697480"/>
            <a:ext cx="3108960" cy="457200"/>
          </a:xfrm>
          <a:prstGeom prst="rect">
            <a:avLst/>
          </a:prstGeom>
          <a:solidFill>
            <a:srgbClr val="1A1A2E"/>
          </a:solidFill>
          <a:ln w="12700">
            <a:solidFill>
              <a:srgbClr val="0F3460"/>
            </a:solidFill>
            <a:prstDash val="solid"/>
          </a:ln>
        </p:spPr>
      </p:sp>
      <p:sp>
        <p:nvSpPr>
          <p:cNvPr id="29" name="Text 27"/>
          <p:cNvSpPr/>
          <p:nvPr/>
        </p:nvSpPr>
        <p:spPr>
          <a:xfrm>
            <a:off x="365760" y="26974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Bierpreis</a:t>
            </a:r>
            <a:endParaRPr lang="en-US" sz="1000" dirty="0"/>
          </a:p>
        </p:txBody>
      </p:sp>
      <p:sp>
        <p:nvSpPr>
          <p:cNvPr id="30" name="Shape 28"/>
          <p:cNvSpPr/>
          <p:nvPr/>
        </p:nvSpPr>
        <p:spPr>
          <a:xfrm>
            <a:off x="3429000" y="2697480"/>
            <a:ext cx="4160520" cy="457200"/>
          </a:xfrm>
          <a:prstGeom prst="rect">
            <a:avLst/>
          </a:prstGeom>
          <a:solidFill>
            <a:srgbClr val="1A1A2E"/>
          </a:solidFill>
          <a:ln w="12700">
            <a:solidFill>
              <a:srgbClr val="0F3460"/>
            </a:solidFill>
            <a:prstDash val="solid"/>
          </a:ln>
        </p:spPr>
      </p:sp>
      <p:sp>
        <p:nvSpPr>
          <p:cNvPr id="31" name="Text 29"/>
          <p:cNvSpPr/>
          <p:nvPr/>
        </p:nvSpPr>
        <p:spPr>
          <a:xfrm>
            <a:off x="3520440" y="2697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€2–3  (Super Bock / Sagres)</a:t>
            </a:r>
            <a:endParaRPr lang="en-US" sz="1000" dirty="0"/>
          </a:p>
        </p:txBody>
      </p:sp>
      <p:sp>
        <p:nvSpPr>
          <p:cNvPr id="32" name="Shape 30"/>
          <p:cNvSpPr/>
          <p:nvPr/>
        </p:nvSpPr>
        <p:spPr>
          <a:xfrm>
            <a:off x="7680960" y="2697480"/>
            <a:ext cx="4160520" cy="457200"/>
          </a:xfrm>
          <a:prstGeom prst="rect">
            <a:avLst/>
          </a:prstGeom>
          <a:solidFill>
            <a:srgbClr val="1A1A2E"/>
          </a:solidFill>
          <a:ln w="12700">
            <a:solidFill>
              <a:srgbClr val="0F3460"/>
            </a:solidFill>
            <a:prstDash val="solid"/>
          </a:ln>
        </p:spPr>
      </p:sp>
      <p:sp>
        <p:nvSpPr>
          <p:cNvPr id="33" name="Text 31"/>
          <p:cNvSpPr/>
          <p:nvPr/>
        </p:nvSpPr>
        <p:spPr>
          <a:xfrm>
            <a:off x="7772400" y="2697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€2–3  (Cisk Lager, seit 1928)</a:t>
            </a:r>
            <a:endParaRPr lang="en-US" sz="1000" dirty="0"/>
          </a:p>
        </p:txBody>
      </p:sp>
      <p:sp>
        <p:nvSpPr>
          <p:cNvPr id="34" name="Shape 32"/>
          <p:cNvSpPr/>
          <p:nvPr/>
        </p:nvSpPr>
        <p:spPr>
          <a:xfrm>
            <a:off x="274320" y="3154680"/>
            <a:ext cx="3108960" cy="457200"/>
          </a:xfrm>
          <a:prstGeom prst="rect">
            <a:avLst/>
          </a:prstGeom>
          <a:solidFill>
            <a:srgbClr val="16213E"/>
          </a:solidFill>
          <a:ln w="12700">
            <a:solidFill>
              <a:srgbClr val="0F3460"/>
            </a:solidFill>
            <a:prstDash val="solid"/>
          </a:ln>
        </p:spPr>
      </p:sp>
      <p:sp>
        <p:nvSpPr>
          <p:cNvPr id="35" name="Text 33"/>
          <p:cNvSpPr/>
          <p:nvPr/>
        </p:nvSpPr>
        <p:spPr>
          <a:xfrm>
            <a:off x="365760" y="31546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Wetter Ende Okt.</a:t>
            </a:r>
            <a:endParaRPr lang="en-US" sz="1000" dirty="0"/>
          </a:p>
        </p:txBody>
      </p:sp>
      <p:sp>
        <p:nvSpPr>
          <p:cNvPr id="36" name="Shape 34"/>
          <p:cNvSpPr/>
          <p:nvPr/>
        </p:nvSpPr>
        <p:spPr>
          <a:xfrm>
            <a:off x="3429000" y="3154680"/>
            <a:ext cx="4160520" cy="457200"/>
          </a:xfrm>
          <a:prstGeom prst="rect">
            <a:avLst/>
          </a:prstGeom>
          <a:solidFill>
            <a:srgbClr val="16213E"/>
          </a:solidFill>
          <a:ln w="12700">
            <a:solidFill>
              <a:srgbClr val="0F3460"/>
            </a:solidFill>
            <a:prstDash val="solid"/>
          </a:ln>
        </p:spPr>
      </p:sp>
      <p:sp>
        <p:nvSpPr>
          <p:cNvPr id="37" name="Text 35"/>
          <p:cNvSpPr/>
          <p:nvPr/>
        </p:nvSpPr>
        <p:spPr>
          <a:xfrm>
            <a:off x="3520440" y="3154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17–22°C  ☀</a:t>
            </a:r>
            <a:endParaRPr lang="en-US" sz="1000" dirty="0"/>
          </a:p>
        </p:txBody>
      </p:sp>
      <p:sp>
        <p:nvSpPr>
          <p:cNvPr id="38" name="Shape 36"/>
          <p:cNvSpPr/>
          <p:nvPr/>
        </p:nvSpPr>
        <p:spPr>
          <a:xfrm>
            <a:off x="7680960" y="3154680"/>
            <a:ext cx="4160520" cy="457200"/>
          </a:xfrm>
          <a:prstGeom prst="rect">
            <a:avLst/>
          </a:prstGeom>
          <a:solidFill>
            <a:srgbClr val="16213E"/>
          </a:solidFill>
          <a:ln w="12700">
            <a:solidFill>
              <a:srgbClr val="0F3460"/>
            </a:solidFill>
            <a:prstDash val="solid"/>
          </a:ln>
        </p:spPr>
      </p:sp>
      <p:sp>
        <p:nvSpPr>
          <p:cNvPr id="39" name="Text 37"/>
          <p:cNvSpPr/>
          <p:nvPr/>
        </p:nvSpPr>
        <p:spPr>
          <a:xfrm>
            <a:off x="7772400" y="3154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22–24°C  ☀☀  (wärmer!)</a:t>
            </a:r>
            <a:endParaRPr lang="en-US" sz="1000" dirty="0"/>
          </a:p>
        </p:txBody>
      </p:sp>
      <p:sp>
        <p:nvSpPr>
          <p:cNvPr id="40" name="Shape 38"/>
          <p:cNvSpPr/>
          <p:nvPr/>
        </p:nvSpPr>
        <p:spPr>
          <a:xfrm>
            <a:off x="274320" y="3611880"/>
            <a:ext cx="3108960" cy="457200"/>
          </a:xfrm>
          <a:prstGeom prst="rect">
            <a:avLst/>
          </a:prstGeom>
          <a:solidFill>
            <a:srgbClr val="1A1A2E"/>
          </a:solidFill>
          <a:ln w="12700">
            <a:solidFill>
              <a:srgbClr val="0F3460"/>
            </a:solidFill>
            <a:prstDash val="solid"/>
          </a:ln>
        </p:spPr>
      </p:sp>
      <p:sp>
        <p:nvSpPr>
          <p:cNvPr id="41" name="Text 39"/>
          <p:cNvSpPr/>
          <p:nvPr/>
        </p:nvSpPr>
        <p:spPr>
          <a:xfrm>
            <a:off x="365760" y="36118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Halloween</a:t>
            </a:r>
            <a:endParaRPr lang="en-US" sz="1000" dirty="0"/>
          </a:p>
        </p:txBody>
      </p:sp>
      <p:sp>
        <p:nvSpPr>
          <p:cNvPr id="42" name="Shape 40"/>
          <p:cNvSpPr/>
          <p:nvPr/>
        </p:nvSpPr>
        <p:spPr>
          <a:xfrm>
            <a:off x="3429000" y="3611880"/>
            <a:ext cx="4160520" cy="457200"/>
          </a:xfrm>
          <a:prstGeom prst="rect">
            <a:avLst/>
          </a:prstGeom>
          <a:solidFill>
            <a:srgbClr val="1A1A2E"/>
          </a:solidFill>
          <a:ln w="12700">
            <a:solidFill>
              <a:srgbClr val="0F3460"/>
            </a:solidFill>
            <a:prstDash val="solid"/>
          </a:ln>
        </p:spPr>
      </p:sp>
      <p:sp>
        <p:nvSpPr>
          <p:cNvPr id="43" name="Text 41"/>
          <p:cNvSpPr/>
          <p:nvPr/>
        </p:nvSpPr>
        <p:spPr>
          <a:xfrm>
            <a:off x="3520440" y="3611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  Clubs bis 6 Uhr</a:t>
            </a:r>
            <a:endParaRPr lang="en-US" sz="1000" dirty="0"/>
          </a:p>
        </p:txBody>
      </p:sp>
      <p:sp>
        <p:nvSpPr>
          <p:cNvPr id="44" name="Shape 42"/>
          <p:cNvSpPr/>
          <p:nvPr/>
        </p:nvSpPr>
        <p:spPr>
          <a:xfrm>
            <a:off x="7680960" y="3611880"/>
            <a:ext cx="4160520" cy="457200"/>
          </a:xfrm>
          <a:prstGeom prst="rect">
            <a:avLst/>
          </a:prstGeom>
          <a:solidFill>
            <a:srgbClr val="1A1A2E"/>
          </a:solidFill>
          <a:ln w="12700">
            <a:solidFill>
              <a:srgbClr val="0F3460"/>
            </a:solidFill>
            <a:prstDash val="solid"/>
          </a:ln>
        </p:spPr>
      </p:sp>
      <p:sp>
        <p:nvSpPr>
          <p:cNvPr id="45" name="Text 43"/>
          <p:cNvSpPr/>
          <p:nvPr/>
        </p:nvSpPr>
        <p:spPr>
          <a:xfrm>
            <a:off x="7772400" y="3611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  Paceville bis 4 Uhr</a:t>
            </a:r>
            <a:endParaRPr lang="en-US" sz="1000" dirty="0"/>
          </a:p>
        </p:txBody>
      </p:sp>
      <p:sp>
        <p:nvSpPr>
          <p:cNvPr id="46" name="Shape 44"/>
          <p:cNvSpPr/>
          <p:nvPr/>
        </p:nvSpPr>
        <p:spPr>
          <a:xfrm>
            <a:off x="274320" y="4069080"/>
            <a:ext cx="3108960" cy="457200"/>
          </a:xfrm>
          <a:prstGeom prst="rect">
            <a:avLst/>
          </a:prstGeom>
          <a:solidFill>
            <a:srgbClr val="16213E"/>
          </a:solidFill>
          <a:ln w="12700">
            <a:solidFill>
              <a:srgbClr val="0F3460"/>
            </a:solidFill>
            <a:prstDash val="solid"/>
          </a:ln>
        </p:spPr>
      </p:sp>
      <p:sp>
        <p:nvSpPr>
          <p:cNvPr id="47" name="Text 45"/>
          <p:cNvSpPr/>
          <p:nvPr/>
        </p:nvSpPr>
        <p:spPr>
          <a:xfrm>
            <a:off x="365760" y="40690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Viertel</a:t>
            </a:r>
            <a:endParaRPr lang="en-US" sz="1000" dirty="0"/>
          </a:p>
        </p:txBody>
      </p:sp>
      <p:sp>
        <p:nvSpPr>
          <p:cNvPr id="48" name="Shape 46"/>
          <p:cNvSpPr/>
          <p:nvPr/>
        </p:nvSpPr>
        <p:spPr>
          <a:xfrm>
            <a:off x="3429000" y="4069080"/>
            <a:ext cx="4160520" cy="457200"/>
          </a:xfrm>
          <a:prstGeom prst="rect">
            <a:avLst/>
          </a:prstGeom>
          <a:solidFill>
            <a:srgbClr val="16213E"/>
          </a:solidFill>
          <a:ln w="12700">
            <a:solidFill>
              <a:srgbClr val="0F3460"/>
            </a:solidFill>
            <a:prstDash val="solid"/>
          </a:ln>
        </p:spPr>
      </p:sp>
      <p:sp>
        <p:nvSpPr>
          <p:cNvPr id="49" name="Text 47"/>
          <p:cNvSpPr/>
          <p:nvPr/>
        </p:nvSpPr>
        <p:spPr>
          <a:xfrm>
            <a:off x="3520440" y="4069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Bairro Alto · Pink Street</a:t>
            </a:r>
            <a:endParaRPr lang="en-US" sz="1000" dirty="0"/>
          </a:p>
        </p:txBody>
      </p:sp>
      <p:sp>
        <p:nvSpPr>
          <p:cNvPr id="50" name="Shape 48"/>
          <p:cNvSpPr/>
          <p:nvPr/>
        </p:nvSpPr>
        <p:spPr>
          <a:xfrm>
            <a:off x="7680960" y="4069080"/>
            <a:ext cx="4160520" cy="457200"/>
          </a:xfrm>
          <a:prstGeom prst="rect">
            <a:avLst/>
          </a:prstGeom>
          <a:solidFill>
            <a:srgbClr val="16213E"/>
          </a:solidFill>
          <a:ln w="12700">
            <a:solidFill>
              <a:srgbClr val="0F3460"/>
            </a:solidFill>
            <a:prstDash val="solid"/>
          </a:ln>
        </p:spPr>
      </p:sp>
      <p:sp>
        <p:nvSpPr>
          <p:cNvPr id="51" name="Text 49"/>
          <p:cNvSpPr/>
          <p:nvPr/>
        </p:nvSpPr>
        <p:spPr>
          <a:xfrm>
            <a:off x="7772400" y="4069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Paceville · St. Julian's</a:t>
            </a:r>
            <a:endParaRPr lang="en-US" sz="1000" dirty="0"/>
          </a:p>
        </p:txBody>
      </p:sp>
      <p:sp>
        <p:nvSpPr>
          <p:cNvPr id="52" name="Shape 50"/>
          <p:cNvSpPr/>
          <p:nvPr/>
        </p:nvSpPr>
        <p:spPr>
          <a:xfrm>
            <a:off x="274320" y="4526280"/>
            <a:ext cx="3108960" cy="457200"/>
          </a:xfrm>
          <a:prstGeom prst="rect">
            <a:avLst/>
          </a:prstGeom>
          <a:solidFill>
            <a:srgbClr val="1A1A2E"/>
          </a:solidFill>
          <a:ln w="12700">
            <a:solidFill>
              <a:srgbClr val="0F3460"/>
            </a:solidFill>
            <a:prstDash val="solid"/>
          </a:ln>
        </p:spPr>
      </p:sp>
      <p:sp>
        <p:nvSpPr>
          <p:cNvPr id="53" name="Text 51"/>
          <p:cNvSpPr/>
          <p:nvPr/>
        </p:nvSpPr>
        <p:spPr>
          <a:xfrm>
            <a:off x="365760" y="45262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Highlight</a:t>
            </a:r>
            <a:endParaRPr lang="en-US" sz="1000" dirty="0"/>
          </a:p>
        </p:txBody>
      </p:sp>
      <p:sp>
        <p:nvSpPr>
          <p:cNvPr id="54" name="Shape 52"/>
          <p:cNvSpPr/>
          <p:nvPr/>
        </p:nvSpPr>
        <p:spPr>
          <a:xfrm>
            <a:off x="3429000" y="4526280"/>
            <a:ext cx="4160520" cy="457200"/>
          </a:xfrm>
          <a:prstGeom prst="rect">
            <a:avLst/>
          </a:prstGeom>
          <a:solidFill>
            <a:srgbClr val="1A1A2E"/>
          </a:solidFill>
          <a:ln w="12700">
            <a:solidFill>
              <a:srgbClr val="0F3460"/>
            </a:solidFill>
            <a:prstDash val="solid"/>
          </a:ln>
        </p:spPr>
      </p:sp>
      <p:sp>
        <p:nvSpPr>
          <p:cNvPr id="55" name="Text 53"/>
          <p:cNvSpPr/>
          <p:nvPr/>
        </p:nvSpPr>
        <p:spPr>
          <a:xfrm>
            <a:off x="3520440" y="4526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Fado · Atlantik-Charme</a:t>
            </a:r>
            <a:endParaRPr lang="en-US" sz="1000" dirty="0"/>
          </a:p>
        </p:txBody>
      </p:sp>
      <p:sp>
        <p:nvSpPr>
          <p:cNvPr id="56" name="Shape 54"/>
          <p:cNvSpPr/>
          <p:nvPr/>
        </p:nvSpPr>
        <p:spPr>
          <a:xfrm>
            <a:off x="7680960" y="4526280"/>
            <a:ext cx="4160520" cy="457200"/>
          </a:xfrm>
          <a:prstGeom prst="rect">
            <a:avLst/>
          </a:prstGeom>
          <a:solidFill>
            <a:srgbClr val="1A1A2E"/>
          </a:solidFill>
          <a:ln w="12700">
            <a:solidFill>
              <a:srgbClr val="0F3460"/>
            </a:solidFill>
            <a:prstDash val="solid"/>
          </a:ln>
        </p:spPr>
      </p:sp>
      <p:sp>
        <p:nvSpPr>
          <p:cNvPr id="57" name="Text 55"/>
          <p:cNvSpPr/>
          <p:nvPr/>
        </p:nvSpPr>
        <p:spPr>
          <a:xfrm>
            <a:off x="7772400" y="4526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Blaue Lagune · Schwimmen!</a:t>
            </a:r>
            <a:endParaRPr lang="en-US" sz="1000" dirty="0"/>
          </a:p>
        </p:txBody>
      </p:sp>
      <p:sp>
        <p:nvSpPr>
          <p:cNvPr id="58" name="Shape 56"/>
          <p:cNvSpPr/>
          <p:nvPr/>
        </p:nvSpPr>
        <p:spPr>
          <a:xfrm>
            <a:off x="274320" y="4983480"/>
            <a:ext cx="3108960" cy="457200"/>
          </a:xfrm>
          <a:prstGeom prst="rect">
            <a:avLst/>
          </a:prstGeom>
          <a:solidFill>
            <a:srgbClr val="16213E"/>
          </a:solidFill>
          <a:ln w="12700">
            <a:solidFill>
              <a:srgbClr val="0F3460"/>
            </a:solidFill>
            <a:prstDash val="solid"/>
          </a:ln>
        </p:spPr>
      </p:sp>
      <p:sp>
        <p:nvSpPr>
          <p:cNvPr id="59" name="Text 57"/>
          <p:cNvSpPr/>
          <p:nvPr/>
        </p:nvSpPr>
        <p:spPr>
          <a:xfrm>
            <a:off x="365760" y="49834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Kochkurs</a:t>
            </a:r>
            <a:endParaRPr lang="en-US" sz="1000" dirty="0"/>
          </a:p>
        </p:txBody>
      </p:sp>
      <p:sp>
        <p:nvSpPr>
          <p:cNvPr id="60" name="Shape 58"/>
          <p:cNvSpPr/>
          <p:nvPr/>
        </p:nvSpPr>
        <p:spPr>
          <a:xfrm>
            <a:off x="3429000" y="4983480"/>
            <a:ext cx="4160520" cy="457200"/>
          </a:xfrm>
          <a:prstGeom prst="rect">
            <a:avLst/>
          </a:prstGeom>
          <a:solidFill>
            <a:srgbClr val="16213E"/>
          </a:solidFill>
          <a:ln w="12700">
            <a:solidFill>
              <a:srgbClr val="0F3460"/>
            </a:solidFill>
            <a:prstDash val="solid"/>
          </a:ln>
        </p:spPr>
      </p:sp>
      <p:sp>
        <p:nvSpPr>
          <p:cNvPr id="61" name="Text 59"/>
          <p:cNvSpPr/>
          <p:nvPr/>
        </p:nvSpPr>
        <p:spPr>
          <a:xfrm>
            <a:off x="3520440" y="4983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€110 p.P.</a:t>
            </a:r>
            <a:endParaRPr lang="en-US" sz="1000" dirty="0"/>
          </a:p>
        </p:txBody>
      </p:sp>
      <p:sp>
        <p:nvSpPr>
          <p:cNvPr id="62" name="Shape 60"/>
          <p:cNvSpPr/>
          <p:nvPr/>
        </p:nvSpPr>
        <p:spPr>
          <a:xfrm>
            <a:off x="7680960" y="4983480"/>
            <a:ext cx="4160520" cy="457200"/>
          </a:xfrm>
          <a:prstGeom prst="rect">
            <a:avLst/>
          </a:prstGeom>
          <a:solidFill>
            <a:srgbClr val="16213E"/>
          </a:solidFill>
          <a:ln w="12700">
            <a:solidFill>
              <a:srgbClr val="0F3460"/>
            </a:solidFill>
            <a:prstDash val="solid"/>
          </a:ln>
        </p:spPr>
      </p:sp>
      <p:sp>
        <p:nvSpPr>
          <p:cNvPr id="63" name="Text 61"/>
          <p:cNvSpPr/>
          <p:nvPr/>
        </p:nvSpPr>
        <p:spPr>
          <a:xfrm>
            <a:off x="7772400" y="4983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€65 p.P.</a:t>
            </a:r>
            <a:endParaRPr lang="en-US" sz="1000" dirty="0"/>
          </a:p>
        </p:txBody>
      </p:sp>
      <p:sp>
        <p:nvSpPr>
          <p:cNvPr id="64" name="Shape 62"/>
          <p:cNvSpPr/>
          <p:nvPr/>
        </p:nvSpPr>
        <p:spPr>
          <a:xfrm>
            <a:off x="274320" y="5440680"/>
            <a:ext cx="3108960" cy="457200"/>
          </a:xfrm>
          <a:prstGeom prst="rect">
            <a:avLst/>
          </a:prstGeom>
          <a:solidFill>
            <a:srgbClr val="1A1A2E"/>
          </a:solidFill>
          <a:ln w="12700">
            <a:solidFill>
              <a:srgbClr val="0F3460"/>
            </a:solidFill>
            <a:prstDash val="solid"/>
          </a:ln>
        </p:spPr>
      </p:sp>
      <p:sp>
        <p:nvSpPr>
          <p:cNvPr id="65" name="Text 63"/>
          <p:cNvSpPr/>
          <p:nvPr/>
        </p:nvSpPr>
        <p:spPr>
          <a:xfrm>
            <a:off x="365760" y="54406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Unterkunft p.P.</a:t>
            </a:r>
            <a:endParaRPr lang="en-US" sz="1000" dirty="0"/>
          </a:p>
        </p:txBody>
      </p:sp>
      <p:sp>
        <p:nvSpPr>
          <p:cNvPr id="66" name="Shape 64"/>
          <p:cNvSpPr/>
          <p:nvPr/>
        </p:nvSpPr>
        <p:spPr>
          <a:xfrm>
            <a:off x="3429000" y="5440680"/>
            <a:ext cx="4160520" cy="457200"/>
          </a:xfrm>
          <a:prstGeom prst="rect">
            <a:avLst/>
          </a:prstGeom>
          <a:solidFill>
            <a:srgbClr val="1A1A2E"/>
          </a:solidFill>
          <a:ln w="12700">
            <a:solidFill>
              <a:srgbClr val="0F3460"/>
            </a:solidFill>
            <a:prstDash val="solid"/>
          </a:ln>
        </p:spPr>
      </p:sp>
      <p:sp>
        <p:nvSpPr>
          <p:cNvPr id="67" name="Text 65"/>
          <p:cNvSpPr/>
          <p:nvPr/>
        </p:nvSpPr>
        <p:spPr>
          <a:xfrm>
            <a:off x="3520440" y="5440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~€113–120</a:t>
            </a:r>
            <a:endParaRPr lang="en-US" sz="1000" dirty="0"/>
          </a:p>
        </p:txBody>
      </p:sp>
      <p:sp>
        <p:nvSpPr>
          <p:cNvPr id="68" name="Shape 66"/>
          <p:cNvSpPr/>
          <p:nvPr/>
        </p:nvSpPr>
        <p:spPr>
          <a:xfrm>
            <a:off x="7680960" y="5440680"/>
            <a:ext cx="4160520" cy="457200"/>
          </a:xfrm>
          <a:prstGeom prst="rect">
            <a:avLst/>
          </a:prstGeom>
          <a:solidFill>
            <a:srgbClr val="1A1A2E"/>
          </a:solidFill>
          <a:ln w="12700">
            <a:solidFill>
              <a:srgbClr val="0F3460"/>
            </a:solidFill>
            <a:prstDash val="solid"/>
          </a:ln>
        </p:spPr>
      </p:sp>
      <p:sp>
        <p:nvSpPr>
          <p:cNvPr id="69" name="Text 67"/>
          <p:cNvSpPr/>
          <p:nvPr/>
        </p:nvSpPr>
        <p:spPr>
          <a:xfrm>
            <a:off x="7772400" y="5440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~€84–89</a:t>
            </a:r>
            <a:endParaRPr lang="en-US" sz="1000" dirty="0"/>
          </a:p>
        </p:txBody>
      </p:sp>
      <p:sp>
        <p:nvSpPr>
          <p:cNvPr id="70" name="Shape 68"/>
          <p:cNvSpPr/>
          <p:nvPr/>
        </p:nvSpPr>
        <p:spPr>
          <a:xfrm>
            <a:off x="274320" y="5897880"/>
            <a:ext cx="3108960" cy="457200"/>
          </a:xfrm>
          <a:prstGeom prst="rect">
            <a:avLst/>
          </a:prstGeom>
          <a:solidFill>
            <a:srgbClr val="0F3460"/>
          </a:solidFill>
          <a:ln w="12700">
            <a:solidFill>
              <a:srgbClr val="0F3460"/>
            </a:solidFill>
            <a:prstDash val="solid"/>
          </a:ln>
        </p:spPr>
      </p:sp>
      <p:sp>
        <p:nvSpPr>
          <p:cNvPr id="71" name="Text 69"/>
          <p:cNvSpPr/>
          <p:nvPr/>
        </p:nvSpPr>
        <p:spPr>
          <a:xfrm>
            <a:off x="365760" y="5897880"/>
            <a:ext cx="2971800" cy="457200"/>
          </a:xfrm>
          <a:prstGeom prst="rect">
            <a:avLst/>
          </a:prstGeom>
          <a:noFill/>
          <a:ln/>
        </p:spPr>
        <p:txBody>
          <a:bodyPr wrap="square" rtlCol="0" anchor="ctr"/>
          <a:lstStyle/>
          <a:p>
            <a:pPr indent="0" marL="0">
              <a:buNone/>
            </a:pPr>
            <a:r>
              <a:rPr lang="en-US" sz="1100" b="1" dirty="0">
                <a:solidFill>
                  <a:srgbClr val="FFC107"/>
                </a:solidFill>
                <a:latin typeface="Calibri" pitchFamily="34" charset="0"/>
                <a:ea typeface="Calibri" pitchFamily="34" charset="-122"/>
                <a:cs typeface="Calibri" pitchFamily="34" charset="-120"/>
              </a:rPr>
              <a:t>💡 Stärke</a:t>
            </a:r>
            <a:endParaRPr lang="en-US" sz="1100" dirty="0"/>
          </a:p>
        </p:txBody>
      </p:sp>
      <p:sp>
        <p:nvSpPr>
          <p:cNvPr id="72" name="Shape 70"/>
          <p:cNvSpPr/>
          <p:nvPr/>
        </p:nvSpPr>
        <p:spPr>
          <a:xfrm>
            <a:off x="3429000" y="5897880"/>
            <a:ext cx="4160520" cy="457200"/>
          </a:xfrm>
          <a:prstGeom prst="rect">
            <a:avLst/>
          </a:prstGeom>
          <a:solidFill>
            <a:srgbClr val="0F3460"/>
          </a:solidFill>
          <a:ln w="12700">
            <a:solidFill>
              <a:srgbClr val="FF8C00"/>
            </a:solidFill>
            <a:prstDash val="solid"/>
          </a:ln>
        </p:spPr>
      </p:sp>
      <p:sp>
        <p:nvSpPr>
          <p:cNvPr id="73" name="Text 71"/>
          <p:cNvSpPr/>
          <p:nvPr/>
        </p:nvSpPr>
        <p:spPr>
          <a:xfrm>
            <a:off x="3520440" y="5897880"/>
            <a:ext cx="3977640" cy="457200"/>
          </a:xfrm>
          <a:prstGeom prst="rect">
            <a:avLst/>
          </a:prstGeom>
          <a:noFill/>
          <a:ln/>
        </p:spPr>
        <p:txBody>
          <a:bodyPr wrap="square" rtlCol="0" anchor="ct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Nightlife-Weltklasse</a:t>
            </a:r>
            <a:endParaRPr lang="en-US" sz="1100" dirty="0"/>
          </a:p>
        </p:txBody>
      </p:sp>
      <p:sp>
        <p:nvSpPr>
          <p:cNvPr id="74" name="Shape 72"/>
          <p:cNvSpPr/>
          <p:nvPr/>
        </p:nvSpPr>
        <p:spPr>
          <a:xfrm>
            <a:off x="7680960" y="5897880"/>
            <a:ext cx="4160520" cy="457200"/>
          </a:xfrm>
          <a:prstGeom prst="rect">
            <a:avLst/>
          </a:prstGeom>
          <a:solidFill>
            <a:srgbClr val="0F3460"/>
          </a:solidFill>
          <a:ln w="12700">
            <a:solidFill>
              <a:srgbClr val="1EB4C8"/>
            </a:solidFill>
            <a:prstDash val="solid"/>
          </a:ln>
        </p:spPr>
      </p:sp>
      <p:sp>
        <p:nvSpPr>
          <p:cNvPr id="75" name="Text 73"/>
          <p:cNvSpPr/>
          <p:nvPr/>
        </p:nvSpPr>
        <p:spPr>
          <a:xfrm>
            <a:off x="7772400" y="5897880"/>
            <a:ext cx="3977640" cy="457200"/>
          </a:xfrm>
          <a:prstGeom prst="rect">
            <a:avLst/>
          </a:prstGeom>
          <a:noFill/>
          <a:ln/>
        </p:spPr>
        <p:txBody>
          <a:bodyPr wrap="square" rtlCol="0" anchor="ct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Wärme + Meer + Preis</a:t>
            </a:r>
            <a:endParaRPr lang="en-US" sz="1100" dirty="0"/>
          </a:p>
        </p:txBody>
      </p:sp>
      <p:sp>
        <p:nvSpPr>
          <p:cNvPr id="76" name="Shape 74"/>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TRIP HALL OF FAME — DIE LEGENDE WÄCHST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28600" y="932688"/>
            <a:ext cx="3291840" cy="2578608"/>
          </a:xfrm>
          <a:prstGeom prst="rect">
            <a:avLst/>
          </a:prstGeom>
          <a:solidFill>
            <a:srgbClr val="16213E"/>
          </a:solidFill>
          <a:ln w="12700">
            <a:solidFill>
              <a:srgbClr val="E8C85A"/>
            </a:solidFill>
            <a:prstDash val="solid"/>
          </a:ln>
        </p:spPr>
      </p:sp>
      <p:sp>
        <p:nvSpPr>
          <p:cNvPr id="7" name="Shape 5"/>
          <p:cNvSpPr/>
          <p:nvPr/>
        </p:nvSpPr>
        <p:spPr>
          <a:xfrm>
            <a:off x="228600" y="932688"/>
            <a:ext cx="3291840" cy="420624"/>
          </a:xfrm>
          <a:prstGeom prst="rect">
            <a:avLst/>
          </a:prstGeom>
          <a:solidFill>
            <a:srgbClr val="0F3460"/>
          </a:solidFill>
          <a:ln w="12700">
            <a:solidFill>
              <a:srgbClr val="0F3460"/>
            </a:solidFill>
            <a:prstDash val="solid"/>
          </a:ln>
        </p:spPr>
      </p:sp>
      <p:sp>
        <p:nvSpPr>
          <p:cNvPr id="8" name="Text 6"/>
          <p:cNvSpPr/>
          <p:nvPr/>
        </p:nvSpPr>
        <p:spPr>
          <a:xfrm>
            <a:off x="228600" y="932688"/>
            <a:ext cx="3291840" cy="420624"/>
          </a:xfrm>
          <a:prstGeom prst="rect">
            <a:avLst/>
          </a:prstGeom>
          <a:noFill/>
          <a:ln/>
        </p:spPr>
        <p:txBody>
          <a:bodyPr wrap="square" rtlCol="0" anchor="ctr"/>
          <a:lstStyle/>
          <a:p>
            <a:pPr algn="ctr" indent="0" marL="0">
              <a:buNone/>
            </a:pPr>
            <a:r>
              <a:rPr lang="en-US" sz="1700" b="1" dirty="0">
                <a:solidFill>
                  <a:srgbClr val="E8C85A"/>
                </a:solidFill>
                <a:latin typeface="Trebuchet MS" pitchFamily="34" charset="0"/>
                <a:ea typeface="Trebuchet MS" pitchFamily="34" charset="-122"/>
                <a:cs typeface="Trebuchet MS" pitchFamily="34" charset="-120"/>
              </a:rPr>
              <a:t>🇱🇻  2021</a:t>
            </a:r>
            <a:endParaRPr lang="en-US" sz="1700" dirty="0"/>
          </a:p>
        </p:txBody>
      </p:sp>
      <p:sp>
        <p:nvSpPr>
          <p:cNvPr id="9" name="Text 7"/>
          <p:cNvSpPr/>
          <p:nvPr/>
        </p:nvSpPr>
        <p:spPr>
          <a:xfrm>
            <a:off x="228600" y="13898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RIGA</a:t>
            </a:r>
            <a:endParaRPr lang="en-US" sz="1500" dirty="0"/>
          </a:p>
        </p:txBody>
      </p:sp>
      <p:sp>
        <p:nvSpPr>
          <p:cNvPr id="10" name="Shape 8"/>
          <p:cNvSpPr/>
          <p:nvPr/>
        </p:nvSpPr>
        <p:spPr>
          <a:xfrm>
            <a:off x="365760" y="1810512"/>
            <a:ext cx="3017520" cy="22860"/>
          </a:xfrm>
          <a:prstGeom prst="rect">
            <a:avLst/>
          </a:prstGeom>
          <a:solidFill>
            <a:srgbClr val="E8C85A"/>
          </a:solidFill>
          <a:ln w="12700">
            <a:solidFill>
              <a:srgbClr val="E8C85A"/>
            </a:solidFill>
            <a:prstDash val="solid"/>
          </a:ln>
        </p:spPr>
      </p:sp>
      <p:sp>
        <p:nvSpPr>
          <p:cNvPr id="11" name="Text 9"/>
          <p:cNvSpPr/>
          <p:nvPr/>
        </p:nvSpPr>
        <p:spPr>
          <a:xfrm>
            <a:off x="320040" y="18470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Bier: €0,80 — ewiger Rekord</a:t>
            </a:r>
            <a:endParaRPr lang="en-US" sz="950" dirty="0"/>
          </a:p>
        </p:txBody>
      </p:sp>
      <p:sp>
        <p:nvSpPr>
          <p:cNvPr id="12" name="Text 10"/>
          <p:cNvSpPr/>
          <p:nvPr/>
        </p:nvSpPr>
        <p:spPr>
          <a:xfrm>
            <a:off x="320040" y="23591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Clubs bis 7 Uhr morgens</a:t>
            </a:r>
            <a:endParaRPr lang="en-US" sz="950" dirty="0"/>
          </a:p>
        </p:txBody>
      </p:sp>
      <p:sp>
        <p:nvSpPr>
          <p:cNvPr id="13" name="Text 11"/>
          <p:cNvSpPr/>
          <p:nvPr/>
        </p:nvSpPr>
        <p:spPr>
          <a:xfrm>
            <a:off x="320040" y="2871216"/>
            <a:ext cx="3108960" cy="475488"/>
          </a:xfrm>
          <a:prstGeom prst="rect">
            <a:avLst/>
          </a:prstGeom>
          <a:noFill/>
          <a:ln/>
        </p:spPr>
        <p:txBody>
          <a:bodyPr wrap="square" rtlCol="0" anchor="t"/>
          <a:lstStyle/>
          <a:p>
            <a:pPr indent="0" marL="0">
              <a:buNone/>
            </a:pPr>
            <a:r>
              <a:rPr lang="en-US" sz="950" b="1" dirty="0">
                <a:solidFill>
                  <a:srgbClr val="E8C85A"/>
                </a:solidFill>
                <a:latin typeface="Calibri" pitchFamily="34" charset="0"/>
                <a:ea typeface="Calibri" pitchFamily="34" charset="-122"/>
                <a:cs typeface="Calibri" pitchFamily="34" charset="-120"/>
              </a:rPr>
              <a:t>🏆 Günstigster Trip aller Zeiten</a:t>
            </a:r>
            <a:endParaRPr lang="en-US" sz="950" dirty="0"/>
          </a:p>
        </p:txBody>
      </p:sp>
      <p:sp>
        <p:nvSpPr>
          <p:cNvPr id="14" name="Shape 12"/>
          <p:cNvSpPr/>
          <p:nvPr/>
        </p:nvSpPr>
        <p:spPr>
          <a:xfrm>
            <a:off x="3703320" y="932688"/>
            <a:ext cx="3291840" cy="2578608"/>
          </a:xfrm>
          <a:prstGeom prst="rect">
            <a:avLst/>
          </a:prstGeom>
          <a:solidFill>
            <a:srgbClr val="16213E"/>
          </a:solidFill>
          <a:ln w="12700">
            <a:solidFill>
              <a:srgbClr val="5A8FE8"/>
            </a:solidFill>
            <a:prstDash val="solid"/>
          </a:ln>
        </p:spPr>
      </p:sp>
      <p:sp>
        <p:nvSpPr>
          <p:cNvPr id="15" name="Shape 13"/>
          <p:cNvSpPr/>
          <p:nvPr/>
        </p:nvSpPr>
        <p:spPr>
          <a:xfrm>
            <a:off x="3703320" y="932688"/>
            <a:ext cx="3291840" cy="420624"/>
          </a:xfrm>
          <a:prstGeom prst="rect">
            <a:avLst/>
          </a:prstGeom>
          <a:solidFill>
            <a:srgbClr val="0F3460"/>
          </a:solidFill>
          <a:ln w="12700">
            <a:solidFill>
              <a:srgbClr val="0F3460"/>
            </a:solidFill>
            <a:prstDash val="solid"/>
          </a:ln>
        </p:spPr>
      </p:sp>
      <p:sp>
        <p:nvSpPr>
          <p:cNvPr id="16" name="Text 14"/>
          <p:cNvSpPr/>
          <p:nvPr/>
        </p:nvSpPr>
        <p:spPr>
          <a:xfrm>
            <a:off x="3703320" y="932688"/>
            <a:ext cx="3291840" cy="420624"/>
          </a:xfrm>
          <a:prstGeom prst="rect">
            <a:avLst/>
          </a:prstGeom>
          <a:noFill/>
          <a:ln/>
        </p:spPr>
        <p:txBody>
          <a:bodyPr wrap="square" rtlCol="0" anchor="ctr"/>
          <a:lstStyle/>
          <a:p>
            <a:pPr algn="ctr" indent="0" marL="0">
              <a:buNone/>
            </a:pPr>
            <a:r>
              <a:rPr lang="en-US" sz="1700" b="1" dirty="0">
                <a:solidFill>
                  <a:srgbClr val="5A8FE8"/>
                </a:solidFill>
                <a:latin typeface="Trebuchet MS" pitchFamily="34" charset="0"/>
                <a:ea typeface="Trebuchet MS" pitchFamily="34" charset="-122"/>
                <a:cs typeface="Trebuchet MS" pitchFamily="34" charset="-120"/>
              </a:rPr>
              <a:t>🇬🇷  2022</a:t>
            </a:r>
            <a:endParaRPr lang="en-US" sz="1700" dirty="0"/>
          </a:p>
        </p:txBody>
      </p:sp>
      <p:sp>
        <p:nvSpPr>
          <p:cNvPr id="17" name="Text 15"/>
          <p:cNvSpPr/>
          <p:nvPr/>
        </p:nvSpPr>
        <p:spPr>
          <a:xfrm>
            <a:off x="3703320" y="13898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ATHEN</a:t>
            </a:r>
            <a:endParaRPr lang="en-US" sz="1500" dirty="0"/>
          </a:p>
        </p:txBody>
      </p:sp>
      <p:sp>
        <p:nvSpPr>
          <p:cNvPr id="18" name="Shape 16"/>
          <p:cNvSpPr/>
          <p:nvPr/>
        </p:nvSpPr>
        <p:spPr>
          <a:xfrm>
            <a:off x="3840480" y="1810512"/>
            <a:ext cx="3017520" cy="22860"/>
          </a:xfrm>
          <a:prstGeom prst="rect">
            <a:avLst/>
          </a:prstGeom>
          <a:solidFill>
            <a:srgbClr val="5A8FE8"/>
          </a:solidFill>
          <a:ln w="12700">
            <a:solidFill>
              <a:srgbClr val="5A8FE8"/>
            </a:solidFill>
            <a:prstDash val="solid"/>
          </a:ln>
        </p:spPr>
      </p:sp>
      <p:sp>
        <p:nvSpPr>
          <p:cNvPr id="19" name="Text 17"/>
          <p:cNvSpPr/>
          <p:nvPr/>
        </p:nvSpPr>
        <p:spPr>
          <a:xfrm>
            <a:off x="3794760" y="18470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Dachbar mit Akropolis-Blick</a:t>
            </a:r>
            <a:endParaRPr lang="en-US" sz="950" dirty="0"/>
          </a:p>
        </p:txBody>
      </p:sp>
      <p:sp>
        <p:nvSpPr>
          <p:cNvPr id="20" name="Text 18"/>
          <p:cNvSpPr/>
          <p:nvPr/>
        </p:nvSpPr>
        <p:spPr>
          <a:xfrm>
            <a:off x="3794760" y="23591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Ouzo-Entscheidung: bereut</a:t>
            </a:r>
            <a:endParaRPr lang="en-US" sz="950" dirty="0"/>
          </a:p>
        </p:txBody>
      </p:sp>
      <p:sp>
        <p:nvSpPr>
          <p:cNvPr id="21" name="Text 19"/>
          <p:cNvSpPr/>
          <p:nvPr/>
        </p:nvSpPr>
        <p:spPr>
          <a:xfrm>
            <a:off x="3794760" y="2871216"/>
            <a:ext cx="3108960" cy="475488"/>
          </a:xfrm>
          <a:prstGeom prst="rect">
            <a:avLst/>
          </a:prstGeom>
          <a:noFill/>
          <a:ln/>
        </p:spPr>
        <p:txBody>
          <a:bodyPr wrap="square" rtlCol="0" anchor="t"/>
          <a:lstStyle/>
          <a:p>
            <a:pPr indent="0" marL="0">
              <a:buNone/>
            </a:pPr>
            <a:r>
              <a:rPr lang="en-US" sz="950" b="1" dirty="0">
                <a:solidFill>
                  <a:srgbClr val="5A8FE8"/>
                </a:solidFill>
                <a:latin typeface="Calibri" pitchFamily="34" charset="0"/>
                <a:ea typeface="Calibri" pitchFamily="34" charset="-122"/>
                <a:cs typeface="Calibri" pitchFamily="34" charset="-120"/>
              </a:rPr>
              <a:t>🏆 Wärmster Trip bisher</a:t>
            </a:r>
            <a:endParaRPr lang="en-US" sz="950" dirty="0"/>
          </a:p>
        </p:txBody>
      </p:sp>
      <p:sp>
        <p:nvSpPr>
          <p:cNvPr id="22" name="Shape 20"/>
          <p:cNvSpPr/>
          <p:nvPr/>
        </p:nvSpPr>
        <p:spPr>
          <a:xfrm>
            <a:off x="228600" y="3675888"/>
            <a:ext cx="3291840" cy="2578608"/>
          </a:xfrm>
          <a:prstGeom prst="rect">
            <a:avLst/>
          </a:prstGeom>
          <a:solidFill>
            <a:srgbClr val="16213E"/>
          </a:solidFill>
          <a:ln w="12700">
            <a:solidFill>
              <a:srgbClr val="E85A5A"/>
            </a:solidFill>
            <a:prstDash val="solid"/>
          </a:ln>
        </p:spPr>
      </p:sp>
      <p:sp>
        <p:nvSpPr>
          <p:cNvPr id="23" name="Shape 21"/>
          <p:cNvSpPr/>
          <p:nvPr/>
        </p:nvSpPr>
        <p:spPr>
          <a:xfrm>
            <a:off x="228600" y="3675888"/>
            <a:ext cx="3291840" cy="420624"/>
          </a:xfrm>
          <a:prstGeom prst="rect">
            <a:avLst/>
          </a:prstGeom>
          <a:solidFill>
            <a:srgbClr val="0F3460"/>
          </a:solidFill>
          <a:ln w="12700">
            <a:solidFill>
              <a:srgbClr val="0F3460"/>
            </a:solidFill>
            <a:prstDash val="solid"/>
          </a:ln>
        </p:spPr>
      </p:sp>
      <p:sp>
        <p:nvSpPr>
          <p:cNvPr id="24" name="Text 22"/>
          <p:cNvSpPr/>
          <p:nvPr/>
        </p:nvSpPr>
        <p:spPr>
          <a:xfrm>
            <a:off x="228600" y="3675888"/>
            <a:ext cx="3291840" cy="420624"/>
          </a:xfrm>
          <a:prstGeom prst="rect">
            <a:avLst/>
          </a:prstGeom>
          <a:noFill/>
          <a:ln/>
        </p:spPr>
        <p:txBody>
          <a:bodyPr wrap="square" rtlCol="0" anchor="ctr"/>
          <a:lstStyle/>
          <a:p>
            <a:pPr algn="ctr" indent="0" marL="0">
              <a:buNone/>
            </a:pPr>
            <a:r>
              <a:rPr lang="en-US" sz="1700" b="1" dirty="0">
                <a:solidFill>
                  <a:srgbClr val="E85A5A"/>
                </a:solidFill>
                <a:latin typeface="Trebuchet MS" pitchFamily="34" charset="0"/>
                <a:ea typeface="Trebuchet MS" pitchFamily="34" charset="-122"/>
                <a:cs typeface="Trebuchet MS" pitchFamily="34" charset="-120"/>
              </a:rPr>
              <a:t>🇦🇱  2023</a:t>
            </a:r>
            <a:endParaRPr lang="en-US" sz="1700" dirty="0"/>
          </a:p>
        </p:txBody>
      </p:sp>
      <p:sp>
        <p:nvSpPr>
          <p:cNvPr id="25" name="Text 23"/>
          <p:cNvSpPr/>
          <p:nvPr/>
        </p:nvSpPr>
        <p:spPr>
          <a:xfrm>
            <a:off x="228600" y="41330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TIRANA</a:t>
            </a:r>
            <a:endParaRPr lang="en-US" sz="1500" dirty="0"/>
          </a:p>
        </p:txBody>
      </p:sp>
      <p:sp>
        <p:nvSpPr>
          <p:cNvPr id="26" name="Shape 24"/>
          <p:cNvSpPr/>
          <p:nvPr/>
        </p:nvSpPr>
        <p:spPr>
          <a:xfrm>
            <a:off x="365760" y="4553712"/>
            <a:ext cx="3017520" cy="22860"/>
          </a:xfrm>
          <a:prstGeom prst="rect">
            <a:avLst/>
          </a:prstGeom>
          <a:solidFill>
            <a:srgbClr val="E85A5A"/>
          </a:solidFill>
          <a:ln w="12700">
            <a:solidFill>
              <a:srgbClr val="E85A5A"/>
            </a:solidFill>
            <a:prstDash val="solid"/>
          </a:ln>
        </p:spPr>
      </p:sp>
      <p:sp>
        <p:nvSpPr>
          <p:cNvPr id="27" name="Text 25"/>
          <p:cNvSpPr/>
          <p:nvPr/>
        </p:nvSpPr>
        <p:spPr>
          <a:xfrm>
            <a:off x="320040" y="45902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Bestes Essen: unerwartet gut</a:t>
            </a:r>
            <a:endParaRPr lang="en-US" sz="950" dirty="0"/>
          </a:p>
        </p:txBody>
      </p:sp>
      <p:sp>
        <p:nvSpPr>
          <p:cNvPr id="28" name="Text 26"/>
          <p:cNvSpPr/>
          <p:nvPr/>
        </p:nvSpPr>
        <p:spPr>
          <a:xfrm>
            <a:off x="320040" y="51023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Barkeeper wurde Freund</a:t>
            </a:r>
            <a:endParaRPr lang="en-US" sz="950" dirty="0"/>
          </a:p>
        </p:txBody>
      </p:sp>
      <p:sp>
        <p:nvSpPr>
          <p:cNvPr id="29" name="Text 27"/>
          <p:cNvSpPr/>
          <p:nvPr/>
        </p:nvSpPr>
        <p:spPr>
          <a:xfrm>
            <a:off x="320040" y="5614416"/>
            <a:ext cx="3108960" cy="475488"/>
          </a:xfrm>
          <a:prstGeom prst="rect">
            <a:avLst/>
          </a:prstGeom>
          <a:noFill/>
          <a:ln/>
        </p:spPr>
        <p:txBody>
          <a:bodyPr wrap="square" rtlCol="0" anchor="t"/>
          <a:lstStyle/>
          <a:p>
            <a:pPr indent="0" marL="0">
              <a:buNone/>
            </a:pPr>
            <a:r>
              <a:rPr lang="en-US" sz="950" b="1" dirty="0">
                <a:solidFill>
                  <a:srgbClr val="E85A5A"/>
                </a:solidFill>
                <a:latin typeface="Calibri" pitchFamily="34" charset="0"/>
                <a:ea typeface="Calibri" pitchFamily="34" charset="-122"/>
                <a:cs typeface="Calibri" pitchFamily="34" charset="-120"/>
              </a:rPr>
              <a:t>🏆 Geheimtipp des Jahres</a:t>
            </a:r>
            <a:endParaRPr lang="en-US" sz="950" dirty="0"/>
          </a:p>
        </p:txBody>
      </p:sp>
      <p:sp>
        <p:nvSpPr>
          <p:cNvPr id="30" name="Shape 28"/>
          <p:cNvSpPr/>
          <p:nvPr/>
        </p:nvSpPr>
        <p:spPr>
          <a:xfrm>
            <a:off x="3703320" y="3675888"/>
            <a:ext cx="3291840" cy="2578608"/>
          </a:xfrm>
          <a:prstGeom prst="rect">
            <a:avLst/>
          </a:prstGeom>
          <a:solidFill>
            <a:srgbClr val="16213E"/>
          </a:solidFill>
          <a:ln w="12700">
            <a:solidFill>
              <a:srgbClr val="A55AE8"/>
            </a:solidFill>
            <a:prstDash val="solid"/>
          </a:ln>
        </p:spPr>
      </p:sp>
      <p:sp>
        <p:nvSpPr>
          <p:cNvPr id="31" name="Shape 29"/>
          <p:cNvSpPr/>
          <p:nvPr/>
        </p:nvSpPr>
        <p:spPr>
          <a:xfrm>
            <a:off x="3703320" y="3675888"/>
            <a:ext cx="3291840" cy="420624"/>
          </a:xfrm>
          <a:prstGeom prst="rect">
            <a:avLst/>
          </a:prstGeom>
          <a:solidFill>
            <a:srgbClr val="0F3460"/>
          </a:solidFill>
          <a:ln w="12700">
            <a:solidFill>
              <a:srgbClr val="0F3460"/>
            </a:solidFill>
            <a:prstDash val="solid"/>
          </a:ln>
        </p:spPr>
      </p:sp>
      <p:sp>
        <p:nvSpPr>
          <p:cNvPr id="32" name="Text 30"/>
          <p:cNvSpPr/>
          <p:nvPr/>
        </p:nvSpPr>
        <p:spPr>
          <a:xfrm>
            <a:off x="3703320" y="3675888"/>
            <a:ext cx="3291840" cy="420624"/>
          </a:xfrm>
          <a:prstGeom prst="rect">
            <a:avLst/>
          </a:prstGeom>
          <a:noFill/>
          <a:ln/>
        </p:spPr>
        <p:txBody>
          <a:bodyPr wrap="square" rtlCol="0" anchor="ctr"/>
          <a:lstStyle/>
          <a:p>
            <a:pPr algn="ctr" indent="0" marL="0">
              <a:buNone/>
            </a:pPr>
            <a:r>
              <a:rPr lang="en-US" sz="1700" b="1" dirty="0">
                <a:solidFill>
                  <a:srgbClr val="A55AE8"/>
                </a:solidFill>
                <a:latin typeface="Trebuchet MS" pitchFamily="34" charset="0"/>
                <a:ea typeface="Trebuchet MS" pitchFamily="34" charset="-122"/>
                <a:cs typeface="Trebuchet MS" pitchFamily="34" charset="-120"/>
              </a:rPr>
              <a:t>🇷🇸  2024</a:t>
            </a:r>
            <a:endParaRPr lang="en-US" sz="1700" dirty="0"/>
          </a:p>
        </p:txBody>
      </p:sp>
      <p:sp>
        <p:nvSpPr>
          <p:cNvPr id="33" name="Text 31"/>
          <p:cNvSpPr/>
          <p:nvPr/>
        </p:nvSpPr>
        <p:spPr>
          <a:xfrm>
            <a:off x="3703320" y="41330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BELGRAD</a:t>
            </a:r>
            <a:endParaRPr lang="en-US" sz="1500" dirty="0"/>
          </a:p>
        </p:txBody>
      </p:sp>
      <p:sp>
        <p:nvSpPr>
          <p:cNvPr id="34" name="Shape 32"/>
          <p:cNvSpPr/>
          <p:nvPr/>
        </p:nvSpPr>
        <p:spPr>
          <a:xfrm>
            <a:off x="3840480" y="4553712"/>
            <a:ext cx="3017520" cy="22860"/>
          </a:xfrm>
          <a:prstGeom prst="rect">
            <a:avLst/>
          </a:prstGeom>
          <a:solidFill>
            <a:srgbClr val="A55AE8"/>
          </a:solidFill>
          <a:ln w="12700">
            <a:solidFill>
              <a:srgbClr val="A55AE8"/>
            </a:solidFill>
            <a:prstDash val="solid"/>
          </a:ln>
        </p:spPr>
      </p:sp>
      <p:sp>
        <p:nvSpPr>
          <p:cNvPr id="35" name="Text 33"/>
          <p:cNvSpPr/>
          <p:nvPr/>
        </p:nvSpPr>
        <p:spPr>
          <a:xfrm>
            <a:off x="3794760" y="45902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Splavovi-Clubs am Fluss</a:t>
            </a:r>
            <a:endParaRPr lang="en-US" sz="950" dirty="0"/>
          </a:p>
        </p:txBody>
      </p:sp>
      <p:sp>
        <p:nvSpPr>
          <p:cNvPr id="36" name="Text 34"/>
          <p:cNvSpPr/>
          <p:nvPr/>
        </p:nvSpPr>
        <p:spPr>
          <a:xfrm>
            <a:off x="3794760" y="51023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Heimkehr beim Sonnenaufgang</a:t>
            </a:r>
            <a:endParaRPr lang="en-US" sz="950" dirty="0"/>
          </a:p>
        </p:txBody>
      </p:sp>
      <p:sp>
        <p:nvSpPr>
          <p:cNvPr id="37" name="Text 35"/>
          <p:cNvSpPr/>
          <p:nvPr/>
        </p:nvSpPr>
        <p:spPr>
          <a:xfrm>
            <a:off x="3794760" y="5614416"/>
            <a:ext cx="3108960" cy="475488"/>
          </a:xfrm>
          <a:prstGeom prst="rect">
            <a:avLst/>
          </a:prstGeom>
          <a:noFill/>
          <a:ln/>
        </p:spPr>
        <p:txBody>
          <a:bodyPr wrap="square" rtlCol="0" anchor="t"/>
          <a:lstStyle/>
          <a:p>
            <a:pPr indent="0" marL="0">
              <a:buNone/>
            </a:pPr>
            <a:r>
              <a:rPr lang="en-US" sz="950" b="1" dirty="0">
                <a:solidFill>
                  <a:srgbClr val="A55AE8"/>
                </a:solidFill>
                <a:latin typeface="Calibri" pitchFamily="34" charset="0"/>
                <a:ea typeface="Calibri" pitchFamily="34" charset="-122"/>
                <a:cs typeface="Calibri" pitchFamily="34" charset="-120"/>
              </a:rPr>
              <a:t>🏆 Wildeste Nacht aller Zeiten</a:t>
            </a:r>
            <a:endParaRPr lang="en-US" sz="950" dirty="0"/>
          </a:p>
        </p:txBody>
      </p:sp>
      <p:sp>
        <p:nvSpPr>
          <p:cNvPr id="38" name="Shape 36"/>
          <p:cNvSpPr/>
          <p:nvPr/>
        </p:nvSpPr>
        <p:spPr>
          <a:xfrm>
            <a:off x="7223760" y="914400"/>
            <a:ext cx="4709160" cy="5742432"/>
          </a:xfrm>
          <a:prstGeom prst="rect">
            <a:avLst/>
          </a:prstGeom>
          <a:solidFill>
            <a:srgbClr val="0F3460"/>
          </a:solidFill>
          <a:ln w="12700">
            <a:solidFill>
              <a:srgbClr val="FF8C00"/>
            </a:solidFill>
            <a:prstDash val="solid"/>
          </a:ln>
        </p:spPr>
      </p:sp>
      <p:sp>
        <p:nvSpPr>
          <p:cNvPr id="39" name="Shape 37"/>
          <p:cNvSpPr/>
          <p:nvPr/>
        </p:nvSpPr>
        <p:spPr>
          <a:xfrm>
            <a:off x="7223760" y="914400"/>
            <a:ext cx="4709160" cy="548640"/>
          </a:xfrm>
          <a:prstGeom prst="rect">
            <a:avLst/>
          </a:prstGeom>
          <a:solidFill>
            <a:srgbClr val="FF8C00"/>
          </a:solidFill>
          <a:ln w="12700">
            <a:solidFill>
              <a:srgbClr val="FF8C00"/>
            </a:solidFill>
            <a:prstDash val="solid"/>
          </a:ln>
        </p:spPr>
      </p:sp>
      <p:sp>
        <p:nvSpPr>
          <p:cNvPr id="40" name="Text 38"/>
          <p:cNvSpPr/>
          <p:nvPr/>
        </p:nvSpPr>
        <p:spPr>
          <a:xfrm>
            <a:off x="7223760" y="914400"/>
            <a:ext cx="4709160" cy="548640"/>
          </a:xfrm>
          <a:prstGeom prst="rect">
            <a:avLst/>
          </a:prstGeom>
          <a:noFill/>
          <a:ln/>
        </p:spPr>
        <p:txBody>
          <a:bodyPr wrap="square" rtlCol="0" anchor="ctr"/>
          <a:lstStyle/>
          <a:p>
            <a:pPr algn="ctr" indent="0" marL="0">
              <a:buNone/>
            </a:pPr>
            <a:r>
              <a:rPr lang="en-US" sz="1600" b="1" dirty="0">
                <a:solidFill>
                  <a:srgbClr val="1A1A2E"/>
                </a:solidFill>
                <a:latin typeface="Trebuchet MS" pitchFamily="34" charset="0"/>
                <a:ea typeface="Trebuchet MS" pitchFamily="34" charset="-122"/>
                <a:cs typeface="Trebuchet MS" pitchFamily="34" charset="-120"/>
              </a:rPr>
              <a:t>2025  ·  NEXT STOP</a:t>
            </a:r>
            <a:endParaRPr lang="en-US" sz="1600" dirty="0"/>
          </a:p>
        </p:txBody>
      </p:sp>
      <p:sp>
        <p:nvSpPr>
          <p:cNvPr id="41" name="Text 39"/>
          <p:cNvSpPr/>
          <p:nvPr/>
        </p:nvSpPr>
        <p:spPr>
          <a:xfrm>
            <a:off x="7223760" y="1536192"/>
            <a:ext cx="4709160" cy="640080"/>
          </a:xfrm>
          <a:prstGeom prst="rect">
            <a:avLst/>
          </a:prstGeom>
          <a:noFill/>
          <a:ln/>
        </p:spPr>
        <p:txBody>
          <a:bodyPr wrap="square" rtlCol="0" anchor="ctr"/>
          <a:lstStyle/>
          <a:p>
            <a:pPr algn="ctr" indent="0" marL="0">
              <a:buNone/>
            </a:pPr>
            <a:r>
              <a:rPr lang="en-US" sz="4400" dirty="0">
                <a:solidFill>
                  <a:srgbClr val="000000"/>
                </a:solidFill>
                <a:latin typeface="Segoe UI Emoji" pitchFamily="34" charset="0"/>
                <a:ea typeface="Segoe UI Emoji" pitchFamily="34" charset="-122"/>
                <a:cs typeface="Segoe UI Emoji" pitchFamily="34" charset="-120"/>
              </a:rPr>
              <a:t>🎃</a:t>
            </a:r>
            <a:endParaRPr lang="en-US" sz="4400" dirty="0"/>
          </a:p>
        </p:txBody>
      </p:sp>
      <p:sp>
        <p:nvSpPr>
          <p:cNvPr id="42" name="Text 40"/>
          <p:cNvSpPr/>
          <p:nvPr/>
        </p:nvSpPr>
        <p:spPr>
          <a:xfrm>
            <a:off x="7360920" y="2249424"/>
            <a:ext cx="4434840" cy="402336"/>
          </a:xfrm>
          <a:prstGeom prst="rect">
            <a:avLst/>
          </a:prstGeom>
          <a:noFill/>
          <a:ln/>
        </p:spPr>
        <p:txBody>
          <a:bodyPr wrap="square" rtlCol="0" anchor="ctr"/>
          <a:lstStyle/>
          <a:p>
            <a:pPr algn="ctr" indent="0" marL="0">
              <a:buNone/>
            </a:pPr>
            <a:r>
              <a:rPr lang="en-US" sz="1200" b="1" dirty="0">
                <a:solidFill>
                  <a:srgbClr val="FFC107"/>
                </a:solidFill>
                <a:latin typeface="Trebuchet MS" pitchFamily="34" charset="0"/>
                <a:ea typeface="Trebuchet MS" pitchFamily="34" charset="-122"/>
                <a:cs typeface="Trebuchet MS" pitchFamily="34" charset="-120"/>
              </a:rPr>
              <a:t>TRIP #5 — DIE WAHL IST GEFALLEN</a:t>
            </a:r>
            <a:endParaRPr lang="en-US" sz="1200" dirty="0"/>
          </a:p>
        </p:txBody>
      </p:sp>
      <p:sp>
        <p:nvSpPr>
          <p:cNvPr id="43" name="Shape 41"/>
          <p:cNvSpPr/>
          <p:nvPr/>
        </p:nvSpPr>
        <p:spPr>
          <a:xfrm>
            <a:off x="7406640" y="2761488"/>
            <a:ext cx="4343400" cy="530352"/>
          </a:xfrm>
          <a:prstGeom prst="rect">
            <a:avLst/>
          </a:prstGeom>
          <a:solidFill>
            <a:srgbClr val="16213E"/>
          </a:solidFill>
          <a:ln w="12700">
            <a:solidFill>
              <a:srgbClr val="FF8C00"/>
            </a:solidFill>
            <a:prstDash val="solid"/>
          </a:ln>
        </p:spPr>
      </p:sp>
      <p:sp>
        <p:nvSpPr>
          <p:cNvPr id="44" name="Text 42"/>
          <p:cNvSpPr/>
          <p:nvPr/>
        </p:nvSpPr>
        <p:spPr>
          <a:xfrm>
            <a:off x="7406640" y="2761488"/>
            <a:ext cx="4343400" cy="530352"/>
          </a:xfrm>
          <a:prstGeom prst="rect">
            <a:avLst/>
          </a:prstGeom>
          <a:noFill/>
          <a:ln/>
        </p:spPr>
        <p:txBody>
          <a:bodyPr wrap="square" rtlCol="0" anchor="ctr"/>
          <a:lstStyle/>
          <a:p>
            <a:pPr algn="ctr" indent="0" marL="0">
              <a:buNone/>
            </a:pPr>
            <a:r>
              <a:rPr lang="en-US" sz="1800" b="1" dirty="0">
                <a:solidFill>
                  <a:srgbClr val="FF8C00"/>
                </a:solidFill>
                <a:latin typeface="Trebuchet MS" pitchFamily="34" charset="0"/>
                <a:ea typeface="Trebuchet MS" pitchFamily="34" charset="-122"/>
                <a:cs typeface="Trebuchet MS" pitchFamily="34" charset="-120"/>
              </a:rPr>
              <a:t>🇵🇹  LISSABON</a:t>
            </a:r>
            <a:endParaRPr lang="en-US" sz="1800" dirty="0"/>
          </a:p>
        </p:txBody>
      </p:sp>
      <p:sp>
        <p:nvSpPr>
          <p:cNvPr id="45" name="Text 43"/>
          <p:cNvSpPr/>
          <p:nvPr/>
        </p:nvSpPr>
        <p:spPr>
          <a:xfrm>
            <a:off x="7406640" y="3328416"/>
            <a:ext cx="4343400" cy="566928"/>
          </a:xfrm>
          <a:prstGeom prst="rect">
            <a:avLst/>
          </a:prstGeom>
          <a:noFill/>
          <a:ln/>
        </p:spPr>
        <p:txBody>
          <a:bodyPr wrap="square" rtlCol="0" anchor="t"/>
          <a:lstStyle/>
          <a:p>
            <a:pPr algn="ctr" indent="0" marL="0">
              <a:buNone/>
            </a:pPr>
            <a:r>
              <a:rPr lang="en-US" sz="950" dirty="0">
                <a:solidFill>
                  <a:srgbClr val="9CA3AF"/>
                </a:solidFill>
                <a:latin typeface="Calibri" pitchFamily="34" charset="0"/>
                <a:ea typeface="Calibri" pitchFamily="34" charset="-122"/>
                <a:cs typeface="Calibri" pitchFamily="34" charset="-120"/>
              </a:rPr>
              <a:t>Nightlife-Hauptstadt</a:t>
            </a:r>
            <a:endParaRPr lang="en-US" sz="950" dirty="0"/>
          </a:p>
          <a:p>
            <a:pPr algn="ctr" indent="0" marL="0">
              <a:buNone/>
            </a:pPr>
            <a:r>
              <a:rPr lang="en-US" sz="950" dirty="0">
                <a:solidFill>
                  <a:srgbClr val="9CA3AF"/>
                </a:solidFill>
                <a:latin typeface="Calibri" pitchFamily="34" charset="0"/>
                <a:ea typeface="Calibri" pitchFamily="34" charset="-122"/>
                <a:cs typeface="Calibri" pitchFamily="34" charset="-120"/>
              </a:rPr>
              <a:t>des Atlantiks · 17–22°C</a:t>
            </a:r>
            <a:endParaRPr lang="en-US" sz="950" dirty="0"/>
          </a:p>
        </p:txBody>
      </p:sp>
      <p:sp>
        <p:nvSpPr>
          <p:cNvPr id="46" name="Shape 44"/>
          <p:cNvSpPr/>
          <p:nvPr/>
        </p:nvSpPr>
        <p:spPr>
          <a:xfrm>
            <a:off x="7406640" y="4023360"/>
            <a:ext cx="4343400" cy="530352"/>
          </a:xfrm>
          <a:prstGeom prst="rect">
            <a:avLst/>
          </a:prstGeom>
          <a:solidFill>
            <a:srgbClr val="16213E"/>
          </a:solidFill>
          <a:ln w="12700">
            <a:solidFill>
              <a:srgbClr val="1EB4C8"/>
            </a:solidFill>
            <a:prstDash val="solid"/>
          </a:ln>
        </p:spPr>
      </p:sp>
      <p:sp>
        <p:nvSpPr>
          <p:cNvPr id="47" name="Text 45"/>
          <p:cNvSpPr/>
          <p:nvPr/>
        </p:nvSpPr>
        <p:spPr>
          <a:xfrm>
            <a:off x="7406640" y="4023360"/>
            <a:ext cx="4343400" cy="530352"/>
          </a:xfrm>
          <a:prstGeom prst="rect">
            <a:avLst/>
          </a:prstGeom>
          <a:noFill/>
          <a:ln/>
        </p:spPr>
        <p:txBody>
          <a:bodyPr wrap="square" rtlCol="0" anchor="ctr"/>
          <a:lstStyle/>
          <a:p>
            <a:pPr algn="ctr" indent="0" marL="0">
              <a:buNone/>
            </a:pPr>
            <a:r>
              <a:rPr lang="en-US" sz="1800" b="1" dirty="0">
                <a:solidFill>
                  <a:srgbClr val="1EB4C8"/>
                </a:solidFill>
                <a:latin typeface="Trebuchet MS" pitchFamily="34" charset="0"/>
                <a:ea typeface="Trebuchet MS" pitchFamily="34" charset="-122"/>
                <a:cs typeface="Trebuchet MS" pitchFamily="34" charset="-120"/>
              </a:rPr>
              <a:t>🇲🇹  MALTA</a:t>
            </a:r>
            <a:endParaRPr lang="en-US" sz="1800" dirty="0"/>
          </a:p>
        </p:txBody>
      </p:sp>
      <p:sp>
        <p:nvSpPr>
          <p:cNvPr id="48" name="Text 46"/>
          <p:cNvSpPr/>
          <p:nvPr/>
        </p:nvSpPr>
        <p:spPr>
          <a:xfrm>
            <a:off x="7406640" y="4590288"/>
            <a:ext cx="4343400" cy="566928"/>
          </a:xfrm>
          <a:prstGeom prst="rect">
            <a:avLst/>
          </a:prstGeom>
          <a:noFill/>
          <a:ln/>
        </p:spPr>
        <p:txBody>
          <a:bodyPr wrap="square" rtlCol="0" anchor="t"/>
          <a:lstStyle/>
          <a:p>
            <a:pPr algn="ctr" indent="0" marL="0">
              <a:buNone/>
            </a:pPr>
            <a:r>
              <a:rPr lang="en-US" sz="950" dirty="0">
                <a:solidFill>
                  <a:srgbClr val="9CA3AF"/>
                </a:solidFill>
                <a:latin typeface="Calibri" pitchFamily="34" charset="0"/>
                <a:ea typeface="Calibri" pitchFamily="34" charset="-122"/>
                <a:cs typeface="Calibri" pitchFamily="34" charset="-120"/>
              </a:rPr>
              <a:t>Wärmstes Ziel · Blaue</a:t>
            </a:r>
            <a:endParaRPr lang="en-US" sz="950" dirty="0"/>
          </a:p>
          <a:p>
            <a:pPr algn="ctr" indent="0" marL="0">
              <a:buNone/>
            </a:pPr>
            <a:r>
              <a:rPr lang="en-US" sz="950" dirty="0">
                <a:solidFill>
                  <a:srgbClr val="9CA3AF"/>
                </a:solidFill>
                <a:latin typeface="Calibri" pitchFamily="34" charset="0"/>
                <a:ea typeface="Calibri" pitchFamily="34" charset="-122"/>
                <a:cs typeface="Calibri" pitchFamily="34" charset="-120"/>
              </a:rPr>
              <a:t>Lagune · 22–24°C</a:t>
            </a:r>
            <a:endParaRPr lang="en-US" sz="950" dirty="0"/>
          </a:p>
        </p:txBody>
      </p:sp>
      <p:sp>
        <p:nvSpPr>
          <p:cNvPr id="49" name="Shape 47"/>
          <p:cNvSpPr/>
          <p:nvPr/>
        </p:nvSpPr>
        <p:spPr>
          <a:xfrm>
            <a:off x="7360920" y="5431536"/>
            <a:ext cx="4434840" cy="22860"/>
          </a:xfrm>
          <a:prstGeom prst="rect">
            <a:avLst/>
          </a:prstGeom>
          <a:solidFill>
            <a:srgbClr val="FF8C00"/>
          </a:solidFill>
          <a:ln w="12700">
            <a:solidFill>
              <a:srgbClr val="FF8C00"/>
            </a:solidFill>
            <a:prstDash val="solid"/>
          </a:ln>
        </p:spPr>
      </p:sp>
      <p:sp>
        <p:nvSpPr>
          <p:cNvPr id="50" name="Text 48"/>
          <p:cNvSpPr/>
          <p:nvPr/>
        </p:nvSpPr>
        <p:spPr>
          <a:xfrm>
            <a:off x="7315200" y="5486400"/>
            <a:ext cx="4526280" cy="438912"/>
          </a:xfrm>
          <a:prstGeom prst="rect">
            <a:avLst/>
          </a:prstGeom>
          <a:noFill/>
          <a:ln/>
        </p:spPr>
        <p:txBody>
          <a:bodyPr wrap="square" rtlCol="0" anchor="ctr"/>
          <a:lstStyle/>
          <a:p>
            <a:pPr algn="ctr" indent="0" marL="0">
              <a:buNone/>
            </a:pPr>
            <a:r>
              <a:rPr lang="en-US" sz="950" b="1" dirty="0">
                <a:solidFill>
                  <a:srgbClr val="FF8C00"/>
                </a:solidFill>
                <a:latin typeface="Calibri" pitchFamily="34" charset="0"/>
                <a:ea typeface="Calibri" pitchFamily="34" charset="-122"/>
                <a:cs typeface="Calibri" pitchFamily="34" charset="-120"/>
              </a:rPr>
              <a:t>🎃  31. Oktober 2025 = FREITAG</a:t>
            </a:r>
            <a:endParaRPr lang="en-US" sz="950" dirty="0"/>
          </a:p>
        </p:txBody>
      </p:sp>
      <p:sp>
        <p:nvSpPr>
          <p:cNvPr id="51" name="Text 49"/>
          <p:cNvSpPr/>
          <p:nvPr/>
        </p:nvSpPr>
        <p:spPr>
          <a:xfrm>
            <a:off x="7315200" y="5961888"/>
            <a:ext cx="4526280" cy="438912"/>
          </a:xfrm>
          <a:prstGeom prst="rect">
            <a:avLst/>
          </a:prstGeom>
          <a:noFill/>
          <a:ln/>
        </p:spPr>
        <p:txBody>
          <a:bodyPr wrap="square" rtlCol="0" anchor="ctr"/>
          <a:lstStyle/>
          <a:p>
            <a:pPr algn="ctr" indent="0" marL="0">
              <a:buNone/>
            </a:pPr>
            <a:r>
              <a:rPr lang="en-US" sz="950" i="1" dirty="0">
                <a:solidFill>
                  <a:srgbClr val="9CA3AF"/>
                </a:solidFill>
                <a:latin typeface="Calibri" pitchFamily="34" charset="0"/>
                <a:ea typeface="Calibri" pitchFamily="34" charset="-122"/>
                <a:cs typeface="Calibri" pitchFamily="34" charset="-120"/>
              </a:rPr>
              <a:t>Jeder Trip unvergessen — Trip 5 wird der Beste</a:t>
            </a:r>
            <a:endParaRPr lang="en-US" sz="950" dirty="0"/>
          </a:p>
        </p:txBody>
      </p:sp>
      <p:sp>
        <p:nvSpPr>
          <p:cNvPr id="52" name="Shape 50"/>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Halloween-Trip 2025 – Lissabon vs Madrid vs Rom vs Malta</dc:title>
  <dc:subject>PptxGenJS Presentation</dc:subject>
  <dc:creator>Halloween-Trip 2025</dc:creator>
  <cp:lastModifiedBy>Halloween-Trip 2025</cp:lastModifiedBy>
  <cp:revision>1</cp:revision>
  <dcterms:created xsi:type="dcterms:W3CDTF">2026-05-28T18:36:05Z</dcterms:created>
  <dcterms:modified xsi:type="dcterms:W3CDTF">2026-05-28T18:36:05Z</dcterms:modified>
</cp:coreProperties>
</file>