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www.airbnb.com/s/Bairro-Alto--Lisbon--Portugal/homes?checkin=2025-10-30&amp;checkout=2025-11-02&amp;adults=4&amp;min_bedrooms=2&amp;room_types%5B%5D=Entire+home%2Fapt" TargetMode="External"/><Relationship Id="rId4" Type="http://schemas.openxmlformats.org/officeDocument/2006/relationships/hyperlink" Target="https://www.airbnb.com/s/Chiado--Lisbon--Portugal/homes?checkin=2025-10-30&amp;checkout=2025-11-02&amp;adults=4&amp;min_bedrooms=2&amp;room_types%5B%5D=Entire+home%2Fapt" TargetMode="External"/><Relationship Id="rId1" Type="http://schemas.openxmlformats.org/officeDocument/2006/relationships/image" Target="../media/image-4-1.png"/><Relationship Id="rId2" Type="http://schemas.openxmlformats.org/officeDocument/2006/relationships/image" Target="../media/image-4-2.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hyperlink" Target="https://www.airbnb.com/s/St-Julian%27s--Malta/homes?checkin=2025-10-30&amp;checkout=2025-11-02&amp;adults=4&amp;min_bedrooms=2&amp;room_types%5B%5D=Entire+home%2Fapt" TargetMode="External"/><Relationship Id="rId4" Type="http://schemas.openxmlformats.org/officeDocument/2006/relationships/hyperlink" Target="https://www.airbnb.com/s/Sliema--Malta/homes?checkin=2025-10-30&amp;checkout=2025-11-02&amp;adults=4&amp;min_bedrooms=2&amp;room_types%5B%5D=Entire+home%2Fapt" TargetMode="External"/><Relationship Id="rId1" Type="http://schemas.openxmlformats.org/officeDocument/2006/relationships/image" Target="../media/image-9-1.png"/><Relationship Id="rId2" Type="http://schemas.openxmlformats.org/officeDocument/2006/relationships/image" Target="../media/image-9-2.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pic>
        <p:nvPicPr>
          <p:cNvPr id="2" name="Image 0" descr="/home/user/Excelhaus/halloween_trip/title_bg.png">    </p:cNvPr>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000000">
              <a:alpha val="58000"/>
            </a:srgbClr>
          </a:solidFill>
          <a:ln w="12700">
            <a:solidFill>
              <a:srgbClr val="000000"/>
            </a:solidFill>
            <a:prstDash val="solid"/>
          </a:ln>
        </p:spPr>
      </p:sp>
      <p:sp>
        <p:nvSpPr>
          <p:cNvPr id="4" name="Shape 1"/>
          <p:cNvSpPr/>
          <p:nvPr/>
        </p:nvSpPr>
        <p:spPr>
          <a:xfrm>
            <a:off x="0" y="0"/>
            <a:ext cx="12192000" cy="91440"/>
          </a:xfrm>
          <a:prstGeom prst="rect">
            <a:avLst/>
          </a:prstGeom>
          <a:solidFill>
            <a:srgbClr val="FF8C00"/>
          </a:solidFill>
          <a:ln w="12700">
            <a:solidFill>
              <a:srgbClr val="FF8C00"/>
            </a:solidFill>
            <a:prstDash val="solid"/>
          </a:ln>
        </p:spPr>
      </p:sp>
      <p:sp>
        <p:nvSpPr>
          <p:cNvPr id="5" name="Text 2"/>
          <p:cNvSpPr/>
          <p:nvPr/>
        </p:nvSpPr>
        <p:spPr>
          <a:xfrm>
            <a:off x="0" y="594360"/>
            <a:ext cx="12192000" cy="914400"/>
          </a:xfrm>
          <a:prstGeom prst="rect">
            <a:avLst/>
          </a:prstGeom>
          <a:noFill/>
          <a:ln/>
        </p:spPr>
        <p:txBody>
          <a:bodyPr wrap="square" rtlCol="0" anchor="ctr"/>
          <a:lstStyle/>
          <a:p>
            <a:pPr algn="ctr" indent="0" marL="0">
              <a:buNone/>
            </a:pPr>
            <a:r>
              <a:rPr lang="en-US" sz="7200" dirty="0">
                <a:solidFill>
                  <a:srgbClr val="000000"/>
                </a:solidFill>
                <a:latin typeface="Segoe UI Emoji" pitchFamily="34" charset="0"/>
                <a:ea typeface="Segoe UI Emoji" pitchFamily="34" charset="-122"/>
                <a:cs typeface="Segoe UI Emoji" pitchFamily="34" charset="-120"/>
              </a:rPr>
              <a:t>🎃</a:t>
            </a:r>
            <a:endParaRPr lang="en-US" sz="7200" dirty="0"/>
          </a:p>
        </p:txBody>
      </p:sp>
      <p:sp>
        <p:nvSpPr>
          <p:cNvPr id="6" name="Text 3"/>
          <p:cNvSpPr/>
          <p:nvPr/>
        </p:nvSpPr>
        <p:spPr>
          <a:xfrm>
            <a:off x="457200" y="1371600"/>
            <a:ext cx="11274552" cy="1097280"/>
          </a:xfrm>
          <a:prstGeom prst="rect">
            <a:avLst/>
          </a:prstGeom>
          <a:noFill/>
          <a:ln/>
        </p:spPr>
        <p:txBody>
          <a:bodyPr wrap="square" rtlCol="0" anchor="ctr"/>
          <a:lstStyle/>
          <a:p>
            <a:pPr algn="ctr" indent="0" marL="0">
              <a:buNone/>
            </a:pPr>
            <a:r>
              <a:rPr lang="en-US" sz="6000" b="1" dirty="0">
                <a:solidFill>
                  <a:srgbClr val="FF8C00"/>
                </a:solidFill>
                <a:latin typeface="Trebuchet MS" pitchFamily="34" charset="0"/>
                <a:ea typeface="Trebuchet MS" pitchFamily="34" charset="-122"/>
                <a:cs typeface="Trebuchet MS" pitchFamily="34" charset="-120"/>
              </a:rPr>
              <a:t>HALLOWEEN-TRIP 2025</a:t>
            </a:r>
            <a:endParaRPr lang="en-US" sz="6000" dirty="0"/>
          </a:p>
        </p:txBody>
      </p:sp>
      <p:sp>
        <p:nvSpPr>
          <p:cNvPr id="7" name="Text 4"/>
          <p:cNvSpPr/>
          <p:nvPr/>
        </p:nvSpPr>
        <p:spPr>
          <a:xfrm>
            <a:off x="457200" y="2542032"/>
            <a:ext cx="11274552" cy="502920"/>
          </a:xfrm>
          <a:prstGeom prst="rect">
            <a:avLst/>
          </a:prstGeom>
          <a:noFill/>
          <a:ln/>
        </p:spPr>
        <p:txBody>
          <a:bodyPr wrap="square" rtlCol="0" anchor="ctr"/>
          <a:lstStyle/>
          <a:p>
            <a:pPr algn="ctr" indent="0" marL="0">
              <a:buNone/>
            </a:pPr>
            <a:r>
              <a:rPr lang="en-US" sz="1900" dirty="0">
                <a:solidFill>
                  <a:srgbClr val="E8E8E8"/>
                </a:solidFill>
                <a:latin typeface="Trebuchet MS" pitchFamily="34" charset="0"/>
                <a:ea typeface="Trebuchet MS" pitchFamily="34" charset="-122"/>
                <a:cs typeface="Trebuchet MS" pitchFamily="34" charset="-120"/>
              </a:rPr>
              <a:t>30. Okt. – 2. Nov.  ·  4 Jungs  ·  Europäische Hauptstadt  ·  Halloween-Nacht</a:t>
            </a:r>
            <a:endParaRPr lang="en-US" sz="1900" dirty="0"/>
          </a:p>
        </p:txBody>
      </p:sp>
      <p:sp>
        <p:nvSpPr>
          <p:cNvPr id="8" name="Shape 5"/>
          <p:cNvSpPr/>
          <p:nvPr/>
        </p:nvSpPr>
        <p:spPr>
          <a:xfrm>
            <a:off x="1828800" y="3246120"/>
            <a:ext cx="8531352" cy="548640"/>
          </a:xfrm>
          <a:prstGeom prst="rect">
            <a:avLst/>
          </a:prstGeom>
          <a:solidFill>
            <a:srgbClr val="16213E">
              <a:alpha val="80000"/>
            </a:srgbClr>
          </a:solidFill>
          <a:ln w="12700">
            <a:solidFill>
              <a:srgbClr val="FF8C00"/>
            </a:solidFill>
            <a:prstDash val="solid"/>
          </a:ln>
        </p:spPr>
      </p:sp>
      <p:sp>
        <p:nvSpPr>
          <p:cNvPr id="9" name="Text 6"/>
          <p:cNvSpPr/>
          <p:nvPr/>
        </p:nvSpPr>
        <p:spPr>
          <a:xfrm>
            <a:off x="1828800" y="3246120"/>
            <a:ext cx="8531352" cy="548640"/>
          </a:xfrm>
          <a:prstGeom prst="rect">
            <a:avLst/>
          </a:prstGeom>
          <a:noFill/>
          <a:ln/>
        </p:spPr>
        <p:txBody>
          <a:bodyPr wrap="square" rtlCol="0" anchor="ctr"/>
          <a:lstStyle/>
          <a:p>
            <a:pPr algn="ctr" indent="0" marL="0">
              <a:buNone/>
            </a:pPr>
            <a:r>
              <a:rPr lang="en-US" sz="1500" dirty="0">
                <a:solidFill>
                  <a:srgbClr val="9CA3AF"/>
                </a:solidFill>
                <a:latin typeface="Calibri" pitchFamily="34" charset="0"/>
                <a:ea typeface="Calibri" pitchFamily="34" charset="-122"/>
                <a:cs typeface="Calibri" pitchFamily="34" charset="-120"/>
              </a:rPr>
              <a:t>Bereits bereist:   ✓ Riga   ✓ Athen   ✓ Tirana   ✓ Belgrad</a:t>
            </a:r>
            <a:endParaRPr lang="en-US" sz="1500" dirty="0"/>
          </a:p>
        </p:txBody>
      </p:sp>
      <p:sp>
        <p:nvSpPr>
          <p:cNvPr id="10" name="Text 7"/>
          <p:cNvSpPr/>
          <p:nvPr/>
        </p:nvSpPr>
        <p:spPr>
          <a:xfrm>
            <a:off x="457200" y="3977640"/>
            <a:ext cx="11274552" cy="594360"/>
          </a:xfrm>
          <a:prstGeom prst="rect">
            <a:avLst/>
          </a:prstGeom>
          <a:noFill/>
          <a:ln/>
        </p:spPr>
        <p:txBody>
          <a:bodyPr wrap="square" rtlCol="0" anchor="ctr"/>
          <a:lstStyle/>
          <a:p>
            <a:pPr algn="ctr" indent="0" marL="0">
              <a:buNone/>
            </a:pPr>
            <a:r>
              <a:rPr lang="en-US" sz="2600" b="1" dirty="0">
                <a:solidFill>
                  <a:srgbClr val="F96167"/>
                </a:solidFill>
                <a:latin typeface="Trebuchet MS" pitchFamily="34" charset="0"/>
                <a:ea typeface="Trebuchet MS" pitchFamily="34" charset="-122"/>
                <a:cs typeface="Trebuchet MS" pitchFamily="34" charset="-120"/>
              </a:rPr>
              <a:t>DIE ZIELE STEHEN FEST — ES GEHT LOS!</a:t>
            </a:r>
            <a:endParaRPr lang="en-US" sz="2600" dirty="0"/>
          </a:p>
        </p:txBody>
      </p:sp>
      <p:sp>
        <p:nvSpPr>
          <p:cNvPr id="11" name="Shape 8"/>
          <p:cNvSpPr/>
          <p:nvPr/>
        </p:nvSpPr>
        <p:spPr>
          <a:xfrm>
            <a:off x="1984248" y="4709160"/>
            <a:ext cx="3840480" cy="685800"/>
          </a:xfrm>
          <a:prstGeom prst="rect">
            <a:avLst/>
          </a:prstGeom>
          <a:solidFill>
            <a:srgbClr val="0F3460"/>
          </a:solidFill>
          <a:ln w="12700">
            <a:solidFill>
              <a:srgbClr val="FF8C00"/>
            </a:solidFill>
            <a:prstDash val="solid"/>
          </a:ln>
        </p:spPr>
      </p:sp>
      <p:sp>
        <p:nvSpPr>
          <p:cNvPr id="12" name="Text 9"/>
          <p:cNvSpPr/>
          <p:nvPr/>
        </p:nvSpPr>
        <p:spPr>
          <a:xfrm>
            <a:off x="1984248" y="4709160"/>
            <a:ext cx="3840480" cy="685800"/>
          </a:xfrm>
          <a:prstGeom prst="rect">
            <a:avLst/>
          </a:prstGeom>
          <a:noFill/>
          <a:ln/>
        </p:spPr>
        <p:txBody>
          <a:bodyPr wrap="square" rtlCol="0" anchor="ctr"/>
          <a:lstStyle/>
          <a:p>
            <a:pPr algn="ctr" indent="0" marL="0">
              <a:buNone/>
            </a:pPr>
            <a:r>
              <a:rPr lang="en-US" sz="2400" b="1" dirty="0">
                <a:solidFill>
                  <a:srgbClr val="FFFFFF"/>
                </a:solidFill>
                <a:latin typeface="Trebuchet MS" pitchFamily="34" charset="0"/>
                <a:ea typeface="Trebuchet MS" pitchFamily="34" charset="-122"/>
                <a:cs typeface="Trebuchet MS" pitchFamily="34" charset="-120"/>
              </a:rPr>
              <a:t>🇵🇹 LISSABON</a:t>
            </a:r>
            <a:endParaRPr lang="en-US" sz="2400" dirty="0"/>
          </a:p>
        </p:txBody>
      </p:sp>
      <p:sp>
        <p:nvSpPr>
          <p:cNvPr id="13" name="Shape 10"/>
          <p:cNvSpPr/>
          <p:nvPr/>
        </p:nvSpPr>
        <p:spPr>
          <a:xfrm>
            <a:off x="6099048" y="4709160"/>
            <a:ext cx="3840480" cy="685800"/>
          </a:xfrm>
          <a:prstGeom prst="rect">
            <a:avLst/>
          </a:prstGeom>
          <a:solidFill>
            <a:srgbClr val="0F3460"/>
          </a:solidFill>
          <a:ln w="12700">
            <a:solidFill>
              <a:srgbClr val="1EB4C8"/>
            </a:solidFill>
            <a:prstDash val="solid"/>
          </a:ln>
        </p:spPr>
      </p:sp>
      <p:sp>
        <p:nvSpPr>
          <p:cNvPr id="14" name="Text 11"/>
          <p:cNvSpPr/>
          <p:nvPr/>
        </p:nvSpPr>
        <p:spPr>
          <a:xfrm>
            <a:off x="6099048" y="4709160"/>
            <a:ext cx="3840480" cy="685800"/>
          </a:xfrm>
          <a:prstGeom prst="rect">
            <a:avLst/>
          </a:prstGeom>
          <a:noFill/>
          <a:ln/>
        </p:spPr>
        <p:txBody>
          <a:bodyPr wrap="square" rtlCol="0" anchor="ctr"/>
          <a:lstStyle/>
          <a:p>
            <a:pPr algn="ctr" indent="0" marL="0">
              <a:buNone/>
            </a:pPr>
            <a:r>
              <a:rPr lang="en-US" sz="2400" b="1" dirty="0">
                <a:solidFill>
                  <a:srgbClr val="FFFFFF"/>
                </a:solidFill>
                <a:latin typeface="Trebuchet MS" pitchFamily="34" charset="0"/>
                <a:ea typeface="Trebuchet MS" pitchFamily="34" charset="-122"/>
                <a:cs typeface="Trebuchet MS" pitchFamily="34" charset="-120"/>
              </a:rPr>
              <a:t>🇲🇹 MALTA</a:t>
            </a:r>
            <a:endParaRPr lang="en-US" sz="2400" dirty="0"/>
          </a:p>
        </p:txBody>
      </p:sp>
      <p:sp>
        <p:nvSpPr>
          <p:cNvPr id="15" name="Text 12"/>
          <p:cNvSpPr/>
          <p:nvPr/>
        </p:nvSpPr>
        <p:spPr>
          <a:xfrm>
            <a:off x="0" y="5715000"/>
            <a:ext cx="12192000" cy="365760"/>
          </a:xfrm>
          <a:prstGeom prst="rect">
            <a:avLst/>
          </a:prstGeom>
          <a:noFill/>
          <a:ln/>
        </p:spPr>
        <p:txBody>
          <a:bodyPr wrap="square"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Flüge ab DUS · FMO · DTM  ·  Lissabon 17–22°C · Malta 22–24°C</a:t>
            </a:r>
            <a:endParaRPr lang="en-US" sz="1300" dirty="0"/>
          </a:p>
        </p:txBody>
      </p:sp>
      <p:sp>
        <p:nvSpPr>
          <p:cNvPr id="16" name="Shape 13"/>
          <p:cNvSpPr/>
          <p:nvPr/>
        </p:nvSpPr>
        <p:spPr>
          <a:xfrm>
            <a:off x="0" y="6784848"/>
            <a:ext cx="12192000" cy="73152"/>
          </a:xfrm>
          <a:prstGeom prst="rect">
            <a:avLst/>
          </a:prstGeom>
          <a:solidFill>
            <a:srgbClr val="FF8C00"/>
          </a:solidFill>
          <a:ln w="12700">
            <a:solidFill>
              <a:srgbClr val="FF8C00"/>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FF8C00"/>
          </a:solidFill>
          <a:ln w="12700">
            <a:solidFill>
              <a:srgbClr val="FF8C00"/>
            </a:solidFill>
            <a:prstDash val="solid"/>
          </a:ln>
        </p:spPr>
      </p:sp>
      <p:sp>
        <p:nvSpPr>
          <p:cNvPr id="3" name="Shape 1"/>
          <p:cNvSpPr/>
          <p:nvPr/>
        </p:nvSpPr>
        <p:spPr>
          <a:xfrm>
            <a:off x="0" y="73152"/>
            <a:ext cx="12192000" cy="658368"/>
          </a:xfrm>
          <a:prstGeom prst="rect">
            <a:avLst/>
          </a:prstGeom>
          <a:solidFill>
            <a:srgbClr val="16213E"/>
          </a:solidFill>
          <a:ln w="12700">
            <a:solidFill>
              <a:srgbClr val="16213E"/>
            </a:solidFill>
            <a:prstDash val="solid"/>
          </a:ln>
        </p:spPr>
      </p:sp>
      <p:sp>
        <p:nvSpPr>
          <p:cNvPr id="4" name="Text 2"/>
          <p:cNvSpPr/>
          <p:nvPr/>
        </p:nvSpPr>
        <p:spPr>
          <a:xfrm>
            <a:off x="365760" y="73152"/>
            <a:ext cx="11430000" cy="658368"/>
          </a:xfrm>
          <a:prstGeom prst="rect">
            <a:avLst/>
          </a:prstGeom>
          <a:noFill/>
          <a:ln/>
        </p:spPr>
        <p:txBody>
          <a:bodyPr wrap="square"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  REISEZIEL 1 — LISSABON, PORTUGAL</a:t>
            </a:r>
            <a:endParaRPr lang="en-US" sz="2200" dirty="0"/>
          </a:p>
        </p:txBody>
      </p:sp>
      <p:sp>
        <p:nvSpPr>
          <p:cNvPr id="5" name="Shape 3"/>
          <p:cNvSpPr/>
          <p:nvPr/>
        </p:nvSpPr>
        <p:spPr>
          <a:xfrm>
            <a:off x="0" y="731520"/>
            <a:ext cx="12192000" cy="27432"/>
          </a:xfrm>
          <a:prstGeom prst="rect">
            <a:avLst/>
          </a:prstGeom>
          <a:solidFill>
            <a:srgbClr val="FF8C00"/>
          </a:solidFill>
          <a:ln w="12700">
            <a:solidFill>
              <a:srgbClr val="FF8C00"/>
            </a:solidFill>
            <a:prstDash val="solid"/>
          </a:ln>
        </p:spPr>
      </p:sp>
      <p:pic>
        <p:nvPicPr>
          <p:cNvPr id="6" name="Image 0" descr="/home/user/Excelhaus/halloween_trip/lisbon_hero.png">    </p:cNvPr>
          <p:cNvPicPr>
            <a:picLocks noChangeAspect="1"/>
          </p:cNvPicPr>
          <p:nvPr/>
        </p:nvPicPr>
        <p:blipFill>
          <a:blip r:embed="rId1"/>
          <a:stretch>
            <a:fillRect/>
          </a:stretch>
        </p:blipFill>
        <p:spPr>
          <a:xfrm>
            <a:off x="0" y="758952"/>
            <a:ext cx="6400800" cy="4937760"/>
          </a:xfrm>
          <a:prstGeom prst="rect">
            <a:avLst/>
          </a:prstGeom>
        </p:spPr>
      </p:pic>
      <p:sp>
        <p:nvSpPr>
          <p:cNvPr id="7" name="Shape 4"/>
          <p:cNvSpPr/>
          <p:nvPr/>
        </p:nvSpPr>
        <p:spPr>
          <a:xfrm>
            <a:off x="5303520" y="758952"/>
            <a:ext cx="1097280" cy="4937760"/>
          </a:xfrm>
          <a:prstGeom prst="rect">
            <a:avLst/>
          </a:prstGeom>
          <a:solidFill>
            <a:srgbClr val="1A1A2E"/>
          </a:solidFill>
          <a:ln w="12700">
            <a:solidFill>
              <a:srgbClr val="1A1A2E"/>
            </a:solidFill>
            <a:prstDash val="solid"/>
          </a:ln>
        </p:spPr>
      </p:sp>
      <p:sp>
        <p:nvSpPr>
          <p:cNvPr id="8" name="Text 5"/>
          <p:cNvSpPr/>
          <p:nvPr/>
        </p:nvSpPr>
        <p:spPr>
          <a:xfrm>
            <a:off x="6583680" y="868680"/>
            <a:ext cx="5394960" cy="411480"/>
          </a:xfrm>
          <a:prstGeom prst="rect">
            <a:avLst/>
          </a:prstGeom>
          <a:noFill/>
          <a:ln/>
        </p:spPr>
        <p:txBody>
          <a:bodyPr wrap="square" rtlCol="0" anchor="ctr"/>
          <a:lstStyle/>
          <a:p>
            <a:pPr indent="0" marL="0">
              <a:buNone/>
            </a:pPr>
            <a:r>
              <a:rPr lang="en-US" sz="1600" b="1" dirty="0">
                <a:solidFill>
                  <a:srgbClr val="FF8C00"/>
                </a:solidFill>
                <a:latin typeface="Trebuchet MS" pitchFamily="34" charset="0"/>
                <a:ea typeface="Trebuchet MS" pitchFamily="34" charset="-122"/>
                <a:cs typeface="Trebuchet MS" pitchFamily="34" charset="-120"/>
              </a:rPr>
              <a:t>Nachtleben-Hauptstadt des Atlantiks</a:t>
            </a:r>
            <a:endParaRPr lang="en-US" sz="1600" dirty="0"/>
          </a:p>
        </p:txBody>
      </p:sp>
      <p:sp>
        <p:nvSpPr>
          <p:cNvPr id="9" name="Text 6"/>
          <p:cNvSpPr/>
          <p:nvPr/>
        </p:nvSpPr>
        <p:spPr>
          <a:xfrm>
            <a:off x="6583680" y="1261872"/>
            <a:ext cx="5394960" cy="292608"/>
          </a:xfrm>
          <a:prstGeom prst="rect">
            <a:avLst/>
          </a:prstGeom>
          <a:noFill/>
          <a:ln/>
        </p:spPr>
        <p:txBody>
          <a:bodyPr wrap="square" rtlCol="0" anchor="ctr"/>
          <a:lstStyle/>
          <a:p>
            <a:pPr indent="0" marL="0">
              <a:buNone/>
            </a:pPr>
            <a:r>
              <a:rPr lang="en-US" sz="1000" i="1" dirty="0">
                <a:solidFill>
                  <a:srgbClr val="9CA3AF"/>
                </a:solidFill>
                <a:latin typeface="Calibri" pitchFamily="34" charset="0"/>
                <a:ea typeface="Calibri" pitchFamily="34" charset="-122"/>
                <a:cs typeface="Calibri" pitchFamily="34" charset="-120"/>
              </a:rPr>
              <a:t>Bairro Alto · Pink Street · Alfama Fado · Castelo de São Jorge</a:t>
            </a:r>
            <a:endParaRPr lang="en-US" sz="1000" dirty="0"/>
          </a:p>
        </p:txBody>
      </p:sp>
      <p:sp>
        <p:nvSpPr>
          <p:cNvPr id="10" name="Shape 7"/>
          <p:cNvSpPr/>
          <p:nvPr/>
        </p:nvSpPr>
        <p:spPr>
          <a:xfrm>
            <a:off x="6583680" y="1691640"/>
            <a:ext cx="1691640" cy="1097280"/>
          </a:xfrm>
          <a:prstGeom prst="rect">
            <a:avLst/>
          </a:prstGeom>
          <a:solidFill>
            <a:srgbClr val="0F3460"/>
          </a:solidFill>
          <a:ln w="12700">
            <a:solidFill>
              <a:srgbClr val="FF8C00"/>
            </a:solidFill>
            <a:prstDash val="solid"/>
          </a:ln>
        </p:spPr>
      </p:sp>
      <p:sp>
        <p:nvSpPr>
          <p:cNvPr id="11" name="Text 8"/>
          <p:cNvSpPr/>
          <p:nvPr/>
        </p:nvSpPr>
        <p:spPr>
          <a:xfrm>
            <a:off x="6583680" y="1737360"/>
            <a:ext cx="1691640" cy="32004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 Flugdauer</a:t>
            </a:r>
            <a:endParaRPr lang="en-US" sz="1000" dirty="0"/>
          </a:p>
        </p:txBody>
      </p:sp>
      <p:sp>
        <p:nvSpPr>
          <p:cNvPr id="12" name="Text 9"/>
          <p:cNvSpPr/>
          <p:nvPr/>
        </p:nvSpPr>
        <p:spPr>
          <a:xfrm>
            <a:off x="6583680" y="2039112"/>
            <a:ext cx="1691640" cy="685800"/>
          </a:xfrm>
          <a:prstGeom prst="rect">
            <a:avLst/>
          </a:prstGeom>
          <a:noFill/>
          <a:ln/>
        </p:spPr>
        <p:txBody>
          <a:bodyPr wrap="square" rtlCol="0" anchor="ctr"/>
          <a:lstStyle/>
          <a:p>
            <a:pPr algn="ctr" indent="0" marL="0">
              <a:buNone/>
            </a:pPr>
            <a:r>
              <a:rPr lang="en-US" sz="1600" b="1" dirty="0">
                <a:solidFill>
                  <a:srgbClr val="FF8C00"/>
                </a:solidFill>
                <a:latin typeface="Trebuchet MS" pitchFamily="34" charset="0"/>
                <a:ea typeface="Trebuchet MS" pitchFamily="34" charset="-122"/>
                <a:cs typeface="Trebuchet MS" pitchFamily="34" charset="-120"/>
              </a:rPr>
              <a:t>3h 10m</a:t>
            </a:r>
            <a:endParaRPr lang="en-US" sz="1600" dirty="0"/>
          </a:p>
          <a:p>
            <a:pPr algn="ctr" indent="0" marL="0">
              <a:buNone/>
            </a:pPr>
            <a:r>
              <a:rPr lang="en-US" sz="1600" b="1" dirty="0">
                <a:solidFill>
                  <a:srgbClr val="FF8C00"/>
                </a:solidFill>
                <a:latin typeface="Trebuchet MS" pitchFamily="34" charset="0"/>
                <a:ea typeface="Trebuchet MS" pitchFamily="34" charset="-122"/>
                <a:cs typeface="Trebuchet MS" pitchFamily="34" charset="-120"/>
              </a:rPr>
              <a:t>ab DUS</a:t>
            </a:r>
            <a:endParaRPr lang="en-US" sz="1600" dirty="0"/>
          </a:p>
        </p:txBody>
      </p:sp>
      <p:sp>
        <p:nvSpPr>
          <p:cNvPr id="13" name="Shape 10"/>
          <p:cNvSpPr/>
          <p:nvPr/>
        </p:nvSpPr>
        <p:spPr>
          <a:xfrm>
            <a:off x="8394192" y="1691640"/>
            <a:ext cx="1691640" cy="1097280"/>
          </a:xfrm>
          <a:prstGeom prst="rect">
            <a:avLst/>
          </a:prstGeom>
          <a:solidFill>
            <a:srgbClr val="0F3460"/>
          </a:solidFill>
          <a:ln w="12700">
            <a:solidFill>
              <a:srgbClr val="FF8C00"/>
            </a:solidFill>
            <a:prstDash val="solid"/>
          </a:ln>
        </p:spPr>
      </p:sp>
      <p:sp>
        <p:nvSpPr>
          <p:cNvPr id="14" name="Text 11"/>
          <p:cNvSpPr/>
          <p:nvPr/>
        </p:nvSpPr>
        <p:spPr>
          <a:xfrm>
            <a:off x="8394192" y="1737360"/>
            <a:ext cx="1691640" cy="32004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 Bier</a:t>
            </a:r>
            <a:endParaRPr lang="en-US" sz="1000" dirty="0"/>
          </a:p>
        </p:txBody>
      </p:sp>
      <p:sp>
        <p:nvSpPr>
          <p:cNvPr id="15" name="Text 12"/>
          <p:cNvSpPr/>
          <p:nvPr/>
        </p:nvSpPr>
        <p:spPr>
          <a:xfrm>
            <a:off x="8394192" y="2039112"/>
            <a:ext cx="1691640" cy="685800"/>
          </a:xfrm>
          <a:prstGeom prst="rect">
            <a:avLst/>
          </a:prstGeom>
          <a:noFill/>
          <a:ln/>
        </p:spPr>
        <p:txBody>
          <a:bodyPr wrap="square" rtlCol="0" anchor="ctr"/>
          <a:lstStyle/>
          <a:p>
            <a:pPr algn="ctr" indent="0" marL="0">
              <a:buNone/>
            </a:pPr>
            <a:r>
              <a:rPr lang="en-US" sz="1600" b="1" dirty="0">
                <a:solidFill>
                  <a:srgbClr val="FF8C00"/>
                </a:solidFill>
                <a:latin typeface="Trebuchet MS" pitchFamily="34" charset="0"/>
                <a:ea typeface="Trebuchet MS" pitchFamily="34" charset="-122"/>
                <a:cs typeface="Trebuchet MS" pitchFamily="34" charset="-120"/>
              </a:rPr>
              <a:t>€2 – €3</a:t>
            </a:r>
            <a:endParaRPr lang="en-US" sz="1600" dirty="0"/>
          </a:p>
          <a:p>
            <a:pPr algn="ctr" indent="0" marL="0">
              <a:buNone/>
            </a:pPr>
            <a:r>
              <a:rPr lang="en-US" sz="1600" b="1" dirty="0">
                <a:solidFill>
                  <a:srgbClr val="FF8C00"/>
                </a:solidFill>
                <a:latin typeface="Trebuchet MS" pitchFamily="34" charset="0"/>
                <a:ea typeface="Trebuchet MS" pitchFamily="34" charset="-122"/>
                <a:cs typeface="Trebuchet MS" pitchFamily="34" charset="-120"/>
              </a:rPr>
              <a:t>pro Pint</a:t>
            </a:r>
            <a:endParaRPr lang="en-US" sz="1600" dirty="0"/>
          </a:p>
        </p:txBody>
      </p:sp>
      <p:sp>
        <p:nvSpPr>
          <p:cNvPr id="16" name="Shape 13"/>
          <p:cNvSpPr/>
          <p:nvPr/>
        </p:nvSpPr>
        <p:spPr>
          <a:xfrm>
            <a:off x="10204704" y="1691640"/>
            <a:ext cx="1691640" cy="1097280"/>
          </a:xfrm>
          <a:prstGeom prst="rect">
            <a:avLst/>
          </a:prstGeom>
          <a:solidFill>
            <a:srgbClr val="0F3460"/>
          </a:solidFill>
          <a:ln w="12700">
            <a:solidFill>
              <a:srgbClr val="FF8C00"/>
            </a:solidFill>
            <a:prstDash val="solid"/>
          </a:ln>
        </p:spPr>
      </p:sp>
      <p:sp>
        <p:nvSpPr>
          <p:cNvPr id="17" name="Text 14"/>
          <p:cNvSpPr/>
          <p:nvPr/>
        </p:nvSpPr>
        <p:spPr>
          <a:xfrm>
            <a:off x="10204704" y="1737360"/>
            <a:ext cx="1691640" cy="32004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 Wetter</a:t>
            </a:r>
            <a:endParaRPr lang="en-US" sz="1000" dirty="0"/>
          </a:p>
        </p:txBody>
      </p:sp>
      <p:sp>
        <p:nvSpPr>
          <p:cNvPr id="18" name="Text 15"/>
          <p:cNvSpPr/>
          <p:nvPr/>
        </p:nvSpPr>
        <p:spPr>
          <a:xfrm>
            <a:off x="10204704" y="2039112"/>
            <a:ext cx="1691640" cy="685800"/>
          </a:xfrm>
          <a:prstGeom prst="rect">
            <a:avLst/>
          </a:prstGeom>
          <a:noFill/>
          <a:ln/>
        </p:spPr>
        <p:txBody>
          <a:bodyPr wrap="square" rtlCol="0" anchor="ctr"/>
          <a:lstStyle/>
          <a:p>
            <a:pPr algn="ctr" indent="0" marL="0">
              <a:buNone/>
            </a:pPr>
            <a:r>
              <a:rPr lang="en-US" sz="1600" b="1" dirty="0">
                <a:solidFill>
                  <a:srgbClr val="FF8C00"/>
                </a:solidFill>
                <a:latin typeface="Trebuchet MS" pitchFamily="34" charset="0"/>
                <a:ea typeface="Trebuchet MS" pitchFamily="34" charset="-122"/>
                <a:cs typeface="Trebuchet MS" pitchFamily="34" charset="-120"/>
              </a:rPr>
              <a:t>17–22°C ☀</a:t>
            </a:r>
            <a:endParaRPr lang="en-US" sz="1600" dirty="0"/>
          </a:p>
          <a:p>
            <a:pPr algn="ctr" indent="0" marL="0">
              <a:buNone/>
            </a:pPr>
            <a:r>
              <a:rPr lang="en-US" sz="1600" b="1" dirty="0">
                <a:solidFill>
                  <a:srgbClr val="FF8C00"/>
                </a:solidFill>
                <a:latin typeface="Trebuchet MS" pitchFamily="34" charset="0"/>
                <a:ea typeface="Trebuchet MS" pitchFamily="34" charset="-122"/>
                <a:cs typeface="Trebuchet MS" pitchFamily="34" charset="-120"/>
              </a:rPr>
              <a:t>Ende Oktober</a:t>
            </a:r>
            <a:endParaRPr lang="en-US" sz="1600" dirty="0"/>
          </a:p>
        </p:txBody>
      </p:sp>
      <p:sp>
        <p:nvSpPr>
          <p:cNvPr id="19" name="Shape 16"/>
          <p:cNvSpPr/>
          <p:nvPr/>
        </p:nvSpPr>
        <p:spPr>
          <a:xfrm>
            <a:off x="6583680" y="2926080"/>
            <a:ext cx="1691640" cy="1097280"/>
          </a:xfrm>
          <a:prstGeom prst="rect">
            <a:avLst/>
          </a:prstGeom>
          <a:solidFill>
            <a:srgbClr val="0F3460"/>
          </a:solidFill>
          <a:ln w="12700">
            <a:solidFill>
              <a:srgbClr val="FF8C00"/>
            </a:solidFill>
            <a:prstDash val="solid"/>
          </a:ln>
        </p:spPr>
      </p:sp>
      <p:sp>
        <p:nvSpPr>
          <p:cNvPr id="20" name="Text 17"/>
          <p:cNvSpPr/>
          <p:nvPr/>
        </p:nvSpPr>
        <p:spPr>
          <a:xfrm>
            <a:off x="6583680" y="2971800"/>
            <a:ext cx="1691640" cy="32004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 Kosten ca.</a:t>
            </a:r>
            <a:endParaRPr lang="en-US" sz="1000" dirty="0"/>
          </a:p>
        </p:txBody>
      </p:sp>
      <p:sp>
        <p:nvSpPr>
          <p:cNvPr id="21" name="Text 18"/>
          <p:cNvSpPr/>
          <p:nvPr/>
        </p:nvSpPr>
        <p:spPr>
          <a:xfrm>
            <a:off x="6583680" y="3273552"/>
            <a:ext cx="1691640" cy="685800"/>
          </a:xfrm>
          <a:prstGeom prst="rect">
            <a:avLst/>
          </a:prstGeom>
          <a:noFill/>
          <a:ln/>
        </p:spPr>
        <p:txBody>
          <a:bodyPr wrap="square" rtlCol="0" anchor="ctr"/>
          <a:lstStyle/>
          <a:p>
            <a:pPr algn="ctr" indent="0" marL="0">
              <a:buNone/>
            </a:pPr>
            <a:r>
              <a:rPr lang="en-US" sz="1600" b="1" dirty="0">
                <a:solidFill>
                  <a:srgbClr val="FF8C00"/>
                </a:solidFill>
                <a:latin typeface="Trebuchet MS" pitchFamily="34" charset="0"/>
                <a:ea typeface="Trebuchet MS" pitchFamily="34" charset="-122"/>
                <a:cs typeface="Trebuchet MS" pitchFamily="34" charset="-120"/>
              </a:rPr>
              <a:t>~€735</a:t>
            </a:r>
            <a:endParaRPr lang="en-US" sz="1600" dirty="0"/>
          </a:p>
          <a:p>
            <a:pPr algn="ctr" indent="0" marL="0">
              <a:buNone/>
            </a:pPr>
            <a:r>
              <a:rPr lang="en-US" sz="1600" b="1" dirty="0">
                <a:solidFill>
                  <a:srgbClr val="FF8C00"/>
                </a:solidFill>
                <a:latin typeface="Trebuchet MS" pitchFamily="34" charset="0"/>
                <a:ea typeface="Trebuchet MS" pitchFamily="34" charset="-122"/>
                <a:cs typeface="Trebuchet MS" pitchFamily="34" charset="-120"/>
              </a:rPr>
              <a:t>pro Person</a:t>
            </a:r>
            <a:endParaRPr lang="en-US" sz="1600" dirty="0"/>
          </a:p>
        </p:txBody>
      </p:sp>
      <p:sp>
        <p:nvSpPr>
          <p:cNvPr id="22" name="Shape 19"/>
          <p:cNvSpPr/>
          <p:nvPr/>
        </p:nvSpPr>
        <p:spPr>
          <a:xfrm>
            <a:off x="8394192" y="2926080"/>
            <a:ext cx="1691640" cy="1097280"/>
          </a:xfrm>
          <a:prstGeom prst="rect">
            <a:avLst/>
          </a:prstGeom>
          <a:solidFill>
            <a:srgbClr val="0F3460"/>
          </a:solidFill>
          <a:ln w="12700">
            <a:solidFill>
              <a:srgbClr val="FF8C00"/>
            </a:solidFill>
            <a:prstDash val="solid"/>
          </a:ln>
        </p:spPr>
      </p:sp>
      <p:sp>
        <p:nvSpPr>
          <p:cNvPr id="23" name="Text 20"/>
          <p:cNvSpPr/>
          <p:nvPr/>
        </p:nvSpPr>
        <p:spPr>
          <a:xfrm>
            <a:off x="8394192" y="2971800"/>
            <a:ext cx="1691640" cy="32004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 Nightlife</a:t>
            </a:r>
            <a:endParaRPr lang="en-US" sz="1000" dirty="0"/>
          </a:p>
        </p:txBody>
      </p:sp>
      <p:sp>
        <p:nvSpPr>
          <p:cNvPr id="24" name="Text 21"/>
          <p:cNvSpPr/>
          <p:nvPr/>
        </p:nvSpPr>
        <p:spPr>
          <a:xfrm>
            <a:off x="8394192" y="3273552"/>
            <a:ext cx="1691640" cy="685800"/>
          </a:xfrm>
          <a:prstGeom prst="rect">
            <a:avLst/>
          </a:prstGeom>
          <a:noFill/>
          <a:ln/>
        </p:spPr>
        <p:txBody>
          <a:bodyPr wrap="square" rtlCol="0" anchor="ctr"/>
          <a:lstStyle/>
          <a:p>
            <a:pPr algn="ctr" indent="0" marL="0">
              <a:buNone/>
            </a:pPr>
            <a:r>
              <a:rPr lang="en-US" sz="1600" b="1" dirty="0">
                <a:solidFill>
                  <a:srgbClr val="FF8C00"/>
                </a:solidFill>
                <a:latin typeface="Trebuchet MS" pitchFamily="34" charset="0"/>
                <a:ea typeface="Trebuchet MS" pitchFamily="34" charset="-122"/>
                <a:cs typeface="Trebuchet MS" pitchFamily="34" charset="-120"/>
              </a:rPr>
              <a:t>⭐⭐⭐⭐⭐</a:t>
            </a:r>
            <a:endParaRPr lang="en-US" sz="1600" dirty="0"/>
          </a:p>
          <a:p>
            <a:pPr algn="ctr" indent="0" marL="0">
              <a:buNone/>
            </a:pPr>
            <a:r>
              <a:rPr lang="en-US" sz="1600" b="1" dirty="0">
                <a:solidFill>
                  <a:srgbClr val="FF8C00"/>
                </a:solidFill>
                <a:latin typeface="Trebuchet MS" pitchFamily="34" charset="0"/>
                <a:ea typeface="Trebuchet MS" pitchFamily="34" charset="-122"/>
                <a:cs typeface="Trebuchet MS" pitchFamily="34" charset="-120"/>
              </a:rPr>
              <a:t>Weltklasse</a:t>
            </a:r>
            <a:endParaRPr lang="en-US" sz="1600" dirty="0"/>
          </a:p>
        </p:txBody>
      </p:sp>
      <p:sp>
        <p:nvSpPr>
          <p:cNvPr id="25" name="Shape 22"/>
          <p:cNvSpPr/>
          <p:nvPr/>
        </p:nvSpPr>
        <p:spPr>
          <a:xfrm>
            <a:off x="10204704" y="2926080"/>
            <a:ext cx="1691640" cy="1097280"/>
          </a:xfrm>
          <a:prstGeom prst="rect">
            <a:avLst/>
          </a:prstGeom>
          <a:solidFill>
            <a:srgbClr val="0F3460"/>
          </a:solidFill>
          <a:ln w="12700">
            <a:solidFill>
              <a:srgbClr val="FF8C00"/>
            </a:solidFill>
            <a:prstDash val="solid"/>
          </a:ln>
        </p:spPr>
      </p:sp>
      <p:sp>
        <p:nvSpPr>
          <p:cNvPr id="26" name="Text 23"/>
          <p:cNvSpPr/>
          <p:nvPr/>
        </p:nvSpPr>
        <p:spPr>
          <a:xfrm>
            <a:off x="10204704" y="2971800"/>
            <a:ext cx="1691640" cy="32004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 Ab Flughafen</a:t>
            </a:r>
            <a:endParaRPr lang="en-US" sz="1000" dirty="0"/>
          </a:p>
        </p:txBody>
      </p:sp>
      <p:sp>
        <p:nvSpPr>
          <p:cNvPr id="27" name="Text 24"/>
          <p:cNvSpPr/>
          <p:nvPr/>
        </p:nvSpPr>
        <p:spPr>
          <a:xfrm>
            <a:off x="10204704" y="3273552"/>
            <a:ext cx="1691640" cy="685800"/>
          </a:xfrm>
          <a:prstGeom prst="rect">
            <a:avLst/>
          </a:prstGeom>
          <a:noFill/>
          <a:ln/>
        </p:spPr>
        <p:txBody>
          <a:bodyPr wrap="square" rtlCol="0" anchor="ctr"/>
          <a:lstStyle/>
          <a:p>
            <a:pPr algn="ctr" indent="0" marL="0">
              <a:buNone/>
            </a:pPr>
            <a:r>
              <a:rPr lang="en-US" sz="1600" b="1" dirty="0">
                <a:solidFill>
                  <a:srgbClr val="FF8C00"/>
                </a:solidFill>
                <a:latin typeface="Trebuchet MS" pitchFamily="34" charset="0"/>
                <a:ea typeface="Trebuchet MS" pitchFamily="34" charset="-122"/>
                <a:cs typeface="Trebuchet MS" pitchFamily="34" charset="-120"/>
              </a:rPr>
              <a:t>Nur DUS</a:t>
            </a:r>
            <a:endParaRPr lang="en-US" sz="1600" dirty="0"/>
          </a:p>
          <a:p>
            <a:pPr algn="ctr" indent="0" marL="0">
              <a:buNone/>
            </a:pPr>
            <a:r>
              <a:rPr lang="en-US" sz="1600" b="1" dirty="0">
                <a:solidFill>
                  <a:srgbClr val="FF8C00"/>
                </a:solidFill>
                <a:latin typeface="Trebuchet MS" pitchFamily="34" charset="0"/>
                <a:ea typeface="Trebuchet MS" pitchFamily="34" charset="-122"/>
                <a:cs typeface="Trebuchet MS" pitchFamily="34" charset="-120"/>
              </a:rPr>
              <a:t>(Eurowings/TAP)</a:t>
            </a:r>
            <a:endParaRPr lang="en-US" sz="1600" dirty="0"/>
          </a:p>
        </p:txBody>
      </p:sp>
      <p:sp>
        <p:nvSpPr>
          <p:cNvPr id="28" name="Shape 25"/>
          <p:cNvSpPr/>
          <p:nvPr/>
        </p:nvSpPr>
        <p:spPr>
          <a:xfrm>
            <a:off x="6583680" y="4251960"/>
            <a:ext cx="5394960" cy="1417320"/>
          </a:xfrm>
          <a:prstGeom prst="rect">
            <a:avLst/>
          </a:prstGeom>
          <a:solidFill>
            <a:srgbClr val="16213E"/>
          </a:solidFill>
          <a:ln w="12700">
            <a:solidFill>
              <a:srgbClr val="0F3460"/>
            </a:solidFill>
            <a:prstDash val="solid"/>
          </a:ln>
        </p:spPr>
      </p:sp>
      <p:sp>
        <p:nvSpPr>
          <p:cNvPr id="29" name="Text 26"/>
          <p:cNvSpPr/>
          <p:nvPr/>
        </p:nvSpPr>
        <p:spPr>
          <a:xfrm>
            <a:off x="6720840" y="4343400"/>
            <a:ext cx="5120640" cy="1234440"/>
          </a:xfrm>
          <a:prstGeom prst="rect">
            <a:avLst/>
          </a:prstGeom>
          <a:noFill/>
          <a:ln/>
        </p:spPr>
        <p:txBody>
          <a:bodyPr wrap="square" rtlCol="0" anchor="t"/>
          <a:lstStyle/>
          <a:p>
            <a:pPr indent="0" marL="0">
              <a:buNone/>
            </a:pPr>
            <a:r>
              <a:rPr lang="en-US" sz="1050" dirty="0">
                <a:solidFill>
                  <a:srgbClr val="E8E8E8"/>
                </a:solidFill>
                <a:latin typeface="Calibri" pitchFamily="34" charset="0"/>
                <a:ea typeface="Calibri" pitchFamily="34" charset="-122"/>
                <a:cs typeface="Calibri" pitchFamily="34" charset="-120"/>
              </a:rPr>
              <a:t>Lissabon punktet mit warmem Atlantik-Charme und einer der günstigsten, lebendigsten Nachtlebensszenen Europas. Bairro Alto explodiert ab Mitternacht mit 200+ Bars. Pink-Street-Clubs laufen bis in den Morgen. Die Stadt feiert Halloween ausgiebig — Kneipentour, Kostümparties und Mega-Club-Events. Ende Oktober: T-Shirt-Wetter garantiert.</a:t>
            </a:r>
            <a:endParaRPr lang="en-US" sz="1050" dirty="0"/>
          </a:p>
        </p:txBody>
      </p:sp>
      <p:sp>
        <p:nvSpPr>
          <p:cNvPr id="30" name="Shape 27"/>
          <p:cNvSpPr/>
          <p:nvPr/>
        </p:nvSpPr>
        <p:spPr>
          <a:xfrm>
            <a:off x="0" y="6784848"/>
            <a:ext cx="12192000" cy="73152"/>
          </a:xfrm>
          <a:prstGeom prst="rect">
            <a:avLst/>
          </a:prstGeom>
          <a:solidFill>
            <a:srgbClr val="FF8C00"/>
          </a:solidFill>
          <a:ln w="12700">
            <a:solidFill>
              <a:srgbClr val="FF8C00"/>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FF8C00"/>
          </a:solidFill>
          <a:ln w="12700">
            <a:solidFill>
              <a:srgbClr val="FF8C00"/>
            </a:solidFill>
            <a:prstDash val="solid"/>
          </a:ln>
        </p:spPr>
      </p:sp>
      <p:sp>
        <p:nvSpPr>
          <p:cNvPr id="3" name="Shape 1"/>
          <p:cNvSpPr/>
          <p:nvPr/>
        </p:nvSpPr>
        <p:spPr>
          <a:xfrm>
            <a:off x="0" y="73152"/>
            <a:ext cx="12192000" cy="658368"/>
          </a:xfrm>
          <a:prstGeom prst="rect">
            <a:avLst/>
          </a:prstGeom>
          <a:solidFill>
            <a:srgbClr val="16213E"/>
          </a:solidFill>
          <a:ln w="12700">
            <a:solidFill>
              <a:srgbClr val="16213E"/>
            </a:solidFill>
            <a:prstDash val="solid"/>
          </a:ln>
        </p:spPr>
      </p:sp>
      <p:sp>
        <p:nvSpPr>
          <p:cNvPr id="4" name="Text 2"/>
          <p:cNvSpPr/>
          <p:nvPr/>
        </p:nvSpPr>
        <p:spPr>
          <a:xfrm>
            <a:off x="365760" y="73152"/>
            <a:ext cx="11430000" cy="658368"/>
          </a:xfrm>
          <a:prstGeom prst="rect">
            <a:avLst/>
          </a:prstGeom>
          <a:noFill/>
          <a:ln/>
        </p:spPr>
        <p:txBody>
          <a:bodyPr wrap="square"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  LISSABON — FLÜGE</a:t>
            </a:r>
            <a:endParaRPr lang="en-US" sz="2200" dirty="0"/>
          </a:p>
        </p:txBody>
      </p:sp>
      <p:sp>
        <p:nvSpPr>
          <p:cNvPr id="5" name="Shape 3"/>
          <p:cNvSpPr/>
          <p:nvPr/>
        </p:nvSpPr>
        <p:spPr>
          <a:xfrm>
            <a:off x="0" y="731520"/>
            <a:ext cx="12192000" cy="27432"/>
          </a:xfrm>
          <a:prstGeom prst="rect">
            <a:avLst/>
          </a:prstGeom>
          <a:solidFill>
            <a:srgbClr val="FF8C00"/>
          </a:solidFill>
          <a:ln w="12700">
            <a:solidFill>
              <a:srgbClr val="FF8C00"/>
            </a:solidFill>
            <a:prstDash val="solid"/>
          </a:ln>
        </p:spPr>
      </p:sp>
      <p:sp>
        <p:nvSpPr>
          <p:cNvPr id="6" name="Text 4"/>
          <p:cNvSpPr/>
          <p:nvPr/>
        </p:nvSpPr>
        <p:spPr>
          <a:xfrm>
            <a:off x="365760" y="914400"/>
            <a:ext cx="11430000" cy="320040"/>
          </a:xfrm>
          <a:prstGeom prst="rect">
            <a:avLst/>
          </a:prstGeom>
          <a:noFill/>
          <a:ln/>
        </p:spPr>
        <p:txBody>
          <a:bodyPr wrap="square" rtlCol="0" anchor="ctr"/>
          <a:lstStyle/>
          <a:p>
            <a:pPr indent="0" marL="0">
              <a:buNone/>
            </a:pPr>
            <a:r>
              <a:rPr lang="en-US" sz="1300" b="1" dirty="0">
                <a:solidFill>
                  <a:srgbClr val="FF8C00"/>
                </a:solidFill>
                <a:latin typeface="Trebuchet MS" pitchFamily="34" charset="0"/>
                <a:ea typeface="Trebuchet MS" pitchFamily="34" charset="-122"/>
                <a:cs typeface="Trebuchet MS" pitchFamily="34" charset="-120"/>
              </a:rPr>
              <a:t>HINFLUG: Deutschland → LIS (Lissabon)</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1261872"/>
          <a:ext cx="11430000" cy="914400"/>
        </p:xfrm>
        <a:graphic>
          <a:graphicData uri="http://schemas.openxmlformats.org/drawingml/2006/table">
            <a:tbl>
              <a:tblPr/>
              <a:tblGrid>
                <a:gridCol w="1280160"/>
                <a:gridCol w="1508760"/>
                <a:gridCol w="1828800"/>
                <a:gridCol w="1097280"/>
                <a:gridCol w="1097280"/>
                <a:gridCol w="1097280"/>
                <a:gridCol w="1463040"/>
                <a:gridCol w="1371600"/>
              </a:tblGrid>
              <a:tr h="347472">
                <a:tc>
                  <a:txBody>
                    <a:bodyPr/>
                    <a:lstStyle/>
                    <a:p>
                      <a:pPr algn="ctr" indent="0" marL="0">
                        <a:buNone/>
                      </a:pPr>
                      <a:r>
                        <a:rPr lang="en-US" sz="1100" b="1" dirty="0">
                          <a:solidFill>
                            <a:srgbClr val="FF8C00"/>
                          </a:solidFill>
                          <a:latin typeface="Trebuchet MS" pitchFamily="34" charset="0"/>
                          <a:ea typeface="Trebuchet MS" pitchFamily="34" charset="-122"/>
                          <a:cs typeface="Trebuchet MS" pitchFamily="34" charset="-120"/>
                        </a:rPr>
                        <a:t>Option</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FF8C00"/>
                          </a:solidFill>
                          <a:latin typeface="Trebuchet MS" pitchFamily="34" charset="0"/>
                          <a:ea typeface="Trebuchet MS" pitchFamily="34" charset="-122"/>
                          <a:cs typeface="Trebuchet MS" pitchFamily="34" charset="-120"/>
                        </a:rPr>
                        <a:t>Flug</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FF8C00"/>
                          </a:solidFill>
                          <a:latin typeface="Trebuchet MS" pitchFamily="34" charset="0"/>
                          <a:ea typeface="Trebuchet MS" pitchFamily="34" charset="-122"/>
                          <a:cs typeface="Trebuchet MS" pitchFamily="34" charset="-120"/>
                        </a:rPr>
                        <a:t>Strecke &amp; Datum</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FF8C00"/>
                          </a:solidFill>
                          <a:latin typeface="Trebuchet MS" pitchFamily="34" charset="0"/>
                          <a:ea typeface="Trebuchet MS" pitchFamily="34" charset="-122"/>
                          <a:cs typeface="Trebuchet MS" pitchFamily="34" charset="-120"/>
                        </a:rPr>
                        <a:t>Abflug</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FF8C00"/>
                          </a:solidFill>
                          <a:latin typeface="Trebuchet MS" pitchFamily="34" charset="0"/>
                          <a:ea typeface="Trebuchet MS" pitchFamily="34" charset="-122"/>
                          <a:cs typeface="Trebuchet MS" pitchFamily="34" charset="-120"/>
                        </a:rPr>
                        <a:t>Ankunft</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FF8C00"/>
                          </a:solidFill>
                          <a:latin typeface="Trebuchet MS" pitchFamily="34" charset="0"/>
                          <a:ea typeface="Trebuchet MS" pitchFamily="34" charset="-122"/>
                          <a:cs typeface="Trebuchet MS" pitchFamily="34" charset="-120"/>
                        </a:rPr>
                        <a:t>Dauer</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FF8C00"/>
                          </a:solidFill>
                          <a:latin typeface="Trebuchet MS" pitchFamily="34" charset="0"/>
                          <a:ea typeface="Trebuchet MS" pitchFamily="34" charset="-122"/>
                          <a:cs typeface="Trebuchet MS" pitchFamily="34" charset="-120"/>
                        </a:rPr>
                        <a:t>Preis p.P.</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FF8C00"/>
                          </a:solidFill>
                          <a:latin typeface="Trebuchet MS" pitchFamily="34" charset="0"/>
                          <a:ea typeface="Trebuchet MS" pitchFamily="34" charset="-122"/>
                          <a:cs typeface="Trebuchet MS" pitchFamily="34" charset="-120"/>
                        </a:rPr>
                        <a:t>Gesamt (×4)</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r>
              <a:tr h="475488">
                <a:tc>
                  <a:txBody>
                    <a:bodyPr/>
                    <a:lstStyle/>
                    <a:p>
                      <a:pPr algn="ctr" indent="0" marL="0">
                        <a:buNone/>
                      </a:pPr>
                      <a:r>
                        <a:rPr lang="en-US" sz="1000" b="1" dirty="0">
                          <a:solidFill>
                            <a:srgbClr val="22C55E"/>
                          </a:solidFill>
                          <a:latin typeface="Calibri" pitchFamily="34" charset="0"/>
                          <a:ea typeface="Calibri" pitchFamily="34" charset="-122"/>
                          <a:cs typeface="Calibri" pitchFamily="34" charset="-120"/>
                        </a:rPr>
                        <a:t>⭐ Empfohlen</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EW9602</a:t>
                      </a:r>
                      <a:endParaRPr lang="en-US" sz="1000" dirty="0">
                        <a:latin typeface="Calibri" charset="0"/>
                        <a:ea typeface="Calibri" charset="0"/>
                        <a:cs typeface="Calibri" charset="0"/>
                      </a:endParaRPr>
                    </a:p>
                    <a:p>
                      <a:pPr algn="ctr" indent="0" marL="0">
                        <a:buNone/>
                      </a:pPr>
                      <a:r>
                        <a:rPr lang="en-US" sz="1000" dirty="0">
                          <a:solidFill>
                            <a:srgbClr val="E8E8E8"/>
                          </a:solidFill>
                          <a:latin typeface="Calibri" pitchFamily="34" charset="0"/>
                          <a:ea typeface="Calibri" pitchFamily="34" charset="-122"/>
                          <a:cs typeface="Calibri" pitchFamily="34" charset="-120"/>
                        </a:rPr>
                        <a:t>Eurowings</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DUS → LIS</a:t>
                      </a:r>
                      <a:endParaRPr lang="en-US" sz="1000" dirty="0">
                        <a:latin typeface="Calibri" charset="0"/>
                        <a:ea typeface="Calibri" charset="0"/>
                        <a:cs typeface="Calibri" charset="0"/>
                      </a:endParaRPr>
                    </a:p>
                    <a:p>
                      <a:pPr algn="ctr" indent="0" marL="0">
                        <a:buNone/>
                      </a:pPr>
                      <a:r>
                        <a:rPr lang="en-US" sz="1000" dirty="0">
                          <a:solidFill>
                            <a:srgbClr val="E8E8E8"/>
                          </a:solidFill>
                          <a:latin typeface="Calibri" pitchFamily="34" charset="0"/>
                          <a:ea typeface="Calibri" pitchFamily="34" charset="-122"/>
                          <a:cs typeface="Calibri" pitchFamily="34" charset="-120"/>
                        </a:rPr>
                        <a:t>30. Okt. morgens</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10:15</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12:20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3h 05m</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b="1" dirty="0">
                          <a:solidFill>
                            <a:srgbClr val="FF8C00"/>
                          </a:solidFill>
                          <a:latin typeface="Calibri" pitchFamily="34" charset="0"/>
                          <a:ea typeface="Calibri" pitchFamily="34" charset="-122"/>
                          <a:cs typeface="Calibri" pitchFamily="34" charset="-120"/>
                        </a:rPr>
                        <a:t>~€400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r>
              <a:tr h="475488">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Frühabflug</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EW9602</a:t>
                      </a:r>
                      <a:endParaRPr lang="en-US" sz="1000" dirty="0">
                        <a:latin typeface="Calibri" charset="0"/>
                        <a:ea typeface="Calibri" charset="0"/>
                        <a:cs typeface="Calibri" charset="0"/>
                      </a:endParaRPr>
                    </a:p>
                    <a:p>
                      <a:pPr algn="ctr" indent="0" marL="0">
                        <a:buNone/>
                      </a:pPr>
                      <a:r>
                        <a:rPr lang="en-US" sz="1000" dirty="0">
                          <a:solidFill>
                            <a:srgbClr val="E8E8E8"/>
                          </a:solidFill>
                          <a:latin typeface="Calibri" pitchFamily="34" charset="0"/>
                          <a:ea typeface="Calibri" pitchFamily="34" charset="-122"/>
                          <a:cs typeface="Calibri" pitchFamily="34" charset="-120"/>
                        </a:rPr>
                        <a:t>Eurowings</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DUS → LIS</a:t>
                      </a:r>
                      <a:endParaRPr lang="en-US" sz="1000" dirty="0">
                        <a:latin typeface="Calibri" charset="0"/>
                        <a:ea typeface="Calibri" charset="0"/>
                        <a:cs typeface="Calibri" charset="0"/>
                      </a:endParaRPr>
                    </a:p>
                    <a:p>
                      <a:pPr algn="ctr" indent="0" marL="0">
                        <a:buNone/>
                      </a:pPr>
                      <a:r>
                        <a:rPr lang="en-US" sz="1000" dirty="0">
                          <a:solidFill>
                            <a:srgbClr val="E8E8E8"/>
                          </a:solidFill>
                          <a:latin typeface="Calibri" pitchFamily="34" charset="0"/>
                          <a:ea typeface="Calibri" pitchFamily="34" charset="-122"/>
                          <a:cs typeface="Calibri" pitchFamily="34" charset="-120"/>
                        </a:rPr>
                        <a:t>30. Okt.</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06:20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08:25</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3h 05m</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FFC107"/>
                          </a:solidFill>
                          <a:latin typeface="Calibri" pitchFamily="34" charset="0"/>
                          <a:ea typeface="Calibri" pitchFamily="34" charset="-122"/>
                          <a:cs typeface="Calibri" pitchFamily="34" charset="-120"/>
                        </a:rPr>
                        <a:t>~€320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r>
              <a:tr h="475488">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Vorabend</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EW9604</a:t>
                      </a:r>
                      <a:endParaRPr lang="en-US" sz="1000" dirty="0">
                        <a:latin typeface="Calibri" charset="0"/>
                        <a:ea typeface="Calibri" charset="0"/>
                        <a:cs typeface="Calibri" charset="0"/>
                      </a:endParaRPr>
                    </a:p>
                    <a:p>
                      <a:pPr algn="ctr" indent="0" marL="0">
                        <a:buNone/>
                      </a:pPr>
                      <a:r>
                        <a:rPr lang="en-US" sz="1000" dirty="0">
                          <a:solidFill>
                            <a:srgbClr val="E8E8E8"/>
                          </a:solidFill>
                          <a:latin typeface="Calibri" pitchFamily="34" charset="0"/>
                          <a:ea typeface="Calibri" pitchFamily="34" charset="-122"/>
                          <a:cs typeface="Calibri" pitchFamily="34" charset="-120"/>
                        </a:rPr>
                        <a:t>Eurowings</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DUS → LIS</a:t>
                      </a:r>
                      <a:endParaRPr lang="en-US" sz="1000" dirty="0">
                        <a:latin typeface="Calibri" charset="0"/>
                        <a:ea typeface="Calibri" charset="0"/>
                        <a:cs typeface="Calibri" charset="0"/>
                      </a:endParaRPr>
                    </a:p>
                    <a:p>
                      <a:pPr algn="ctr" indent="0" marL="0">
                        <a:buNone/>
                      </a:pPr>
                      <a:r>
                        <a:rPr lang="en-US" sz="1000" dirty="0">
                          <a:solidFill>
                            <a:srgbClr val="E8E8E8"/>
                          </a:solidFill>
                          <a:latin typeface="Calibri" pitchFamily="34" charset="0"/>
                          <a:ea typeface="Calibri" pitchFamily="34" charset="-122"/>
                          <a:cs typeface="Calibri" pitchFamily="34" charset="-120"/>
                        </a:rPr>
                        <a:t>29. Okt. abends</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~18:30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~20:30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3h 00m</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~€90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FFC107"/>
                          </a:solidFill>
                          <a:latin typeface="Calibri" pitchFamily="34" charset="0"/>
                          <a:ea typeface="Calibri" pitchFamily="34" charset="-122"/>
                          <a:cs typeface="Calibri" pitchFamily="34" charset="-120"/>
                        </a:rPr>
                        <a:t>~€360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r>
              <a:tr h="475488">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Premium</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TP541</a:t>
                      </a:r>
                      <a:endParaRPr lang="en-US" sz="1000" dirty="0">
                        <a:latin typeface="Calibri" charset="0"/>
                        <a:ea typeface="Calibri" charset="0"/>
                        <a:cs typeface="Calibri" charset="0"/>
                      </a:endParaRPr>
                    </a:p>
                    <a:p>
                      <a:pPr algn="ctr" indent="0" marL="0">
                        <a:buNone/>
                      </a:pPr>
                      <a:r>
                        <a:rPr lang="en-US" sz="1000" dirty="0">
                          <a:solidFill>
                            <a:srgbClr val="E8E8E8"/>
                          </a:solidFill>
                          <a:latin typeface="Calibri" pitchFamily="34" charset="0"/>
                          <a:ea typeface="Calibri" pitchFamily="34" charset="-122"/>
                          <a:cs typeface="Calibri" pitchFamily="34" charset="-120"/>
                        </a:rPr>
                        <a:t>TAP Portugal</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DUS → LIS</a:t>
                      </a:r>
                      <a:endParaRPr lang="en-US" sz="1000" dirty="0">
                        <a:latin typeface="Calibri" charset="0"/>
                        <a:ea typeface="Calibri" charset="0"/>
                        <a:cs typeface="Calibri" charset="0"/>
                      </a:endParaRPr>
                    </a:p>
                    <a:p>
                      <a:pPr algn="ctr" indent="0" marL="0">
                        <a:buNone/>
                      </a:pPr>
                      <a:r>
                        <a:rPr lang="en-US" sz="1000" dirty="0">
                          <a:solidFill>
                            <a:srgbClr val="E8E8E8"/>
                          </a:solidFill>
                          <a:latin typeface="Calibri" pitchFamily="34" charset="0"/>
                          <a:ea typeface="Calibri" pitchFamily="34" charset="-122"/>
                          <a:cs typeface="Calibri" pitchFamily="34" charset="-120"/>
                        </a:rPr>
                        <a:t>30. Okt.</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Verschieden</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Verschieden</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3h 10m</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€150–180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FFC107"/>
                          </a:solidFill>
                          <a:latin typeface="Calibri" pitchFamily="34" charset="0"/>
                          <a:ea typeface="Calibri" pitchFamily="34" charset="-122"/>
                          <a:cs typeface="Calibri" pitchFamily="34" charset="-120"/>
                        </a:rPr>
                        <a:t>€600–720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r>
            </a:tbl>
          </a:graphicData>
        </a:graphic>
      </p:graphicFrame>
      <p:sp>
        <p:nvSpPr>
          <p:cNvPr id="8" name="Text 5"/>
          <p:cNvSpPr/>
          <p:nvPr/>
        </p:nvSpPr>
        <p:spPr>
          <a:xfrm>
            <a:off x="365760" y="3712464"/>
            <a:ext cx="11430000" cy="320040"/>
          </a:xfrm>
          <a:prstGeom prst="rect">
            <a:avLst/>
          </a:prstGeom>
          <a:noFill/>
          <a:ln/>
        </p:spPr>
        <p:txBody>
          <a:bodyPr wrap="square" rtlCol="0" anchor="ctr"/>
          <a:lstStyle/>
          <a:p>
            <a:pPr indent="0" marL="0">
              <a:buNone/>
            </a:pPr>
            <a:r>
              <a:rPr lang="en-US" sz="1300" b="1" dirty="0">
                <a:solidFill>
                  <a:srgbClr val="FF8C00"/>
                </a:solidFill>
                <a:latin typeface="Trebuchet MS" pitchFamily="34" charset="0"/>
                <a:ea typeface="Trebuchet MS" pitchFamily="34" charset="-122"/>
                <a:cs typeface="Trebuchet MS" pitchFamily="34" charset="-120"/>
              </a:rPr>
              <a:t>RÜCKFLUG: LIS (Lissabon) → Deutschland (2. Nov.)</a:t>
            </a:r>
            <a:endParaRPr lang="en-US" sz="13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65760" y="4050792"/>
          <a:ext cx="11430000" cy="914400"/>
        </p:xfrm>
        <a:graphic>
          <a:graphicData uri="http://schemas.openxmlformats.org/drawingml/2006/table">
            <a:tbl>
              <a:tblPr/>
              <a:tblGrid>
                <a:gridCol w="2286000"/>
                <a:gridCol w="1828800"/>
                <a:gridCol w="1188720"/>
                <a:gridCol w="1188720"/>
                <a:gridCol w="1188720"/>
                <a:gridCol w="1645920"/>
                <a:gridCol w="1463040"/>
              </a:tblGrid>
              <a:tr h="347472">
                <a:tc>
                  <a:txBody>
                    <a:bodyPr/>
                    <a:lstStyle/>
                    <a:p>
                      <a:pPr algn="ctr" indent="0" marL="0">
                        <a:buNone/>
                      </a:pPr>
                      <a:r>
                        <a:rPr lang="en-US" sz="1100" b="1" dirty="0">
                          <a:solidFill>
                            <a:srgbClr val="FF8C00"/>
                          </a:solidFill>
                          <a:latin typeface="Trebuchet MS" pitchFamily="34" charset="0"/>
                          <a:ea typeface="Trebuchet MS" pitchFamily="34" charset="-122"/>
                          <a:cs typeface="Trebuchet MS" pitchFamily="34" charset="-120"/>
                        </a:rPr>
                        <a:t>Flug</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FF8C00"/>
                          </a:solidFill>
                          <a:latin typeface="Trebuchet MS" pitchFamily="34" charset="0"/>
                          <a:ea typeface="Trebuchet MS" pitchFamily="34" charset="-122"/>
                          <a:cs typeface="Trebuchet MS" pitchFamily="34" charset="-120"/>
                        </a:rPr>
                        <a:t>Strecke &amp; Datum</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FF8C00"/>
                          </a:solidFill>
                          <a:latin typeface="Trebuchet MS" pitchFamily="34" charset="0"/>
                          <a:ea typeface="Trebuchet MS" pitchFamily="34" charset="-122"/>
                          <a:cs typeface="Trebuchet MS" pitchFamily="34" charset="-120"/>
                        </a:rPr>
                        <a:t>Abflug</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FF8C00"/>
                          </a:solidFill>
                          <a:latin typeface="Trebuchet MS" pitchFamily="34" charset="0"/>
                          <a:ea typeface="Trebuchet MS" pitchFamily="34" charset="-122"/>
                          <a:cs typeface="Trebuchet MS" pitchFamily="34" charset="-120"/>
                        </a:rPr>
                        <a:t>Ankunft</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FF8C00"/>
                          </a:solidFill>
                          <a:latin typeface="Trebuchet MS" pitchFamily="34" charset="0"/>
                          <a:ea typeface="Trebuchet MS" pitchFamily="34" charset="-122"/>
                          <a:cs typeface="Trebuchet MS" pitchFamily="34" charset="-120"/>
                        </a:rPr>
                        <a:t>Dauer</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FF8C00"/>
                          </a:solidFill>
                          <a:latin typeface="Trebuchet MS" pitchFamily="34" charset="0"/>
                          <a:ea typeface="Trebuchet MS" pitchFamily="34" charset="-122"/>
                          <a:cs typeface="Trebuchet MS" pitchFamily="34" charset="-120"/>
                        </a:rPr>
                        <a:t>Preis p.P.</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FF8C00"/>
                          </a:solidFill>
                          <a:latin typeface="Trebuchet MS" pitchFamily="34" charset="0"/>
                          <a:ea typeface="Trebuchet MS" pitchFamily="34" charset="-122"/>
                          <a:cs typeface="Trebuchet MS" pitchFamily="34" charset="-120"/>
                        </a:rPr>
                        <a:t>Gesamt (×4)</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r>
              <a:tr h="475488">
                <a:tc>
                  <a:txBody>
                    <a:bodyPr/>
                    <a:lstStyle/>
                    <a:p>
                      <a:pPr algn="ctr" indent="0" marL="0">
                        <a:buNone/>
                      </a:pPr>
                      <a:r>
                        <a:rPr lang="en-US" sz="1000" dirty="0">
                          <a:solidFill>
                            <a:srgbClr val="22C55E"/>
                          </a:solidFill>
                          <a:latin typeface="Calibri" pitchFamily="34" charset="0"/>
                          <a:ea typeface="Calibri" pitchFamily="34" charset="-122"/>
                          <a:cs typeface="Calibri" pitchFamily="34" charset="-120"/>
                        </a:rPr>
                        <a:t>EW9603 Eurowings</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LIS → DUS  /  2. Nov.</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18:00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21:50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3h 50m</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~€90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b="1" dirty="0">
                          <a:solidFill>
                            <a:srgbClr val="FFC107"/>
                          </a:solidFill>
                          <a:latin typeface="Calibri" pitchFamily="34" charset="0"/>
                          <a:ea typeface="Calibri" pitchFamily="34" charset="-122"/>
                          <a:cs typeface="Calibri" pitchFamily="34" charset="-120"/>
                        </a:rPr>
                        <a:t>~€360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r>
            </a:tbl>
          </a:graphicData>
        </a:graphic>
      </p:graphicFrame>
      <p:sp>
        <p:nvSpPr>
          <p:cNvPr id="10" name="Shape 6"/>
          <p:cNvSpPr/>
          <p:nvPr/>
        </p:nvSpPr>
        <p:spPr>
          <a:xfrm>
            <a:off x="365760" y="5010912"/>
            <a:ext cx="11430000" cy="658368"/>
          </a:xfrm>
          <a:prstGeom prst="rect">
            <a:avLst/>
          </a:prstGeom>
          <a:solidFill>
            <a:srgbClr val="16213E"/>
          </a:solidFill>
          <a:ln w="12700">
            <a:solidFill>
              <a:srgbClr val="0F3460"/>
            </a:solidFill>
            <a:prstDash val="solid"/>
          </a:ln>
        </p:spPr>
      </p:sp>
      <p:sp>
        <p:nvSpPr>
          <p:cNvPr id="11" name="Text 7"/>
          <p:cNvSpPr/>
          <p:nvPr/>
        </p:nvSpPr>
        <p:spPr>
          <a:xfrm>
            <a:off x="502920" y="5056632"/>
            <a:ext cx="11155680" cy="566928"/>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  DUS (Düsseldorf) ist der EINZIGE Flughafen mit Direktverbindung nach Lissabon — Eurowings &amp; TAP Air Portugal fliegen täglich non-stop.  DTM &amp; FMO erfordern Umsteigen (8h+ Gesamtreisezeit).  Buchen: eurowings.com · kayak.com · Hin &amp; Zurück Ø ~€170–190 p.P.</a:t>
            </a:r>
            <a:endParaRPr lang="en-US" sz="1000" dirty="0"/>
          </a:p>
        </p:txBody>
      </p:sp>
      <p:sp>
        <p:nvSpPr>
          <p:cNvPr id="12" name="Shape 8"/>
          <p:cNvSpPr/>
          <p:nvPr/>
        </p:nvSpPr>
        <p:spPr>
          <a:xfrm>
            <a:off x="8046720" y="5788152"/>
            <a:ext cx="3749040" cy="777240"/>
          </a:xfrm>
          <a:prstGeom prst="rect">
            <a:avLst/>
          </a:prstGeom>
          <a:solidFill>
            <a:srgbClr val="0F3460"/>
          </a:solidFill>
          <a:ln w="12700">
            <a:solidFill>
              <a:srgbClr val="FF8C00"/>
            </a:solidFill>
            <a:prstDash val="solid"/>
          </a:ln>
        </p:spPr>
      </p:sp>
      <p:sp>
        <p:nvSpPr>
          <p:cNvPr id="13" name="Text 9"/>
          <p:cNvSpPr/>
          <p:nvPr/>
        </p:nvSpPr>
        <p:spPr>
          <a:xfrm>
            <a:off x="8046720" y="5806440"/>
            <a:ext cx="3749040" cy="27432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Hin &amp; Zurück · 4 Personen</a:t>
            </a:r>
            <a:endParaRPr lang="en-US" sz="1000" dirty="0"/>
          </a:p>
        </p:txBody>
      </p:sp>
      <p:sp>
        <p:nvSpPr>
          <p:cNvPr id="14" name="Text 10"/>
          <p:cNvSpPr/>
          <p:nvPr/>
        </p:nvSpPr>
        <p:spPr>
          <a:xfrm>
            <a:off x="8046720" y="6080760"/>
            <a:ext cx="3749040" cy="438912"/>
          </a:xfrm>
          <a:prstGeom prst="rect">
            <a:avLst/>
          </a:prstGeom>
          <a:noFill/>
          <a:ln/>
        </p:spPr>
        <p:txBody>
          <a:bodyPr wrap="square" rtlCol="0" anchor="ctr"/>
          <a:lstStyle/>
          <a:p>
            <a:pPr algn="ctr" indent="0" marL="0">
              <a:buNone/>
            </a:pPr>
            <a:r>
              <a:rPr lang="en-US" sz="2000" b="1" dirty="0">
                <a:solidFill>
                  <a:srgbClr val="FF8C00"/>
                </a:solidFill>
                <a:latin typeface="Trebuchet MS" pitchFamily="34" charset="0"/>
                <a:ea typeface="Trebuchet MS" pitchFamily="34" charset="-122"/>
                <a:cs typeface="Trebuchet MS" pitchFamily="34" charset="-120"/>
              </a:rPr>
              <a:t>€640 – €760 gesamt</a:t>
            </a:r>
            <a:endParaRPr lang="en-US" sz="2000" dirty="0"/>
          </a:p>
        </p:txBody>
      </p:sp>
      <p:sp>
        <p:nvSpPr>
          <p:cNvPr id="15" name="Shape 11"/>
          <p:cNvSpPr/>
          <p:nvPr/>
        </p:nvSpPr>
        <p:spPr>
          <a:xfrm>
            <a:off x="0" y="6784848"/>
            <a:ext cx="12192000" cy="73152"/>
          </a:xfrm>
          <a:prstGeom prst="rect">
            <a:avLst/>
          </a:prstGeom>
          <a:solidFill>
            <a:srgbClr val="FF8C00"/>
          </a:solidFill>
          <a:ln w="12700">
            <a:solidFill>
              <a:srgbClr val="FF8C00"/>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FF8C00"/>
          </a:solidFill>
          <a:ln w="12700">
            <a:solidFill>
              <a:srgbClr val="FF8C00"/>
            </a:solidFill>
            <a:prstDash val="solid"/>
          </a:ln>
        </p:spPr>
      </p:sp>
      <p:sp>
        <p:nvSpPr>
          <p:cNvPr id="3" name="Shape 1"/>
          <p:cNvSpPr/>
          <p:nvPr/>
        </p:nvSpPr>
        <p:spPr>
          <a:xfrm>
            <a:off x="0" y="73152"/>
            <a:ext cx="12192000" cy="658368"/>
          </a:xfrm>
          <a:prstGeom prst="rect">
            <a:avLst/>
          </a:prstGeom>
          <a:solidFill>
            <a:srgbClr val="16213E"/>
          </a:solidFill>
          <a:ln w="12700">
            <a:solidFill>
              <a:srgbClr val="16213E"/>
            </a:solidFill>
            <a:prstDash val="solid"/>
          </a:ln>
        </p:spPr>
      </p:sp>
      <p:sp>
        <p:nvSpPr>
          <p:cNvPr id="4" name="Text 2"/>
          <p:cNvSpPr/>
          <p:nvPr/>
        </p:nvSpPr>
        <p:spPr>
          <a:xfrm>
            <a:off x="365760" y="73152"/>
            <a:ext cx="11430000" cy="658368"/>
          </a:xfrm>
          <a:prstGeom prst="rect">
            <a:avLst/>
          </a:prstGeom>
          <a:noFill/>
          <a:ln/>
        </p:spPr>
        <p:txBody>
          <a:bodyPr wrap="square"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  LISSABON — UNTERKUNFT</a:t>
            </a:r>
            <a:endParaRPr lang="en-US" sz="2200" dirty="0"/>
          </a:p>
        </p:txBody>
      </p:sp>
      <p:sp>
        <p:nvSpPr>
          <p:cNvPr id="5" name="Shape 3"/>
          <p:cNvSpPr/>
          <p:nvPr/>
        </p:nvSpPr>
        <p:spPr>
          <a:xfrm>
            <a:off x="0" y="731520"/>
            <a:ext cx="12192000" cy="27432"/>
          </a:xfrm>
          <a:prstGeom prst="rect">
            <a:avLst/>
          </a:prstGeom>
          <a:solidFill>
            <a:srgbClr val="FF8C00"/>
          </a:solidFill>
          <a:ln w="12700">
            <a:solidFill>
              <a:srgbClr val="FF8C00"/>
            </a:solidFill>
            <a:prstDash val="solid"/>
          </a:ln>
        </p:spPr>
      </p:sp>
      <p:pic>
        <p:nvPicPr>
          <p:cNvPr id="6" name="Image 0" descr="/home/user/Excelhaus/halloween_trip/lisbon_airbnb.png">    </p:cNvPr>
          <p:cNvPicPr>
            <a:picLocks noChangeAspect="1"/>
          </p:cNvPicPr>
          <p:nvPr/>
        </p:nvPicPr>
        <p:blipFill>
          <a:blip r:embed="rId1"/>
          <a:stretch>
            <a:fillRect/>
          </a:stretch>
        </p:blipFill>
        <p:spPr>
          <a:xfrm>
            <a:off x="0" y="758952"/>
            <a:ext cx="5029200" cy="3108960"/>
          </a:xfrm>
          <a:prstGeom prst="rect">
            <a:avLst/>
          </a:prstGeom>
        </p:spPr>
      </p:pic>
      <p:pic>
        <p:nvPicPr>
          <p:cNvPr id="7" name="Image 1" descr="/home/user/Excelhaus/halloween_trip/lisbon_map.png">    </p:cNvPr>
          <p:cNvPicPr>
            <a:picLocks noChangeAspect="1"/>
          </p:cNvPicPr>
          <p:nvPr/>
        </p:nvPicPr>
        <p:blipFill>
          <a:blip r:embed="rId2"/>
          <a:stretch>
            <a:fillRect/>
          </a:stretch>
        </p:blipFill>
        <p:spPr>
          <a:xfrm>
            <a:off x="0" y="3913632"/>
            <a:ext cx="5029200" cy="2103120"/>
          </a:xfrm>
          <a:prstGeom prst="rect">
            <a:avLst/>
          </a:prstGeom>
        </p:spPr>
      </p:pic>
      <p:sp>
        <p:nvSpPr>
          <p:cNvPr id="8" name="Shape 4"/>
          <p:cNvSpPr/>
          <p:nvPr/>
        </p:nvSpPr>
        <p:spPr>
          <a:xfrm>
            <a:off x="5303520" y="822960"/>
            <a:ext cx="6675120" cy="502920"/>
          </a:xfrm>
          <a:prstGeom prst="rect">
            <a:avLst/>
          </a:prstGeom>
          <a:solidFill>
            <a:srgbClr val="0F3460"/>
          </a:solidFill>
          <a:ln w="12700">
            <a:solidFill>
              <a:srgbClr val="FF8C00"/>
            </a:solidFill>
            <a:prstDash val="solid"/>
          </a:ln>
        </p:spPr>
      </p:sp>
      <p:sp>
        <p:nvSpPr>
          <p:cNvPr id="9" name="Text 5"/>
          <p:cNvSpPr/>
          <p:nvPr/>
        </p:nvSpPr>
        <p:spPr>
          <a:xfrm>
            <a:off x="5440680" y="822960"/>
            <a:ext cx="6400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Bairro Alto / São Roque — 2-Zimmer-Wohnung</a:t>
            </a:r>
            <a:endParaRPr lang="en-US" sz="1400" dirty="0"/>
          </a:p>
        </p:txBody>
      </p:sp>
      <p:sp>
        <p:nvSpPr>
          <p:cNvPr id="10" name="Shape 6"/>
          <p:cNvSpPr/>
          <p:nvPr/>
        </p:nvSpPr>
        <p:spPr>
          <a:xfrm>
            <a:off x="5303520" y="1426464"/>
            <a:ext cx="2103120" cy="384048"/>
          </a:xfrm>
          <a:prstGeom prst="rect">
            <a:avLst/>
          </a:prstGeom>
          <a:solidFill>
            <a:srgbClr val="0F3460"/>
          </a:solidFill>
          <a:ln w="12700">
            <a:solidFill>
              <a:srgbClr val="FF8C00"/>
            </a:solidFill>
            <a:prstDash val="solid"/>
          </a:ln>
        </p:spPr>
      </p:sp>
      <p:sp>
        <p:nvSpPr>
          <p:cNvPr id="11" name="Text 7"/>
          <p:cNvSpPr/>
          <p:nvPr/>
        </p:nvSpPr>
        <p:spPr>
          <a:xfrm>
            <a:off x="5303520" y="1426464"/>
            <a:ext cx="2103120" cy="384048"/>
          </a:xfrm>
          <a:prstGeom prst="rect">
            <a:avLst/>
          </a:prstGeom>
          <a:noFill/>
          <a:ln/>
        </p:spPr>
        <p:txBody>
          <a:bodyPr wrap="square" rtlCol="0" anchor="ctr"/>
          <a:lstStyle/>
          <a:p>
            <a:pPr algn="ctr" indent="0" marL="0">
              <a:buNone/>
            </a:pPr>
            <a:r>
              <a:rPr lang="en-US" sz="1100" b="1" dirty="0">
                <a:solidFill>
                  <a:srgbClr val="FF8C00"/>
                </a:solidFill>
                <a:latin typeface="Calibri" pitchFamily="34" charset="0"/>
                <a:ea typeface="Calibri" pitchFamily="34" charset="-122"/>
                <a:cs typeface="Calibri" pitchFamily="34" charset="-120"/>
              </a:rPr>
              <a:t>🛏 2 Schlafzimmer</a:t>
            </a:r>
            <a:endParaRPr lang="en-US" sz="1100" dirty="0"/>
          </a:p>
        </p:txBody>
      </p:sp>
      <p:sp>
        <p:nvSpPr>
          <p:cNvPr id="12" name="Shape 8"/>
          <p:cNvSpPr/>
          <p:nvPr/>
        </p:nvSpPr>
        <p:spPr>
          <a:xfrm>
            <a:off x="7543800" y="1426464"/>
            <a:ext cx="2103120" cy="384048"/>
          </a:xfrm>
          <a:prstGeom prst="rect">
            <a:avLst/>
          </a:prstGeom>
          <a:solidFill>
            <a:srgbClr val="0F3460"/>
          </a:solidFill>
          <a:ln w="12700">
            <a:solidFill>
              <a:srgbClr val="FF8C00"/>
            </a:solidFill>
            <a:prstDash val="solid"/>
          </a:ln>
        </p:spPr>
      </p:sp>
      <p:sp>
        <p:nvSpPr>
          <p:cNvPr id="13" name="Text 9"/>
          <p:cNvSpPr/>
          <p:nvPr/>
        </p:nvSpPr>
        <p:spPr>
          <a:xfrm>
            <a:off x="7543800" y="1426464"/>
            <a:ext cx="2103120" cy="384048"/>
          </a:xfrm>
          <a:prstGeom prst="rect">
            <a:avLst/>
          </a:prstGeom>
          <a:noFill/>
          <a:ln/>
        </p:spPr>
        <p:txBody>
          <a:bodyPr wrap="square" rtlCol="0" anchor="ctr"/>
          <a:lstStyle/>
          <a:p>
            <a:pPr algn="ctr" indent="0" marL="0">
              <a:buNone/>
            </a:pPr>
            <a:r>
              <a:rPr lang="en-US" sz="1100" b="1" dirty="0">
                <a:solidFill>
                  <a:srgbClr val="FF8C00"/>
                </a:solidFill>
                <a:latin typeface="Calibri" pitchFamily="34" charset="0"/>
                <a:ea typeface="Calibri" pitchFamily="34" charset="-122"/>
                <a:cs typeface="Calibri" pitchFamily="34" charset="-120"/>
              </a:rPr>
              <a:t>🚿 2 Bäder</a:t>
            </a:r>
            <a:endParaRPr lang="en-US" sz="1100" dirty="0"/>
          </a:p>
        </p:txBody>
      </p:sp>
      <p:sp>
        <p:nvSpPr>
          <p:cNvPr id="14" name="Shape 10"/>
          <p:cNvSpPr/>
          <p:nvPr/>
        </p:nvSpPr>
        <p:spPr>
          <a:xfrm>
            <a:off x="9784080" y="1426464"/>
            <a:ext cx="2103120" cy="384048"/>
          </a:xfrm>
          <a:prstGeom prst="rect">
            <a:avLst/>
          </a:prstGeom>
          <a:solidFill>
            <a:srgbClr val="0F3460"/>
          </a:solidFill>
          <a:ln w="12700">
            <a:solidFill>
              <a:srgbClr val="22C55E"/>
            </a:solidFill>
            <a:prstDash val="solid"/>
          </a:ln>
        </p:spPr>
      </p:sp>
      <p:sp>
        <p:nvSpPr>
          <p:cNvPr id="15" name="Text 11"/>
          <p:cNvSpPr/>
          <p:nvPr/>
        </p:nvSpPr>
        <p:spPr>
          <a:xfrm>
            <a:off x="9784080" y="1426464"/>
            <a:ext cx="2103120" cy="384048"/>
          </a:xfrm>
          <a:prstGeom prst="rect">
            <a:avLst/>
          </a:prstGeom>
          <a:noFill/>
          <a:ln/>
        </p:spPr>
        <p:txBody>
          <a:bodyPr wrap="square" rtlCol="0" anchor="ctr"/>
          <a:lstStyle/>
          <a:p>
            <a:pPr algn="ctr" indent="0" marL="0">
              <a:buNone/>
            </a:pPr>
            <a:r>
              <a:rPr lang="en-US" sz="1100" b="1" dirty="0">
                <a:solidFill>
                  <a:srgbClr val="22C55E"/>
                </a:solidFill>
                <a:latin typeface="Calibri" pitchFamily="34" charset="0"/>
                <a:ea typeface="Calibri" pitchFamily="34" charset="-122"/>
                <a:cs typeface="Calibri" pitchFamily="34" charset="-120"/>
              </a:rPr>
              <a:t>🏗 Balkon ✓</a:t>
            </a:r>
            <a:endParaRPr lang="en-US" sz="1100" dirty="0"/>
          </a:p>
        </p:txBody>
      </p:sp>
      <p:sp>
        <p:nvSpPr>
          <p:cNvPr id="16" name="Shape 12"/>
          <p:cNvSpPr/>
          <p:nvPr/>
        </p:nvSpPr>
        <p:spPr>
          <a:xfrm>
            <a:off x="5303520" y="1929384"/>
            <a:ext cx="2103120" cy="384048"/>
          </a:xfrm>
          <a:prstGeom prst="rect">
            <a:avLst/>
          </a:prstGeom>
          <a:solidFill>
            <a:srgbClr val="0F3460"/>
          </a:solidFill>
          <a:ln w="12700">
            <a:solidFill>
              <a:srgbClr val="FF8C00"/>
            </a:solidFill>
            <a:prstDash val="solid"/>
          </a:ln>
        </p:spPr>
      </p:sp>
      <p:sp>
        <p:nvSpPr>
          <p:cNvPr id="17" name="Text 13"/>
          <p:cNvSpPr/>
          <p:nvPr/>
        </p:nvSpPr>
        <p:spPr>
          <a:xfrm>
            <a:off x="5303520" y="1929384"/>
            <a:ext cx="2103120" cy="384048"/>
          </a:xfrm>
          <a:prstGeom prst="rect">
            <a:avLst/>
          </a:prstGeom>
          <a:noFill/>
          <a:ln/>
        </p:spPr>
        <p:txBody>
          <a:bodyPr wrap="square" rtlCol="0" anchor="ctr"/>
          <a:lstStyle/>
          <a:p>
            <a:pPr algn="ctr" indent="0" marL="0">
              <a:buNone/>
            </a:pPr>
            <a:r>
              <a:rPr lang="en-US" sz="1100" b="1" dirty="0">
                <a:solidFill>
                  <a:srgbClr val="FF8C00"/>
                </a:solidFill>
                <a:latin typeface="Calibri" pitchFamily="34" charset="0"/>
                <a:ea typeface="Calibri" pitchFamily="34" charset="-122"/>
                <a:cs typeface="Calibri" pitchFamily="34" charset="-120"/>
              </a:rPr>
              <a:t>👥 4 Gäste</a:t>
            </a:r>
            <a:endParaRPr lang="en-US" sz="1100" dirty="0"/>
          </a:p>
        </p:txBody>
      </p:sp>
      <p:sp>
        <p:nvSpPr>
          <p:cNvPr id="18" name="Shape 14"/>
          <p:cNvSpPr/>
          <p:nvPr/>
        </p:nvSpPr>
        <p:spPr>
          <a:xfrm>
            <a:off x="7543800" y="1929384"/>
            <a:ext cx="2103120" cy="384048"/>
          </a:xfrm>
          <a:prstGeom prst="rect">
            <a:avLst/>
          </a:prstGeom>
          <a:solidFill>
            <a:srgbClr val="0F3460"/>
          </a:solidFill>
          <a:ln w="12700">
            <a:solidFill>
              <a:srgbClr val="FF8C00"/>
            </a:solidFill>
            <a:prstDash val="solid"/>
          </a:ln>
        </p:spPr>
      </p:sp>
      <p:sp>
        <p:nvSpPr>
          <p:cNvPr id="19" name="Text 15"/>
          <p:cNvSpPr/>
          <p:nvPr/>
        </p:nvSpPr>
        <p:spPr>
          <a:xfrm>
            <a:off x="7543800" y="1929384"/>
            <a:ext cx="2103120" cy="384048"/>
          </a:xfrm>
          <a:prstGeom prst="rect">
            <a:avLst/>
          </a:prstGeom>
          <a:noFill/>
          <a:ln/>
        </p:spPr>
        <p:txBody>
          <a:bodyPr wrap="square" rtlCol="0" anchor="ctr"/>
          <a:lstStyle/>
          <a:p>
            <a:pPr algn="ctr" indent="0" marL="0">
              <a:buNone/>
            </a:pPr>
            <a:r>
              <a:rPr lang="en-US" sz="1100" b="1" dirty="0">
                <a:solidFill>
                  <a:srgbClr val="FF8C00"/>
                </a:solidFill>
                <a:latin typeface="Calibri" pitchFamily="34" charset="0"/>
                <a:ea typeface="Calibri" pitchFamily="34" charset="-122"/>
                <a:cs typeface="Calibri" pitchFamily="34" charset="-120"/>
              </a:rPr>
              <a:t>📍 Zentrallage</a:t>
            </a:r>
            <a:endParaRPr lang="en-US" sz="1100" dirty="0"/>
          </a:p>
        </p:txBody>
      </p:sp>
      <p:sp>
        <p:nvSpPr>
          <p:cNvPr id="20" name="Shape 16"/>
          <p:cNvSpPr/>
          <p:nvPr/>
        </p:nvSpPr>
        <p:spPr>
          <a:xfrm>
            <a:off x="9784080" y="1929384"/>
            <a:ext cx="2103120" cy="384048"/>
          </a:xfrm>
          <a:prstGeom prst="rect">
            <a:avLst/>
          </a:prstGeom>
          <a:solidFill>
            <a:srgbClr val="0F3460"/>
          </a:solidFill>
          <a:ln w="12700">
            <a:solidFill>
              <a:srgbClr val="FF8C00"/>
            </a:solidFill>
            <a:prstDash val="solid"/>
          </a:ln>
        </p:spPr>
      </p:sp>
      <p:sp>
        <p:nvSpPr>
          <p:cNvPr id="21" name="Text 17"/>
          <p:cNvSpPr/>
          <p:nvPr/>
        </p:nvSpPr>
        <p:spPr>
          <a:xfrm>
            <a:off x="9784080" y="1929384"/>
            <a:ext cx="2103120" cy="384048"/>
          </a:xfrm>
          <a:prstGeom prst="rect">
            <a:avLst/>
          </a:prstGeom>
          <a:noFill/>
          <a:ln/>
        </p:spPr>
        <p:txBody>
          <a:bodyPr wrap="square" rtlCol="0" anchor="ctr"/>
          <a:lstStyle/>
          <a:p>
            <a:pPr algn="ctr" indent="0" marL="0">
              <a:buNone/>
            </a:pPr>
            <a:r>
              <a:rPr lang="en-US" sz="1100" b="1" dirty="0">
                <a:solidFill>
                  <a:srgbClr val="FF8C00"/>
                </a:solidFill>
                <a:latin typeface="Calibri" pitchFamily="34" charset="0"/>
                <a:ea typeface="Calibri" pitchFamily="34" charset="-122"/>
                <a:cs typeface="Calibri" pitchFamily="34" charset="-120"/>
              </a:rPr>
              <a:t>❄ Klimaanlage ✓</a:t>
            </a:r>
            <a:endParaRPr lang="en-US" sz="1100" dirty="0"/>
          </a:p>
        </p:txBody>
      </p:sp>
      <p:sp>
        <p:nvSpPr>
          <p:cNvPr id="22" name="Shape 18"/>
          <p:cNvSpPr/>
          <p:nvPr/>
        </p:nvSpPr>
        <p:spPr>
          <a:xfrm>
            <a:off x="5303520" y="2505456"/>
            <a:ext cx="6675120" cy="502920"/>
          </a:xfrm>
          <a:prstGeom prst="rect">
            <a:avLst/>
          </a:prstGeom>
          <a:solidFill>
            <a:srgbClr val="16213E"/>
          </a:solidFill>
          <a:ln w="12700">
            <a:solidFill>
              <a:srgbClr val="0F3460"/>
            </a:solidFill>
            <a:prstDash val="solid"/>
          </a:ln>
        </p:spPr>
      </p:sp>
      <p:sp>
        <p:nvSpPr>
          <p:cNvPr id="23" name="Text 19"/>
          <p:cNvSpPr/>
          <p:nvPr/>
        </p:nvSpPr>
        <p:spPr>
          <a:xfrm>
            <a:off x="5394960" y="2505456"/>
            <a:ext cx="6492240" cy="502920"/>
          </a:xfrm>
          <a:prstGeom prst="rect">
            <a:avLst/>
          </a:prstGeom>
          <a:noFill/>
          <a:ln/>
        </p:spPr>
        <p:txBody>
          <a:bodyPr wrap="square" rtlCol="0" anchor="ctr"/>
          <a:lstStyle/>
          <a:p>
            <a:pPr indent="0" marL="0">
              <a:buNone/>
            </a:pPr>
            <a:r>
              <a:rPr lang="en-US" sz="1050" dirty="0">
                <a:solidFill>
                  <a:srgbClr val="9CA3AF"/>
                </a:solidFill>
                <a:latin typeface="Calibri" pitchFamily="34" charset="0"/>
                <a:ea typeface="Calibri" pitchFamily="34" charset="-122"/>
                <a:cs typeface="Calibri" pitchFamily="34" charset="-120"/>
              </a:rPr>
              <a:t>📌 Bairro Alto — direkt im Herz der 200+ Bars, Pink Street 10 Fußminuten entfernt</a:t>
            </a:r>
            <a:endParaRPr lang="en-US" sz="1050" dirty="0"/>
          </a:p>
        </p:txBody>
      </p:sp>
      <p:sp>
        <p:nvSpPr>
          <p:cNvPr id="24" name="Shape 20"/>
          <p:cNvSpPr/>
          <p:nvPr/>
        </p:nvSpPr>
        <p:spPr>
          <a:xfrm>
            <a:off x="5303520" y="3108960"/>
            <a:ext cx="6675120" cy="1371600"/>
          </a:xfrm>
          <a:prstGeom prst="rect">
            <a:avLst/>
          </a:prstGeom>
          <a:solidFill>
            <a:srgbClr val="16213E"/>
          </a:solidFill>
          <a:ln w="12700">
            <a:solidFill>
              <a:srgbClr val="FF8C00"/>
            </a:solidFill>
            <a:prstDash val="solid"/>
          </a:ln>
        </p:spPr>
      </p:sp>
      <p:sp>
        <p:nvSpPr>
          <p:cNvPr id="25" name="Text 21"/>
          <p:cNvSpPr/>
          <p:nvPr/>
        </p:nvSpPr>
        <p:spPr>
          <a:xfrm>
            <a:off x="5486400" y="3163824"/>
            <a:ext cx="6400800" cy="292608"/>
          </a:xfrm>
          <a:prstGeom prst="rect">
            <a:avLst/>
          </a:prstGeom>
          <a:noFill/>
          <a:ln/>
        </p:spPr>
        <p:txBody>
          <a:bodyPr wrap="square" rtlCol="0" anchor="ctr"/>
          <a:lstStyle/>
          <a:p>
            <a:pPr indent="0" marL="0">
              <a:buNone/>
            </a:pPr>
            <a:r>
              <a:rPr lang="en-US" sz="1100" b="1" dirty="0">
                <a:solidFill>
                  <a:srgbClr val="FF8C00"/>
                </a:solidFill>
                <a:latin typeface="Trebuchet MS" pitchFamily="34" charset="0"/>
                <a:ea typeface="Trebuchet MS" pitchFamily="34" charset="-122"/>
                <a:cs typeface="Trebuchet MS" pitchFamily="34" charset="-120"/>
              </a:rPr>
              <a:t>PREISE  (30. Okt. – 2. Nov., 3 Nächte)</a:t>
            </a:r>
            <a:endParaRPr lang="en-US" sz="1100" dirty="0"/>
          </a:p>
        </p:txBody>
      </p:sp>
      <p:sp>
        <p:nvSpPr>
          <p:cNvPr id="26" name="Text 22"/>
          <p:cNvSpPr/>
          <p:nvPr/>
        </p:nvSpPr>
        <p:spPr>
          <a:xfrm>
            <a:off x="5486400" y="3493008"/>
            <a:ext cx="3657600" cy="192024"/>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Pro Nacht</a:t>
            </a:r>
            <a:endParaRPr lang="en-US" sz="1000" dirty="0"/>
          </a:p>
        </p:txBody>
      </p:sp>
      <p:sp>
        <p:nvSpPr>
          <p:cNvPr id="27" name="Text 23"/>
          <p:cNvSpPr/>
          <p:nvPr/>
        </p:nvSpPr>
        <p:spPr>
          <a:xfrm>
            <a:off x="9418320" y="3493008"/>
            <a:ext cx="2377440" cy="192024"/>
          </a:xfrm>
          <a:prstGeom prst="rect">
            <a:avLst/>
          </a:prstGeom>
          <a:noFill/>
          <a:ln/>
        </p:spPr>
        <p:txBody>
          <a:bodyPr wrap="square" rtlCol="0" anchor="ctr"/>
          <a:lstStyle/>
          <a:p>
            <a:pPr algn="r" indent="0" marL="0">
              <a:buNone/>
            </a:pPr>
            <a:r>
              <a:rPr lang="en-US" sz="1000" dirty="0">
                <a:solidFill>
                  <a:srgbClr val="E8E8E8"/>
                </a:solidFill>
                <a:latin typeface="Trebuchet MS" pitchFamily="34" charset="0"/>
                <a:ea typeface="Trebuchet MS" pitchFamily="34" charset="-122"/>
                <a:cs typeface="Trebuchet MS" pitchFamily="34" charset="-120"/>
              </a:rPr>
              <a:t>~€130</a:t>
            </a:r>
            <a:endParaRPr lang="en-US" sz="1000" dirty="0"/>
          </a:p>
        </p:txBody>
      </p:sp>
      <p:sp>
        <p:nvSpPr>
          <p:cNvPr id="28" name="Text 24"/>
          <p:cNvSpPr/>
          <p:nvPr/>
        </p:nvSpPr>
        <p:spPr>
          <a:xfrm>
            <a:off x="5486400" y="3689604"/>
            <a:ext cx="3657600" cy="192024"/>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3 Nächte</a:t>
            </a:r>
            <a:endParaRPr lang="en-US" sz="1000" dirty="0"/>
          </a:p>
        </p:txBody>
      </p:sp>
      <p:sp>
        <p:nvSpPr>
          <p:cNvPr id="29" name="Text 25"/>
          <p:cNvSpPr/>
          <p:nvPr/>
        </p:nvSpPr>
        <p:spPr>
          <a:xfrm>
            <a:off x="9418320" y="3689604"/>
            <a:ext cx="2377440" cy="192024"/>
          </a:xfrm>
          <a:prstGeom prst="rect">
            <a:avLst/>
          </a:prstGeom>
          <a:noFill/>
          <a:ln/>
        </p:spPr>
        <p:txBody>
          <a:bodyPr wrap="square" rtlCol="0" anchor="ctr"/>
          <a:lstStyle/>
          <a:p>
            <a:pPr algn="r" indent="0" marL="0">
              <a:buNone/>
            </a:pPr>
            <a:r>
              <a:rPr lang="en-US" sz="1000" dirty="0">
                <a:solidFill>
                  <a:srgbClr val="E8E8E8"/>
                </a:solidFill>
                <a:latin typeface="Trebuchet MS" pitchFamily="34" charset="0"/>
                <a:ea typeface="Trebuchet MS" pitchFamily="34" charset="-122"/>
                <a:cs typeface="Trebuchet MS" pitchFamily="34" charset="-120"/>
              </a:rPr>
              <a:t>~€390</a:t>
            </a:r>
            <a:endParaRPr lang="en-US" sz="1000" dirty="0"/>
          </a:p>
        </p:txBody>
      </p:sp>
      <p:sp>
        <p:nvSpPr>
          <p:cNvPr id="30" name="Text 26"/>
          <p:cNvSpPr/>
          <p:nvPr/>
        </p:nvSpPr>
        <p:spPr>
          <a:xfrm>
            <a:off x="5486400" y="3886200"/>
            <a:ext cx="3657600" cy="192024"/>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Reinigung &amp; Gebühren</a:t>
            </a:r>
            <a:endParaRPr lang="en-US" sz="1000" dirty="0"/>
          </a:p>
        </p:txBody>
      </p:sp>
      <p:sp>
        <p:nvSpPr>
          <p:cNvPr id="31" name="Text 27"/>
          <p:cNvSpPr/>
          <p:nvPr/>
        </p:nvSpPr>
        <p:spPr>
          <a:xfrm>
            <a:off x="9418320" y="3886200"/>
            <a:ext cx="2377440" cy="192024"/>
          </a:xfrm>
          <a:prstGeom prst="rect">
            <a:avLst/>
          </a:prstGeom>
          <a:noFill/>
          <a:ln/>
        </p:spPr>
        <p:txBody>
          <a:bodyPr wrap="square" rtlCol="0" anchor="ctr"/>
          <a:lstStyle/>
          <a:p>
            <a:pPr algn="r" indent="0" marL="0">
              <a:buNone/>
            </a:pPr>
            <a:r>
              <a:rPr lang="en-US" sz="1000" dirty="0">
                <a:solidFill>
                  <a:srgbClr val="E8E8E8"/>
                </a:solidFill>
                <a:latin typeface="Trebuchet MS" pitchFamily="34" charset="0"/>
                <a:ea typeface="Trebuchet MS" pitchFamily="34" charset="-122"/>
                <a:cs typeface="Trebuchet MS" pitchFamily="34" charset="-120"/>
              </a:rPr>
              <a:t>~€60–80</a:t>
            </a:r>
            <a:endParaRPr lang="en-US" sz="1000" dirty="0"/>
          </a:p>
        </p:txBody>
      </p:sp>
      <p:sp>
        <p:nvSpPr>
          <p:cNvPr id="32" name="Text 28"/>
          <p:cNvSpPr/>
          <p:nvPr/>
        </p:nvSpPr>
        <p:spPr>
          <a:xfrm>
            <a:off x="5486400" y="4082796"/>
            <a:ext cx="3657600" cy="192024"/>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Gesamt für 4 Pers.</a:t>
            </a:r>
            <a:endParaRPr lang="en-US" sz="1000" dirty="0"/>
          </a:p>
        </p:txBody>
      </p:sp>
      <p:sp>
        <p:nvSpPr>
          <p:cNvPr id="33" name="Text 29"/>
          <p:cNvSpPr/>
          <p:nvPr/>
        </p:nvSpPr>
        <p:spPr>
          <a:xfrm>
            <a:off x="9418320" y="4082796"/>
            <a:ext cx="2377440" cy="192024"/>
          </a:xfrm>
          <a:prstGeom prst="rect">
            <a:avLst/>
          </a:prstGeom>
          <a:noFill/>
          <a:ln/>
        </p:spPr>
        <p:txBody>
          <a:bodyPr wrap="square" rtlCol="0" anchor="ctr"/>
          <a:lstStyle/>
          <a:p>
            <a:pPr algn="r" indent="0" marL="0">
              <a:buNone/>
            </a:pPr>
            <a:r>
              <a:rPr lang="en-US" sz="1000" b="1" dirty="0">
                <a:solidFill>
                  <a:srgbClr val="FF8C00"/>
                </a:solidFill>
                <a:latin typeface="Trebuchet MS" pitchFamily="34" charset="0"/>
                <a:ea typeface="Trebuchet MS" pitchFamily="34" charset="-122"/>
                <a:cs typeface="Trebuchet MS" pitchFamily="34" charset="-120"/>
              </a:rPr>
              <a:t>~€450–480</a:t>
            </a:r>
            <a:endParaRPr lang="en-US" sz="1000" dirty="0"/>
          </a:p>
        </p:txBody>
      </p:sp>
      <p:sp>
        <p:nvSpPr>
          <p:cNvPr id="34" name="Text 30"/>
          <p:cNvSpPr/>
          <p:nvPr/>
        </p:nvSpPr>
        <p:spPr>
          <a:xfrm>
            <a:off x="5486400" y="4279392"/>
            <a:ext cx="3657600" cy="192024"/>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Pro Person</a:t>
            </a:r>
            <a:endParaRPr lang="en-US" sz="1000" dirty="0"/>
          </a:p>
        </p:txBody>
      </p:sp>
      <p:sp>
        <p:nvSpPr>
          <p:cNvPr id="35" name="Text 31"/>
          <p:cNvSpPr/>
          <p:nvPr/>
        </p:nvSpPr>
        <p:spPr>
          <a:xfrm>
            <a:off x="9418320" y="4279392"/>
            <a:ext cx="2377440" cy="192024"/>
          </a:xfrm>
          <a:prstGeom prst="rect">
            <a:avLst/>
          </a:prstGeom>
          <a:noFill/>
          <a:ln/>
        </p:spPr>
        <p:txBody>
          <a:bodyPr wrap="square" rtlCol="0" anchor="ctr"/>
          <a:lstStyle/>
          <a:p>
            <a:pPr algn="r" indent="0" marL="0">
              <a:buNone/>
            </a:pPr>
            <a:r>
              <a:rPr lang="en-US" sz="1000" b="1" dirty="0">
                <a:solidFill>
                  <a:srgbClr val="22C55E"/>
                </a:solidFill>
                <a:latin typeface="Trebuchet MS" pitchFamily="34" charset="0"/>
                <a:ea typeface="Trebuchet MS" pitchFamily="34" charset="-122"/>
                <a:cs typeface="Trebuchet MS" pitchFamily="34" charset="-120"/>
              </a:rPr>
              <a:t>~€113–120</a:t>
            </a:r>
            <a:endParaRPr lang="en-US" sz="1000" dirty="0"/>
          </a:p>
        </p:txBody>
      </p:sp>
      <p:sp>
        <p:nvSpPr>
          <p:cNvPr id="36" name="Shape 32"/>
          <p:cNvSpPr/>
          <p:nvPr/>
        </p:nvSpPr>
        <p:spPr>
          <a:xfrm>
            <a:off x="5303520" y="4599432"/>
            <a:ext cx="6675120" cy="603504"/>
          </a:xfrm>
          <a:prstGeom prst="rect">
            <a:avLst/>
          </a:prstGeom>
          <a:solidFill>
            <a:srgbClr val="FF8C00"/>
          </a:solidFill>
          <a:ln w="12700">
            <a:solidFill>
              <a:srgbClr val="FF8C00"/>
            </a:solidFill>
            <a:prstDash val="solid"/>
          </a:ln>
        </p:spPr>
      </p:sp>
      <p:sp>
        <p:nvSpPr>
          <p:cNvPr id="37" name="Text 33">
            <a:hlinkClick r:id="rId3" tooltip="Airbnb öffnen — 30. Okt.–2. Nov., 4 Gäste, 2 SZ"/>
          </p:cNvPr>
          <p:cNvSpPr/>
          <p:nvPr/>
        </p:nvSpPr>
        <p:spPr>
          <a:xfrm>
            <a:off x="5303520" y="4599432"/>
            <a:ext cx="6675120" cy="603504"/>
          </a:xfrm>
          <a:prstGeom prst="rect">
            <a:avLst/>
          </a:prstGeom>
          <a:noFill/>
          <a:ln/>
        </p:spPr>
        <p:txBody>
          <a:bodyPr wrap="square" rtlCol="0" anchor="ctr"/>
          <a:lstStyle/>
          <a:p>
            <a:pPr algn="ctr" indent="0" marL="0">
              <a:buNone/>
            </a:pPr>
            <a:r>
              <a:rPr lang="en-US" sz="1500" b="1" u="sng" dirty="0">
                <a:solidFill>
                  <a:srgbClr val="FFFFFF"/>
                </a:solidFill>
                <a:latin typeface="Trebuchet MS" pitchFamily="34" charset="0"/>
                <a:ea typeface="Trebuchet MS" pitchFamily="34" charset="-122"/>
                <a:cs typeface="Trebuchet MS" pitchFamily="34" charset="-120"/>
                <a:hlinkClick r:id="rId3" invalidUrl="" action="" tgtFrame="" tooltip="Airbnb öffnen — 30. Okt.–2. Nov., 4 Gäste, 2 SZ" history="1" highlightClick="0" endSnd="0">
                  <a:extLst>
                    <a:ext uri="{A12FA001-AC4F-418D-AE19-62706E023703}">
                      <ahyp:hlinkClr xmlns:ahyp="http://schemas.microsoft.com/office/drawing/2018/hyperlinkcolor" val="tx"/>
                    </a:ext>
                  </a:extLst>
                </a:hlinkClick>
              </a:rPr>
              <a:t>🔍  Airbnb: Lissabon durchsuchen  →</a:t>
            </a:r>
            <a:endParaRPr lang="en-US" sz="1500" dirty="0"/>
          </a:p>
        </p:txBody>
      </p:sp>
      <p:sp>
        <p:nvSpPr>
          <p:cNvPr id="38" name="Text 34">
            <a:hlinkClick r:id="rId4" tooltip="Alternative Suche öffnen"/>
          </p:cNvPr>
          <p:cNvSpPr/>
          <p:nvPr/>
        </p:nvSpPr>
        <p:spPr>
          <a:xfrm>
            <a:off x="5394960" y="5276088"/>
            <a:ext cx="6492240" cy="256032"/>
          </a:xfrm>
          <a:prstGeom prst="rect">
            <a:avLst/>
          </a:prstGeom>
          <a:noFill/>
          <a:ln/>
        </p:spPr>
        <p:txBody>
          <a:bodyPr wrap="square" rtlCol="0" anchor="ctr"/>
          <a:lstStyle/>
          <a:p>
            <a:pPr indent="0" marL="0">
              <a:buNone/>
            </a:pPr>
            <a:r>
              <a:rPr lang="en-US" sz="900" i="1" u="sng" dirty="0">
                <a:solidFill>
                  <a:srgbClr val="6B7280"/>
                </a:solidFill>
                <a:latin typeface="Calibri" pitchFamily="34" charset="0"/>
                <a:ea typeface="Calibri" pitchFamily="34" charset="-122"/>
                <a:cs typeface="Calibri" pitchFamily="34" charset="-120"/>
                <a:hlinkClick r:id="rId4" invalidUrl="" action="" tgtFrame="" tooltip="Alternative Suche öffnen" history="1" highlightClick="0" endSnd="0">
                  <a:extLst>
                    <a:ext uri="{A12FA001-AC4F-418D-AE19-62706E023703}">
                      <ahyp:hlinkClr xmlns:ahyp="http://schemas.microsoft.com/office/drawing/2018/hyperlinkcolor" val="tx"/>
                    </a:ext>
                  </a:extLst>
                </a:hlinkClick>
              </a:rPr>
              <a:t>📍 Alternativ in Chiado suchen: airbnb.com/s/Chiado--Lisbon (2 SZ, 4 Gäste, gleiche Daten)</a:t>
            </a:r>
            <a:endParaRPr lang="en-US" sz="900" dirty="0"/>
          </a:p>
        </p:txBody>
      </p:sp>
      <p:sp>
        <p:nvSpPr>
          <p:cNvPr id="39" name="Text 35"/>
          <p:cNvSpPr/>
          <p:nvPr/>
        </p:nvSpPr>
        <p:spPr>
          <a:xfrm>
            <a:off x="5394960" y="5577840"/>
            <a:ext cx="6492240" cy="274320"/>
          </a:xfrm>
          <a:prstGeom prst="rect">
            <a:avLst/>
          </a:prstGeom>
          <a:noFill/>
          <a:ln/>
        </p:spPr>
        <p:txBody>
          <a:bodyPr wrap="square" rtlCol="0" anchor="ctr"/>
          <a:lstStyle/>
          <a:p>
            <a:pPr indent="0" marL="0">
              <a:buNone/>
            </a:pPr>
            <a:r>
              <a:rPr lang="en-US" sz="950" b="1" dirty="0">
                <a:solidFill>
                  <a:srgbClr val="F96167"/>
                </a:solidFill>
                <a:latin typeface="Calibri" pitchFamily="34" charset="0"/>
                <a:ea typeface="Calibri" pitchFamily="34" charset="-122"/>
                <a:cs typeface="Calibri" pitchFamily="34" charset="-120"/>
              </a:rPr>
              <a:t>⚠️  Halloween-Wochenende ist schnell ausgebucht — jetzt klicken &amp; buchen!</a:t>
            </a:r>
            <a:endParaRPr lang="en-US" sz="950" dirty="0"/>
          </a:p>
        </p:txBody>
      </p:sp>
      <p:sp>
        <p:nvSpPr>
          <p:cNvPr id="40" name="Shape 36"/>
          <p:cNvSpPr/>
          <p:nvPr/>
        </p:nvSpPr>
        <p:spPr>
          <a:xfrm>
            <a:off x="0" y="6784848"/>
            <a:ext cx="12192000" cy="73152"/>
          </a:xfrm>
          <a:prstGeom prst="rect">
            <a:avLst/>
          </a:prstGeom>
          <a:solidFill>
            <a:srgbClr val="FF8C00"/>
          </a:solidFill>
          <a:ln w="12700">
            <a:solidFill>
              <a:srgbClr val="FF8C00"/>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FF8C00"/>
          </a:solidFill>
          <a:ln w="12700">
            <a:solidFill>
              <a:srgbClr val="FF8C00"/>
            </a:solidFill>
            <a:prstDash val="solid"/>
          </a:ln>
        </p:spPr>
      </p:sp>
      <p:sp>
        <p:nvSpPr>
          <p:cNvPr id="3" name="Shape 1"/>
          <p:cNvSpPr/>
          <p:nvPr/>
        </p:nvSpPr>
        <p:spPr>
          <a:xfrm>
            <a:off x="0" y="73152"/>
            <a:ext cx="12192000" cy="658368"/>
          </a:xfrm>
          <a:prstGeom prst="rect">
            <a:avLst/>
          </a:prstGeom>
          <a:solidFill>
            <a:srgbClr val="16213E"/>
          </a:solidFill>
          <a:ln w="12700">
            <a:solidFill>
              <a:srgbClr val="16213E"/>
            </a:solidFill>
            <a:prstDash val="solid"/>
          </a:ln>
        </p:spPr>
      </p:sp>
      <p:sp>
        <p:nvSpPr>
          <p:cNvPr id="4" name="Text 2"/>
          <p:cNvSpPr/>
          <p:nvPr/>
        </p:nvSpPr>
        <p:spPr>
          <a:xfrm>
            <a:off x="365760" y="73152"/>
            <a:ext cx="11430000" cy="658368"/>
          </a:xfrm>
          <a:prstGeom prst="rect">
            <a:avLst/>
          </a:prstGeom>
          <a:noFill/>
          <a:ln/>
        </p:spPr>
        <p:txBody>
          <a:bodyPr wrap="square"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  LISSABON — TAGESPROGRAMM</a:t>
            </a:r>
            <a:endParaRPr lang="en-US" sz="2200" dirty="0"/>
          </a:p>
        </p:txBody>
      </p:sp>
      <p:sp>
        <p:nvSpPr>
          <p:cNvPr id="5" name="Shape 3"/>
          <p:cNvSpPr/>
          <p:nvPr/>
        </p:nvSpPr>
        <p:spPr>
          <a:xfrm>
            <a:off x="0" y="731520"/>
            <a:ext cx="12192000" cy="27432"/>
          </a:xfrm>
          <a:prstGeom prst="rect">
            <a:avLst/>
          </a:prstGeom>
          <a:solidFill>
            <a:srgbClr val="FF8C00"/>
          </a:solidFill>
          <a:ln w="12700">
            <a:solidFill>
              <a:srgbClr val="FF8C00"/>
            </a:solidFill>
            <a:prstDash val="solid"/>
          </a:ln>
        </p:spPr>
      </p:sp>
      <p:sp>
        <p:nvSpPr>
          <p:cNvPr id="6" name="Shape 4"/>
          <p:cNvSpPr/>
          <p:nvPr/>
        </p:nvSpPr>
        <p:spPr>
          <a:xfrm>
            <a:off x="274320" y="896112"/>
            <a:ext cx="5669280" cy="2743200"/>
          </a:xfrm>
          <a:prstGeom prst="rect">
            <a:avLst/>
          </a:prstGeom>
          <a:solidFill>
            <a:srgbClr val="16213E"/>
          </a:solidFill>
          <a:ln w="12700">
            <a:solidFill>
              <a:srgbClr val="FF8C00"/>
            </a:solidFill>
            <a:prstDash val="solid"/>
          </a:ln>
        </p:spPr>
      </p:sp>
      <p:sp>
        <p:nvSpPr>
          <p:cNvPr id="7" name="Shape 5"/>
          <p:cNvSpPr/>
          <p:nvPr/>
        </p:nvSpPr>
        <p:spPr>
          <a:xfrm>
            <a:off x="274320" y="896112"/>
            <a:ext cx="5669280" cy="384048"/>
          </a:xfrm>
          <a:prstGeom prst="rect">
            <a:avLst/>
          </a:prstGeom>
          <a:solidFill>
            <a:srgbClr val="0F3460"/>
          </a:solidFill>
          <a:ln w="12700">
            <a:solidFill>
              <a:srgbClr val="0F3460"/>
            </a:solidFill>
            <a:prstDash val="solid"/>
          </a:ln>
        </p:spPr>
      </p:sp>
      <p:sp>
        <p:nvSpPr>
          <p:cNvPr id="8" name="Text 6"/>
          <p:cNvSpPr/>
          <p:nvPr/>
        </p:nvSpPr>
        <p:spPr>
          <a:xfrm>
            <a:off x="347472" y="914400"/>
            <a:ext cx="5522976" cy="182880"/>
          </a:xfrm>
          <a:prstGeom prst="rect">
            <a:avLst/>
          </a:prstGeom>
          <a:noFill/>
          <a:ln/>
        </p:spPr>
        <p:txBody>
          <a:bodyPr wrap="square" rtlCol="0" anchor="ctr"/>
          <a:lstStyle/>
          <a:p>
            <a:pPr indent="0" marL="0">
              <a:buNone/>
            </a:pPr>
            <a:r>
              <a:rPr lang="en-US" sz="1100" b="1" dirty="0">
                <a:solidFill>
                  <a:srgbClr val="FF8C00"/>
                </a:solidFill>
                <a:latin typeface="Trebuchet MS" pitchFamily="34" charset="0"/>
                <a:ea typeface="Trebuchet MS" pitchFamily="34" charset="-122"/>
                <a:cs typeface="Trebuchet MS" pitchFamily="34" charset="-120"/>
              </a:rPr>
              <a:t>TAG 1 — DO., 30. OKT.</a:t>
            </a:r>
            <a:endParaRPr lang="en-US" sz="1100" dirty="0"/>
          </a:p>
        </p:txBody>
      </p:sp>
      <p:sp>
        <p:nvSpPr>
          <p:cNvPr id="9" name="Text 7"/>
          <p:cNvSpPr/>
          <p:nvPr/>
        </p:nvSpPr>
        <p:spPr>
          <a:xfrm>
            <a:off x="347472" y="1097280"/>
            <a:ext cx="5522976" cy="164592"/>
          </a:xfrm>
          <a:prstGeom prst="rect">
            <a:avLst/>
          </a:prstGeom>
          <a:noFill/>
          <a:ln/>
        </p:spPr>
        <p:txBody>
          <a:bodyPr wrap="square" rtlCol="0" anchor="ctr"/>
          <a:lstStyle/>
          <a:p>
            <a:pPr indent="0" marL="0">
              <a:buNone/>
            </a:pPr>
            <a:r>
              <a:rPr lang="en-US" sz="900" dirty="0">
                <a:solidFill>
                  <a:srgbClr val="9CA3AF"/>
                </a:solidFill>
                <a:latin typeface="Calibri" pitchFamily="34" charset="0"/>
                <a:ea typeface="Calibri" pitchFamily="34" charset="-122"/>
                <a:cs typeface="Calibri" pitchFamily="34" charset="-120"/>
              </a:rPr>
              <a:t>Ankunftstag</a:t>
            </a:r>
            <a:endParaRPr lang="en-US" sz="900" dirty="0"/>
          </a:p>
        </p:txBody>
      </p:sp>
      <p:sp>
        <p:nvSpPr>
          <p:cNvPr id="10" name="Text 8"/>
          <p:cNvSpPr/>
          <p:nvPr/>
        </p:nvSpPr>
        <p:spPr>
          <a:xfrm>
            <a:off x="365760" y="1335024"/>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EW9602 landet LIS 12:20 · Einchecken in Bairro Alto</a:t>
            </a:r>
            <a:endParaRPr lang="en-US" sz="900" dirty="0"/>
          </a:p>
        </p:txBody>
      </p:sp>
      <p:sp>
        <p:nvSpPr>
          <p:cNvPr id="11" name="Text 9"/>
          <p:cNvSpPr/>
          <p:nvPr/>
        </p:nvSpPr>
        <p:spPr>
          <a:xfrm>
            <a:off x="365760" y="1600200"/>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SANDEMANs Stadtführung 15:30 @ Praça do Comércio</a:t>
            </a:r>
            <a:endParaRPr lang="en-US" sz="900" dirty="0"/>
          </a:p>
        </p:txBody>
      </p:sp>
      <p:sp>
        <p:nvSpPr>
          <p:cNvPr id="12" name="Text 10"/>
          <p:cNvSpPr/>
          <p:nvPr/>
        </p:nvSpPr>
        <p:spPr>
          <a:xfrm>
            <a:off x="365760" y="1865376"/>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(2,5h, Trinkgeld €10–15 · Baixa, Alfama, Aussichtspunkte)</a:t>
            </a:r>
            <a:endParaRPr lang="en-US" sz="900" dirty="0"/>
          </a:p>
        </p:txBody>
      </p:sp>
      <p:sp>
        <p:nvSpPr>
          <p:cNvPr id="13" name="Text 11"/>
          <p:cNvSpPr/>
          <p:nvPr/>
        </p:nvSpPr>
        <p:spPr>
          <a:xfrm>
            <a:off x="365760" y="2130552"/>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Abendessen: Petiscos bei Tasca do Chico ab 20 Uhr</a:t>
            </a:r>
            <a:endParaRPr lang="en-US" sz="900" dirty="0"/>
          </a:p>
        </p:txBody>
      </p:sp>
      <p:sp>
        <p:nvSpPr>
          <p:cNvPr id="14" name="Text 12"/>
          <p:cNvSpPr/>
          <p:nvPr/>
        </p:nvSpPr>
        <p:spPr>
          <a:xfrm>
            <a:off x="365760" y="2395728"/>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Bairro Alto Kneipenbummel: 200+ Bars, €2–3 Bier</a:t>
            </a:r>
            <a:endParaRPr lang="en-US" sz="900" dirty="0"/>
          </a:p>
        </p:txBody>
      </p:sp>
      <p:sp>
        <p:nvSpPr>
          <p:cNvPr id="15" name="Text 13"/>
          <p:cNvSpPr/>
          <p:nvPr/>
        </p:nvSpPr>
        <p:spPr>
          <a:xfrm>
            <a:off x="365760" y="2660904"/>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Start @ Park Bar (Dachterrasse) → Pavilhão Chinês</a:t>
            </a:r>
            <a:endParaRPr lang="en-US" sz="900" dirty="0"/>
          </a:p>
        </p:txBody>
      </p:sp>
      <p:sp>
        <p:nvSpPr>
          <p:cNvPr id="16" name="Shape 14"/>
          <p:cNvSpPr/>
          <p:nvPr/>
        </p:nvSpPr>
        <p:spPr>
          <a:xfrm>
            <a:off x="6217920" y="896112"/>
            <a:ext cx="5669280" cy="2743200"/>
          </a:xfrm>
          <a:prstGeom prst="rect">
            <a:avLst/>
          </a:prstGeom>
          <a:solidFill>
            <a:srgbClr val="16213E"/>
          </a:solidFill>
          <a:ln w="12700">
            <a:solidFill>
              <a:srgbClr val="FF8C00"/>
            </a:solidFill>
            <a:prstDash val="solid"/>
          </a:ln>
        </p:spPr>
      </p:sp>
      <p:sp>
        <p:nvSpPr>
          <p:cNvPr id="17" name="Shape 15"/>
          <p:cNvSpPr/>
          <p:nvPr/>
        </p:nvSpPr>
        <p:spPr>
          <a:xfrm>
            <a:off x="6217920" y="896112"/>
            <a:ext cx="5669280" cy="384048"/>
          </a:xfrm>
          <a:prstGeom prst="rect">
            <a:avLst/>
          </a:prstGeom>
          <a:solidFill>
            <a:srgbClr val="0F3460"/>
          </a:solidFill>
          <a:ln w="12700">
            <a:solidFill>
              <a:srgbClr val="0F3460"/>
            </a:solidFill>
            <a:prstDash val="solid"/>
          </a:ln>
        </p:spPr>
      </p:sp>
      <p:sp>
        <p:nvSpPr>
          <p:cNvPr id="18" name="Text 16"/>
          <p:cNvSpPr/>
          <p:nvPr/>
        </p:nvSpPr>
        <p:spPr>
          <a:xfrm>
            <a:off x="6291072" y="914400"/>
            <a:ext cx="5522976" cy="182880"/>
          </a:xfrm>
          <a:prstGeom prst="rect">
            <a:avLst/>
          </a:prstGeom>
          <a:noFill/>
          <a:ln/>
        </p:spPr>
        <p:txBody>
          <a:bodyPr wrap="square" rtlCol="0" anchor="ctr"/>
          <a:lstStyle/>
          <a:p>
            <a:pPr indent="0" marL="0">
              <a:buNone/>
            </a:pPr>
            <a:r>
              <a:rPr lang="en-US" sz="1100" b="1" dirty="0">
                <a:solidFill>
                  <a:srgbClr val="FF8C00"/>
                </a:solidFill>
                <a:latin typeface="Trebuchet MS" pitchFamily="34" charset="0"/>
                <a:ea typeface="Trebuchet MS" pitchFamily="34" charset="-122"/>
                <a:cs typeface="Trebuchet MS" pitchFamily="34" charset="-120"/>
              </a:rPr>
              <a:t>TAG 2 — FR., 31. OKT. 🎃</a:t>
            </a:r>
            <a:endParaRPr lang="en-US" sz="1100" dirty="0"/>
          </a:p>
        </p:txBody>
      </p:sp>
      <p:sp>
        <p:nvSpPr>
          <p:cNvPr id="19" name="Text 17"/>
          <p:cNvSpPr/>
          <p:nvPr/>
        </p:nvSpPr>
        <p:spPr>
          <a:xfrm>
            <a:off x="6291072" y="1097280"/>
            <a:ext cx="5522976" cy="164592"/>
          </a:xfrm>
          <a:prstGeom prst="rect">
            <a:avLst/>
          </a:prstGeom>
          <a:noFill/>
          <a:ln/>
        </p:spPr>
        <p:txBody>
          <a:bodyPr wrap="square" rtlCol="0" anchor="ctr"/>
          <a:lstStyle/>
          <a:p>
            <a:pPr indent="0" marL="0">
              <a:buNone/>
            </a:pPr>
            <a:r>
              <a:rPr lang="en-US" sz="900" dirty="0">
                <a:solidFill>
                  <a:srgbClr val="9CA3AF"/>
                </a:solidFill>
                <a:latin typeface="Calibri" pitchFamily="34" charset="0"/>
                <a:ea typeface="Calibri" pitchFamily="34" charset="-122"/>
                <a:cs typeface="Calibri" pitchFamily="34" charset="-120"/>
              </a:rPr>
              <a:t>HALLOWEEN-NACHT</a:t>
            </a:r>
            <a:endParaRPr lang="en-US" sz="900" dirty="0"/>
          </a:p>
        </p:txBody>
      </p:sp>
      <p:sp>
        <p:nvSpPr>
          <p:cNvPr id="20" name="Text 18"/>
          <p:cNvSpPr/>
          <p:nvPr/>
        </p:nvSpPr>
        <p:spPr>
          <a:xfrm>
            <a:off x="6309360" y="1335024"/>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Kochkurs Cooking Lisbon ab 9:30 Uhr (4h, €110 p.P.)</a:t>
            </a:r>
            <a:endParaRPr lang="en-US" sz="900" dirty="0"/>
          </a:p>
        </p:txBody>
      </p:sp>
      <p:sp>
        <p:nvSpPr>
          <p:cNvPr id="21" name="Text 19"/>
          <p:cNvSpPr/>
          <p:nvPr/>
        </p:nvSpPr>
        <p:spPr>
          <a:xfrm>
            <a:off x="6309360" y="1600200"/>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Mercado 31 de Janeiro · 3-Gang-Menü + Wein inklusive</a:t>
            </a:r>
            <a:endParaRPr lang="en-US" sz="900" dirty="0"/>
          </a:p>
        </p:txBody>
      </p:sp>
      <p:sp>
        <p:nvSpPr>
          <p:cNvPr id="22" name="Text 20"/>
          <p:cNvSpPr/>
          <p:nvPr/>
        </p:nvSpPr>
        <p:spPr>
          <a:xfrm>
            <a:off x="6309360" y="1865376"/>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Buchung: cookinglisbon.com/market-tour</a:t>
            </a:r>
            <a:endParaRPr lang="en-US" sz="900" dirty="0"/>
          </a:p>
        </p:txBody>
      </p:sp>
      <p:sp>
        <p:nvSpPr>
          <p:cNvPr id="23" name="Text 21"/>
          <p:cNvSpPr/>
          <p:nvPr/>
        </p:nvSpPr>
        <p:spPr>
          <a:xfrm>
            <a:off x="6309360" y="2130552"/>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Halloween-Kneipentour 22 Uhr · €28 p.P.</a:t>
            </a:r>
            <a:endParaRPr lang="en-US" sz="900" dirty="0"/>
          </a:p>
        </p:txBody>
      </p:sp>
      <p:sp>
        <p:nvSpPr>
          <p:cNvPr id="24" name="Text 22"/>
          <p:cNvSpPr/>
          <p:nvPr/>
        </p:nvSpPr>
        <p:spPr>
          <a:xfrm>
            <a:off x="6309360" y="2395728"/>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Treffpkt.: Praça Luís de Camões · 3 Bars · 1h offene Bar</a:t>
            </a:r>
            <a:endParaRPr lang="en-US" sz="900" dirty="0"/>
          </a:p>
        </p:txBody>
      </p:sp>
      <p:sp>
        <p:nvSpPr>
          <p:cNvPr id="25" name="Text 23"/>
          <p:cNvSpPr/>
          <p:nvPr/>
        </p:nvSpPr>
        <p:spPr>
          <a:xfrm>
            <a:off x="6309360" y="2660904"/>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Shots · Kostüm-Wettbewerb · VIP-Clubeintritt</a:t>
            </a:r>
            <a:endParaRPr lang="en-US" sz="900" dirty="0"/>
          </a:p>
        </p:txBody>
      </p:sp>
      <p:sp>
        <p:nvSpPr>
          <p:cNvPr id="26" name="Text 24"/>
          <p:cNvSpPr/>
          <p:nvPr/>
        </p:nvSpPr>
        <p:spPr>
          <a:xfrm>
            <a:off x="6309360" y="2926080"/>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Ab 1 Uhr: Brunch Electronik Halloween Special</a:t>
            </a:r>
            <a:endParaRPr lang="en-US" sz="900" dirty="0"/>
          </a:p>
        </p:txBody>
      </p:sp>
      <p:sp>
        <p:nvSpPr>
          <p:cNvPr id="27" name="Text 25"/>
          <p:cNvSpPr/>
          <p:nvPr/>
        </p:nvSpPr>
        <p:spPr>
          <a:xfrm>
            <a:off x="6309360" y="3191256"/>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Pavilhão Carlos Lopes · Chris Liebing B2B Luke Slater</a:t>
            </a:r>
            <a:endParaRPr lang="en-US" sz="900" dirty="0"/>
          </a:p>
        </p:txBody>
      </p:sp>
      <p:sp>
        <p:nvSpPr>
          <p:cNvPr id="28" name="Shape 26"/>
          <p:cNvSpPr/>
          <p:nvPr/>
        </p:nvSpPr>
        <p:spPr>
          <a:xfrm>
            <a:off x="274320" y="3776472"/>
            <a:ext cx="5669280" cy="2743200"/>
          </a:xfrm>
          <a:prstGeom prst="rect">
            <a:avLst/>
          </a:prstGeom>
          <a:solidFill>
            <a:srgbClr val="16213E"/>
          </a:solidFill>
          <a:ln w="12700">
            <a:solidFill>
              <a:srgbClr val="FF8C00"/>
            </a:solidFill>
            <a:prstDash val="solid"/>
          </a:ln>
        </p:spPr>
      </p:sp>
      <p:sp>
        <p:nvSpPr>
          <p:cNvPr id="29" name="Shape 27"/>
          <p:cNvSpPr/>
          <p:nvPr/>
        </p:nvSpPr>
        <p:spPr>
          <a:xfrm>
            <a:off x="274320" y="3776472"/>
            <a:ext cx="5669280" cy="384048"/>
          </a:xfrm>
          <a:prstGeom prst="rect">
            <a:avLst/>
          </a:prstGeom>
          <a:solidFill>
            <a:srgbClr val="0F3460"/>
          </a:solidFill>
          <a:ln w="12700">
            <a:solidFill>
              <a:srgbClr val="0F3460"/>
            </a:solidFill>
            <a:prstDash val="solid"/>
          </a:ln>
        </p:spPr>
      </p:sp>
      <p:sp>
        <p:nvSpPr>
          <p:cNvPr id="30" name="Text 28"/>
          <p:cNvSpPr/>
          <p:nvPr/>
        </p:nvSpPr>
        <p:spPr>
          <a:xfrm>
            <a:off x="347472" y="3794760"/>
            <a:ext cx="5522976" cy="182880"/>
          </a:xfrm>
          <a:prstGeom prst="rect">
            <a:avLst/>
          </a:prstGeom>
          <a:noFill/>
          <a:ln/>
        </p:spPr>
        <p:txBody>
          <a:bodyPr wrap="square" rtlCol="0" anchor="ctr"/>
          <a:lstStyle/>
          <a:p>
            <a:pPr indent="0" marL="0">
              <a:buNone/>
            </a:pPr>
            <a:r>
              <a:rPr lang="en-US" sz="1100" b="1" dirty="0">
                <a:solidFill>
                  <a:srgbClr val="FF8C00"/>
                </a:solidFill>
                <a:latin typeface="Trebuchet MS" pitchFamily="34" charset="0"/>
                <a:ea typeface="Trebuchet MS" pitchFamily="34" charset="-122"/>
                <a:cs typeface="Trebuchet MS" pitchFamily="34" charset="-120"/>
              </a:rPr>
              <a:t>TAG 3 — SA., 1. NOV.</a:t>
            </a:r>
            <a:endParaRPr lang="en-US" sz="1100" dirty="0"/>
          </a:p>
        </p:txBody>
      </p:sp>
      <p:sp>
        <p:nvSpPr>
          <p:cNvPr id="31" name="Text 29"/>
          <p:cNvSpPr/>
          <p:nvPr/>
        </p:nvSpPr>
        <p:spPr>
          <a:xfrm>
            <a:off x="347472" y="3977640"/>
            <a:ext cx="5522976" cy="164592"/>
          </a:xfrm>
          <a:prstGeom prst="rect">
            <a:avLst/>
          </a:prstGeom>
          <a:noFill/>
          <a:ln/>
        </p:spPr>
        <p:txBody>
          <a:bodyPr wrap="square" rtlCol="0" anchor="ctr"/>
          <a:lstStyle/>
          <a:p>
            <a:pPr indent="0" marL="0">
              <a:buNone/>
            </a:pPr>
            <a:r>
              <a:rPr lang="en-US" sz="900" dirty="0">
                <a:solidFill>
                  <a:srgbClr val="9CA3AF"/>
                </a:solidFill>
                <a:latin typeface="Calibri" pitchFamily="34" charset="0"/>
                <a:ea typeface="Calibri" pitchFamily="34" charset="-122"/>
                <a:cs typeface="Calibri" pitchFamily="34" charset="-120"/>
              </a:rPr>
              <a:t>Erkunden &amp; Entspannen</a:t>
            </a:r>
            <a:endParaRPr lang="en-US" sz="900" dirty="0"/>
          </a:p>
        </p:txBody>
      </p:sp>
      <p:sp>
        <p:nvSpPr>
          <p:cNvPr id="32" name="Text 30"/>
          <p:cNvSpPr/>
          <p:nvPr/>
        </p:nvSpPr>
        <p:spPr>
          <a:xfrm>
            <a:off x="365760" y="4215384"/>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Ausschlafen — Pastéis de Nata bei Pasteis de Belém</a:t>
            </a:r>
            <a:endParaRPr lang="en-US" sz="900" dirty="0"/>
          </a:p>
        </p:txBody>
      </p:sp>
      <p:sp>
        <p:nvSpPr>
          <p:cNvPr id="33" name="Text 31"/>
          <p:cNvSpPr/>
          <p:nvPr/>
        </p:nvSpPr>
        <p:spPr>
          <a:xfrm>
            <a:off x="365760" y="4480560"/>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Straßenbahn 28: malerische Fahrt durch Alfama</a:t>
            </a:r>
            <a:endParaRPr lang="en-US" sz="900" dirty="0"/>
          </a:p>
        </p:txBody>
      </p:sp>
      <p:sp>
        <p:nvSpPr>
          <p:cNvPr id="34" name="Text 32"/>
          <p:cNvSpPr/>
          <p:nvPr/>
        </p:nvSpPr>
        <p:spPr>
          <a:xfrm>
            <a:off x="365760" y="4745736"/>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Cerveja Musa Craft-Brauerei, Mouraria (lokale IPAs)</a:t>
            </a:r>
            <a:endParaRPr lang="en-US" sz="900" dirty="0"/>
          </a:p>
        </p:txBody>
      </p:sp>
      <p:sp>
        <p:nvSpPr>
          <p:cNvPr id="35" name="Text 33"/>
          <p:cNvSpPr/>
          <p:nvPr/>
        </p:nvSpPr>
        <p:spPr>
          <a:xfrm>
            <a:off x="365760" y="5010912"/>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Miradouro da Graça: bester Sonnenuntergangs-Aussichtsp.</a:t>
            </a:r>
            <a:endParaRPr lang="en-US" sz="900" dirty="0"/>
          </a:p>
        </p:txBody>
      </p:sp>
      <p:sp>
        <p:nvSpPr>
          <p:cNvPr id="36" name="Text 34"/>
          <p:cNvSpPr/>
          <p:nvPr/>
        </p:nvSpPr>
        <p:spPr>
          <a:xfrm>
            <a:off x="365760" y="5276088"/>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Fado-Abend: Tasca do Chico oder Zé da Viola</a:t>
            </a:r>
            <a:endParaRPr lang="en-US" sz="900" dirty="0"/>
          </a:p>
        </p:txBody>
      </p:sp>
      <p:sp>
        <p:nvSpPr>
          <p:cNvPr id="37" name="Text 35"/>
          <p:cNvSpPr/>
          <p:nvPr/>
        </p:nvSpPr>
        <p:spPr>
          <a:xfrm>
            <a:off x="365760" y="5541264"/>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Pink Street Nacht: Pensão Amor + Music Box · Lux Frágil</a:t>
            </a:r>
            <a:endParaRPr lang="en-US" sz="900" dirty="0"/>
          </a:p>
        </p:txBody>
      </p:sp>
      <p:sp>
        <p:nvSpPr>
          <p:cNvPr id="38" name="Shape 36"/>
          <p:cNvSpPr/>
          <p:nvPr/>
        </p:nvSpPr>
        <p:spPr>
          <a:xfrm>
            <a:off x="6217920" y="3776472"/>
            <a:ext cx="5669280" cy="2743200"/>
          </a:xfrm>
          <a:prstGeom prst="rect">
            <a:avLst/>
          </a:prstGeom>
          <a:solidFill>
            <a:srgbClr val="16213E"/>
          </a:solidFill>
          <a:ln w="12700">
            <a:solidFill>
              <a:srgbClr val="FF8C00"/>
            </a:solidFill>
            <a:prstDash val="solid"/>
          </a:ln>
        </p:spPr>
      </p:sp>
      <p:sp>
        <p:nvSpPr>
          <p:cNvPr id="39" name="Shape 37"/>
          <p:cNvSpPr/>
          <p:nvPr/>
        </p:nvSpPr>
        <p:spPr>
          <a:xfrm>
            <a:off x="6217920" y="3776472"/>
            <a:ext cx="5669280" cy="384048"/>
          </a:xfrm>
          <a:prstGeom prst="rect">
            <a:avLst/>
          </a:prstGeom>
          <a:solidFill>
            <a:srgbClr val="0F3460"/>
          </a:solidFill>
          <a:ln w="12700">
            <a:solidFill>
              <a:srgbClr val="0F3460"/>
            </a:solidFill>
            <a:prstDash val="solid"/>
          </a:ln>
        </p:spPr>
      </p:sp>
      <p:sp>
        <p:nvSpPr>
          <p:cNvPr id="40" name="Text 38"/>
          <p:cNvSpPr/>
          <p:nvPr/>
        </p:nvSpPr>
        <p:spPr>
          <a:xfrm>
            <a:off x="6291072" y="3794760"/>
            <a:ext cx="5522976" cy="182880"/>
          </a:xfrm>
          <a:prstGeom prst="rect">
            <a:avLst/>
          </a:prstGeom>
          <a:noFill/>
          <a:ln/>
        </p:spPr>
        <p:txBody>
          <a:bodyPr wrap="square" rtlCol="0" anchor="ctr"/>
          <a:lstStyle/>
          <a:p>
            <a:pPr indent="0" marL="0">
              <a:buNone/>
            </a:pPr>
            <a:r>
              <a:rPr lang="en-US" sz="1100" b="1" dirty="0">
                <a:solidFill>
                  <a:srgbClr val="FF8C00"/>
                </a:solidFill>
                <a:latin typeface="Trebuchet MS" pitchFamily="34" charset="0"/>
                <a:ea typeface="Trebuchet MS" pitchFamily="34" charset="-122"/>
                <a:cs typeface="Trebuchet MS" pitchFamily="34" charset="-120"/>
              </a:rPr>
              <a:t>TAG 4 — SO., 2. NOV.</a:t>
            </a:r>
            <a:endParaRPr lang="en-US" sz="1100" dirty="0"/>
          </a:p>
        </p:txBody>
      </p:sp>
      <p:sp>
        <p:nvSpPr>
          <p:cNvPr id="41" name="Text 39"/>
          <p:cNvSpPr/>
          <p:nvPr/>
        </p:nvSpPr>
        <p:spPr>
          <a:xfrm>
            <a:off x="6291072" y="3977640"/>
            <a:ext cx="5522976" cy="164592"/>
          </a:xfrm>
          <a:prstGeom prst="rect">
            <a:avLst/>
          </a:prstGeom>
          <a:noFill/>
          <a:ln/>
        </p:spPr>
        <p:txBody>
          <a:bodyPr wrap="square" rtlCol="0" anchor="ctr"/>
          <a:lstStyle/>
          <a:p>
            <a:pPr indent="0" marL="0">
              <a:buNone/>
            </a:pPr>
            <a:r>
              <a:rPr lang="en-US" sz="900" dirty="0">
                <a:solidFill>
                  <a:srgbClr val="9CA3AF"/>
                </a:solidFill>
                <a:latin typeface="Calibri" pitchFamily="34" charset="0"/>
                <a:ea typeface="Calibri" pitchFamily="34" charset="-122"/>
                <a:cs typeface="Calibri" pitchFamily="34" charset="-120"/>
              </a:rPr>
              <a:t>Abreisetag</a:t>
            </a:r>
            <a:endParaRPr lang="en-US" sz="900" dirty="0"/>
          </a:p>
        </p:txBody>
      </p:sp>
      <p:sp>
        <p:nvSpPr>
          <p:cNvPr id="42" name="Text 40"/>
          <p:cNvSpPr/>
          <p:nvPr/>
        </p:nvSpPr>
        <p:spPr>
          <a:xfrm>
            <a:off x="6309360" y="4215384"/>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Morgen-Kaffee @ A Brasileira, Chiado</a:t>
            </a:r>
            <a:endParaRPr lang="en-US" sz="900" dirty="0"/>
          </a:p>
        </p:txBody>
      </p:sp>
      <p:sp>
        <p:nvSpPr>
          <p:cNvPr id="43" name="Text 41"/>
          <p:cNvSpPr/>
          <p:nvPr/>
        </p:nvSpPr>
        <p:spPr>
          <a:xfrm>
            <a:off x="6309360" y="4480560"/>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Kurzer Besuch Castelo de São Jorge (optional)</a:t>
            </a:r>
            <a:endParaRPr lang="en-US" sz="900" dirty="0"/>
          </a:p>
        </p:txBody>
      </p:sp>
      <p:sp>
        <p:nvSpPr>
          <p:cNvPr id="44" name="Text 42"/>
          <p:cNvSpPr/>
          <p:nvPr/>
        </p:nvSpPr>
        <p:spPr>
          <a:xfrm>
            <a:off x="6309360" y="4745736"/>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Souvenirs: Ginjinha-Likör, Sardinenkonserven</a:t>
            </a:r>
            <a:endParaRPr lang="en-US" sz="900" dirty="0"/>
          </a:p>
        </p:txBody>
      </p:sp>
      <p:sp>
        <p:nvSpPr>
          <p:cNvPr id="45" name="Text 43"/>
          <p:cNvSpPr/>
          <p:nvPr/>
        </p:nvSpPr>
        <p:spPr>
          <a:xfrm>
            <a:off x="6309360" y="5010912"/>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Transfer zum Flughafen (45 Min. einplanen)</a:t>
            </a:r>
            <a:endParaRPr lang="en-US" sz="900" dirty="0"/>
          </a:p>
        </p:txBody>
      </p:sp>
      <p:sp>
        <p:nvSpPr>
          <p:cNvPr id="46" name="Text 44"/>
          <p:cNvSpPr/>
          <p:nvPr/>
        </p:nvSpPr>
        <p:spPr>
          <a:xfrm>
            <a:off x="6309360" y="5276088"/>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EW9603  18:00 LIS → 21:50 DUS</a:t>
            </a:r>
            <a:endParaRPr lang="en-US" sz="900" dirty="0"/>
          </a:p>
        </p:txBody>
      </p:sp>
      <p:sp>
        <p:nvSpPr>
          <p:cNvPr id="47" name="Shape 45"/>
          <p:cNvSpPr/>
          <p:nvPr/>
        </p:nvSpPr>
        <p:spPr>
          <a:xfrm>
            <a:off x="274320" y="6510528"/>
            <a:ext cx="11612880" cy="201168"/>
          </a:xfrm>
          <a:prstGeom prst="rect">
            <a:avLst/>
          </a:prstGeom>
          <a:solidFill>
            <a:srgbClr val="16213E"/>
          </a:solidFill>
          <a:ln w="12700">
            <a:solidFill>
              <a:srgbClr val="0F3460"/>
            </a:solidFill>
            <a:prstDash val="solid"/>
          </a:ln>
        </p:spPr>
      </p:sp>
      <p:sp>
        <p:nvSpPr>
          <p:cNvPr id="48" name="Text 46"/>
          <p:cNvSpPr/>
          <p:nvPr/>
        </p:nvSpPr>
        <p:spPr>
          <a:xfrm>
            <a:off x="365760" y="6510528"/>
            <a:ext cx="11430000" cy="20116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Kneipentour: eventbrite.co.uk/e/1981093800888  ·  Kochkurs: cookinglisbon.com/booking  ·  Stadtführung: neweuropetours.eu/lisbon  ·  Lux Frágil: luxfragil.com</a:t>
            </a:r>
            <a:endParaRPr lang="en-US" sz="800" dirty="0"/>
          </a:p>
        </p:txBody>
      </p:sp>
      <p:sp>
        <p:nvSpPr>
          <p:cNvPr id="49" name="Shape 47"/>
          <p:cNvSpPr/>
          <p:nvPr/>
        </p:nvSpPr>
        <p:spPr>
          <a:xfrm>
            <a:off x="0" y="6784848"/>
            <a:ext cx="12192000" cy="73152"/>
          </a:xfrm>
          <a:prstGeom prst="rect">
            <a:avLst/>
          </a:prstGeom>
          <a:solidFill>
            <a:srgbClr val="FF8C00"/>
          </a:solidFill>
          <a:ln w="12700">
            <a:solidFill>
              <a:srgbClr val="FF8C00"/>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FF8C00"/>
          </a:solidFill>
          <a:ln w="12700">
            <a:solidFill>
              <a:srgbClr val="FF8C00"/>
            </a:solidFill>
            <a:prstDash val="solid"/>
          </a:ln>
        </p:spPr>
      </p:sp>
      <p:sp>
        <p:nvSpPr>
          <p:cNvPr id="3" name="Shape 1"/>
          <p:cNvSpPr/>
          <p:nvPr/>
        </p:nvSpPr>
        <p:spPr>
          <a:xfrm>
            <a:off x="0" y="73152"/>
            <a:ext cx="12192000" cy="658368"/>
          </a:xfrm>
          <a:prstGeom prst="rect">
            <a:avLst/>
          </a:prstGeom>
          <a:solidFill>
            <a:srgbClr val="16213E"/>
          </a:solidFill>
          <a:ln w="12700">
            <a:solidFill>
              <a:srgbClr val="16213E"/>
            </a:solidFill>
            <a:prstDash val="solid"/>
          </a:ln>
        </p:spPr>
      </p:sp>
      <p:sp>
        <p:nvSpPr>
          <p:cNvPr id="4" name="Text 2"/>
          <p:cNvSpPr/>
          <p:nvPr/>
        </p:nvSpPr>
        <p:spPr>
          <a:xfrm>
            <a:off x="365760" y="73152"/>
            <a:ext cx="11430000" cy="658368"/>
          </a:xfrm>
          <a:prstGeom prst="rect">
            <a:avLst/>
          </a:prstGeom>
          <a:noFill/>
          <a:ln/>
        </p:spPr>
        <p:txBody>
          <a:bodyPr wrap="square"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  LISSABON — KOSTENÜBERSICHT</a:t>
            </a:r>
            <a:endParaRPr lang="en-US" sz="2200" dirty="0"/>
          </a:p>
        </p:txBody>
      </p:sp>
      <p:sp>
        <p:nvSpPr>
          <p:cNvPr id="5" name="Shape 3"/>
          <p:cNvSpPr/>
          <p:nvPr/>
        </p:nvSpPr>
        <p:spPr>
          <a:xfrm>
            <a:off x="0" y="731520"/>
            <a:ext cx="12192000" cy="27432"/>
          </a:xfrm>
          <a:prstGeom prst="rect">
            <a:avLst/>
          </a:prstGeom>
          <a:solidFill>
            <a:srgbClr val="FF8C00"/>
          </a:solidFill>
          <a:ln w="12700">
            <a:solidFill>
              <a:srgbClr val="FF8C00"/>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932688"/>
          <a:ext cx="11247120" cy="914400"/>
        </p:xfrm>
        <a:graphic>
          <a:graphicData uri="http://schemas.openxmlformats.org/drawingml/2006/table">
            <a:tbl>
              <a:tblPr/>
              <a:tblGrid>
                <a:gridCol w="2286000"/>
                <a:gridCol w="4754880"/>
                <a:gridCol w="1920240"/>
                <a:gridCol w="1920240"/>
              </a:tblGrid>
              <a:tr h="384048">
                <a:tc>
                  <a:txBody>
                    <a:bodyPr/>
                    <a:lstStyle/>
                    <a:p>
                      <a:pPr algn="ctr" indent="0" marL="0">
                        <a:buNone/>
                      </a:pPr>
                      <a:r>
                        <a:rPr lang="en-US" sz="1200" b="1" dirty="0">
                          <a:solidFill>
                            <a:srgbClr val="FF8C00"/>
                          </a:solidFill>
                          <a:latin typeface="Trebuchet MS" pitchFamily="34" charset="0"/>
                          <a:ea typeface="Trebuchet MS" pitchFamily="34" charset="-122"/>
                          <a:cs typeface="Trebuchet MS" pitchFamily="34" charset="-120"/>
                        </a:rPr>
                        <a:t>Posten</a:t>
                      </a:r>
                      <a:endParaRPr lang="en-US" sz="1200" dirty="0">
                        <a:latin typeface="Trebuchet MS" charset="0"/>
                        <a:ea typeface="Trebuchet MS" charset="0"/>
                        <a:cs typeface="Trebuchet MS"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200" b="1" dirty="0">
                          <a:solidFill>
                            <a:srgbClr val="FF8C00"/>
                          </a:solidFill>
                          <a:latin typeface="Trebuchet MS" pitchFamily="34" charset="0"/>
                          <a:ea typeface="Trebuchet MS" pitchFamily="34" charset="-122"/>
                          <a:cs typeface="Trebuchet MS" pitchFamily="34" charset="-120"/>
                        </a:rPr>
                        <a:t>Details</a:t>
                      </a:r>
                      <a:endParaRPr lang="en-US" sz="1200" dirty="0">
                        <a:latin typeface="Trebuchet MS" charset="0"/>
                        <a:ea typeface="Trebuchet MS" charset="0"/>
                        <a:cs typeface="Trebuchet MS"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200" b="1" dirty="0">
                          <a:solidFill>
                            <a:srgbClr val="FF8C00"/>
                          </a:solidFill>
                          <a:latin typeface="Trebuchet MS" pitchFamily="34" charset="0"/>
                          <a:ea typeface="Trebuchet MS" pitchFamily="34" charset="-122"/>
                          <a:cs typeface="Trebuchet MS" pitchFamily="34" charset="-120"/>
                        </a:rPr>
                        <a:t>p.P.</a:t>
                      </a:r>
                      <a:endParaRPr lang="en-US" sz="1200" dirty="0">
                        <a:latin typeface="Trebuchet MS" charset="0"/>
                        <a:ea typeface="Trebuchet MS" charset="0"/>
                        <a:cs typeface="Trebuchet MS"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200" b="1" dirty="0">
                          <a:solidFill>
                            <a:srgbClr val="FF8C00"/>
                          </a:solidFill>
                          <a:latin typeface="Trebuchet MS" pitchFamily="34" charset="0"/>
                          <a:ea typeface="Trebuchet MS" pitchFamily="34" charset="-122"/>
                          <a:cs typeface="Trebuchet MS" pitchFamily="34" charset="-120"/>
                        </a:rPr>
                        <a:t>Gesamt ×4</a:t>
                      </a:r>
                      <a:endParaRPr lang="en-US" sz="1200" dirty="0">
                        <a:latin typeface="Trebuchet MS" charset="0"/>
                        <a:ea typeface="Trebuchet MS" charset="0"/>
                        <a:cs typeface="Trebuchet MS"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r>
              <a:tr h="429768">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Hin- und Rückflug</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Eurowings EW9602/9603  DUS ↔ LIS</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~€170</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~€680</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r>
              <a:tr h="429768">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Unterkunft</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Airbnb Bairro Alto — 3 Nächte (inkl. Gebühren)</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~€115</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~€460</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r>
              <a:tr h="429768">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Halloween-Kneipentour</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Halloween Haunts — Chiado (31. Okt.)</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€28</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€112</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r>
              <a:tr h="429768">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Kochkurs</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Cooking Lisbon — Markt + 3-Gang-Menü + Wein</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€110</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€440</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r>
              <a:tr h="429768">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Stadtführung</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SANDEMANs — Praça do Comércio (Trinkgeld)</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r>
              <a:tr h="429768">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Essen (3 Tage)</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Mahlzeiten, Petiscos, Pastéis — Ø €15–25/Mahlzeit</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~€120</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~€480</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r>
              <a:tr h="429768">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Getränke &amp; Ausgehen</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Bairro Alto + Pink Street + Clubs (3 Nächte)</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~€150</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~€600</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r>
              <a:tr h="429768">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Sonstiges</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Bolt/Uber, Trinkgelder, Souvenirs</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~€120</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r>
              <a:tr h="429768">
                <a:tc>
                  <a:txBody>
                    <a:bodyP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  GESAMTSCHÄTZUNG</a:t>
                      </a:r>
                      <a:endParaRPr lang="en-US" sz="1300" dirty="0">
                        <a:latin typeface="Trebuchet MS" charset="0"/>
                        <a:ea typeface="Trebuchet MS" charset="0"/>
                        <a:cs typeface="Trebuchet MS"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l" indent="0" marL="0">
                        <a:buNone/>
                      </a:pPr>
                      <a:r>
                        <a:rPr lang="en-US" sz="1300" b="1" dirty="0">
                          <a:solidFill>
                            <a:srgbClr val="9CA3AF"/>
                          </a:solidFill>
                          <a:latin typeface="Trebuchet MS" pitchFamily="34" charset="0"/>
                          <a:ea typeface="Trebuchet MS" pitchFamily="34" charset="-122"/>
                          <a:cs typeface="Trebuchet MS" pitchFamily="34" charset="-120"/>
                        </a:rPr>
                        <a:t>Lissabon, 30. Okt. – 2. Nov. 2025</a:t>
                      </a:r>
                      <a:endParaRPr lang="en-US" sz="1300" dirty="0">
                        <a:latin typeface="Trebuchet MS" charset="0"/>
                        <a:ea typeface="Trebuchet MS" charset="0"/>
                        <a:cs typeface="Trebuchet MS"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r" indent="0" marL="0">
                        <a:buNone/>
                      </a:pPr>
                      <a:r>
                        <a:rPr lang="en-US" sz="1300" b="1" dirty="0">
                          <a:solidFill>
                            <a:srgbClr val="FF8C00"/>
                          </a:solidFill>
                          <a:latin typeface="Trebuchet MS" pitchFamily="34" charset="0"/>
                          <a:ea typeface="Trebuchet MS" pitchFamily="34" charset="-122"/>
                          <a:cs typeface="Trebuchet MS" pitchFamily="34" charset="-120"/>
                        </a:rPr>
                        <a:t>~€735</a:t>
                      </a:r>
                      <a:endParaRPr lang="en-US" sz="1300" dirty="0">
                        <a:latin typeface="Trebuchet MS" charset="0"/>
                        <a:ea typeface="Trebuchet MS" charset="0"/>
                        <a:cs typeface="Trebuchet MS"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r" indent="0" marL="0">
                        <a:buNone/>
                      </a:pPr>
                      <a:r>
                        <a:rPr lang="en-US" sz="1300" b="1" dirty="0">
                          <a:solidFill>
                            <a:srgbClr val="FF8C00"/>
                          </a:solidFill>
                          <a:latin typeface="Trebuchet MS" pitchFamily="34" charset="0"/>
                          <a:ea typeface="Trebuchet MS" pitchFamily="34" charset="-122"/>
                          <a:cs typeface="Trebuchet MS" pitchFamily="34" charset="-120"/>
                        </a:rPr>
                        <a:t>~€2.940</a:t>
                      </a:r>
                      <a:endParaRPr lang="en-US" sz="1300" dirty="0">
                        <a:latin typeface="Trebuchet MS" charset="0"/>
                        <a:ea typeface="Trebuchet MS" charset="0"/>
                        <a:cs typeface="Trebuchet MS"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r>
            </a:tbl>
          </a:graphicData>
        </a:graphic>
      </p:graphicFrame>
      <p:sp>
        <p:nvSpPr>
          <p:cNvPr id="7" name="Shape 4"/>
          <p:cNvSpPr/>
          <p:nvPr/>
        </p:nvSpPr>
        <p:spPr>
          <a:xfrm>
            <a:off x="457200" y="5257800"/>
            <a:ext cx="11247120" cy="594360"/>
          </a:xfrm>
          <a:prstGeom prst="rect">
            <a:avLst/>
          </a:prstGeom>
          <a:solidFill>
            <a:srgbClr val="16213E"/>
          </a:solidFill>
          <a:ln w="12700">
            <a:solidFill>
              <a:srgbClr val="FF8C00"/>
            </a:solidFill>
            <a:prstDash val="solid"/>
          </a:ln>
        </p:spPr>
      </p:sp>
      <p:sp>
        <p:nvSpPr>
          <p:cNvPr id="8" name="Text 5"/>
          <p:cNvSpPr/>
          <p:nvPr/>
        </p:nvSpPr>
        <p:spPr>
          <a:xfrm>
            <a:off x="594360" y="5303520"/>
            <a:ext cx="10972800" cy="502920"/>
          </a:xfrm>
          <a:prstGeom prst="rect">
            <a:avLst/>
          </a:prstGeom>
          <a:noFill/>
          <a:ln/>
        </p:spPr>
        <p:txBody>
          <a:bodyPr wrap="square" rtlCol="0" anchor="ctr"/>
          <a:lstStyle/>
          <a:p>
            <a:pPr indent="0" marL="0">
              <a:buNone/>
            </a:pPr>
            <a:r>
              <a:rPr lang="en-US" sz="1050" dirty="0">
                <a:solidFill>
                  <a:srgbClr val="9CA3AF"/>
                </a:solidFill>
                <a:latin typeface="Calibri" pitchFamily="34" charset="0"/>
                <a:ea typeface="Calibri" pitchFamily="34" charset="-122"/>
                <a:cs typeface="Calibri" pitchFamily="34" charset="-120"/>
              </a:rPr>
              <a:t>💡 Budgetrahmen: €600–900 p.P. je nach Partylust.  Bier ab €2–3, Supermarkt-Runs helfen sparen.  Clubs (Lux Frágil, Brunch Electronik) kosten je ~€20–30 extra.  Leitungswasser in Restaurants gratis.</a:t>
            </a:r>
            <a:endParaRPr lang="en-US" sz="1050" dirty="0"/>
          </a:p>
        </p:txBody>
      </p:sp>
      <p:sp>
        <p:nvSpPr>
          <p:cNvPr id="9" name="Shape 6"/>
          <p:cNvSpPr/>
          <p:nvPr/>
        </p:nvSpPr>
        <p:spPr>
          <a:xfrm>
            <a:off x="0" y="6784848"/>
            <a:ext cx="12192000" cy="73152"/>
          </a:xfrm>
          <a:prstGeom prst="rect">
            <a:avLst/>
          </a:prstGeom>
          <a:solidFill>
            <a:srgbClr val="FF8C00"/>
          </a:solidFill>
          <a:ln w="12700">
            <a:solidFill>
              <a:srgbClr val="FF8C00"/>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1EB4C8"/>
          </a:solidFill>
          <a:ln w="12700">
            <a:solidFill>
              <a:srgbClr val="1EB4C8"/>
            </a:solidFill>
            <a:prstDash val="solid"/>
          </a:ln>
        </p:spPr>
      </p:sp>
      <p:sp>
        <p:nvSpPr>
          <p:cNvPr id="3" name="Shape 1"/>
          <p:cNvSpPr/>
          <p:nvPr/>
        </p:nvSpPr>
        <p:spPr>
          <a:xfrm>
            <a:off x="0" y="73152"/>
            <a:ext cx="12192000" cy="658368"/>
          </a:xfrm>
          <a:prstGeom prst="rect">
            <a:avLst/>
          </a:prstGeom>
          <a:solidFill>
            <a:srgbClr val="16213E"/>
          </a:solidFill>
          <a:ln w="12700">
            <a:solidFill>
              <a:srgbClr val="16213E"/>
            </a:solidFill>
            <a:prstDash val="solid"/>
          </a:ln>
        </p:spPr>
      </p:sp>
      <p:sp>
        <p:nvSpPr>
          <p:cNvPr id="4" name="Text 2"/>
          <p:cNvSpPr/>
          <p:nvPr/>
        </p:nvSpPr>
        <p:spPr>
          <a:xfrm>
            <a:off x="365760" y="73152"/>
            <a:ext cx="11430000" cy="658368"/>
          </a:xfrm>
          <a:prstGeom prst="rect">
            <a:avLst/>
          </a:prstGeom>
          <a:noFill/>
          <a:ln/>
        </p:spPr>
        <p:txBody>
          <a:bodyPr wrap="square"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  REISEZIEL 4 — MALTA, VALLETTA</a:t>
            </a:r>
            <a:endParaRPr lang="en-US" sz="2200" dirty="0"/>
          </a:p>
        </p:txBody>
      </p:sp>
      <p:sp>
        <p:nvSpPr>
          <p:cNvPr id="5" name="Shape 3"/>
          <p:cNvSpPr/>
          <p:nvPr/>
        </p:nvSpPr>
        <p:spPr>
          <a:xfrm>
            <a:off x="0" y="731520"/>
            <a:ext cx="12192000" cy="27432"/>
          </a:xfrm>
          <a:prstGeom prst="rect">
            <a:avLst/>
          </a:prstGeom>
          <a:solidFill>
            <a:srgbClr val="1EB4C8"/>
          </a:solidFill>
          <a:ln w="12700">
            <a:solidFill>
              <a:srgbClr val="1EB4C8"/>
            </a:solidFill>
            <a:prstDash val="solid"/>
          </a:ln>
        </p:spPr>
      </p:sp>
      <p:pic>
        <p:nvPicPr>
          <p:cNvPr id="6" name="Image 0" descr="/home/user/Excelhaus/halloween_trip/malta_hero.png">    </p:cNvPr>
          <p:cNvPicPr>
            <a:picLocks noChangeAspect="1"/>
          </p:cNvPicPr>
          <p:nvPr/>
        </p:nvPicPr>
        <p:blipFill>
          <a:blip r:embed="rId1"/>
          <a:stretch>
            <a:fillRect/>
          </a:stretch>
        </p:blipFill>
        <p:spPr>
          <a:xfrm>
            <a:off x="0" y="758952"/>
            <a:ext cx="6400800" cy="4937760"/>
          </a:xfrm>
          <a:prstGeom prst="rect">
            <a:avLst/>
          </a:prstGeom>
        </p:spPr>
      </p:pic>
      <p:sp>
        <p:nvSpPr>
          <p:cNvPr id="7" name="Shape 4"/>
          <p:cNvSpPr/>
          <p:nvPr/>
        </p:nvSpPr>
        <p:spPr>
          <a:xfrm>
            <a:off x="5303520" y="758952"/>
            <a:ext cx="1097280" cy="4937760"/>
          </a:xfrm>
          <a:prstGeom prst="rect">
            <a:avLst/>
          </a:prstGeom>
          <a:solidFill>
            <a:srgbClr val="1A1A2E"/>
          </a:solidFill>
          <a:ln w="12700">
            <a:solidFill>
              <a:srgbClr val="1A1A2E"/>
            </a:solidFill>
            <a:prstDash val="solid"/>
          </a:ln>
        </p:spPr>
      </p:sp>
      <p:sp>
        <p:nvSpPr>
          <p:cNvPr id="8" name="Text 5"/>
          <p:cNvSpPr/>
          <p:nvPr/>
        </p:nvSpPr>
        <p:spPr>
          <a:xfrm>
            <a:off x="6583680" y="868680"/>
            <a:ext cx="5394960" cy="411480"/>
          </a:xfrm>
          <a:prstGeom prst="rect">
            <a:avLst/>
          </a:prstGeom>
          <a:noFill/>
          <a:ln/>
        </p:spPr>
        <p:txBody>
          <a:bodyPr wrap="square" rtlCol="0" anchor="ctr"/>
          <a:lstStyle/>
          <a:p>
            <a:pPr indent="0" marL="0">
              <a:buNone/>
            </a:pPr>
            <a:r>
              <a:rPr lang="en-US" sz="1600" b="1" dirty="0">
                <a:solidFill>
                  <a:srgbClr val="1EB4C8"/>
                </a:solidFill>
                <a:latin typeface="Trebuchet MS" pitchFamily="34" charset="0"/>
                <a:ea typeface="Trebuchet MS" pitchFamily="34" charset="-122"/>
                <a:cs typeface="Trebuchet MS" pitchFamily="34" charset="-120"/>
              </a:rPr>
              <a:t>Wärmstes Ziel — Mittelmeer im Oktober</a:t>
            </a:r>
            <a:endParaRPr lang="en-US" sz="1600" dirty="0"/>
          </a:p>
        </p:txBody>
      </p:sp>
      <p:sp>
        <p:nvSpPr>
          <p:cNvPr id="9" name="Text 6"/>
          <p:cNvSpPr/>
          <p:nvPr/>
        </p:nvSpPr>
        <p:spPr>
          <a:xfrm>
            <a:off x="6583680" y="1261872"/>
            <a:ext cx="5394960" cy="292608"/>
          </a:xfrm>
          <a:prstGeom prst="rect">
            <a:avLst/>
          </a:prstGeom>
          <a:noFill/>
          <a:ln/>
        </p:spPr>
        <p:txBody>
          <a:bodyPr wrap="square" rtlCol="0" anchor="ctr"/>
          <a:lstStyle/>
          <a:p>
            <a:pPr indent="0" marL="0">
              <a:buNone/>
            </a:pPr>
            <a:r>
              <a:rPr lang="en-US" sz="1000" i="1" dirty="0">
                <a:solidFill>
                  <a:srgbClr val="9CA3AF"/>
                </a:solidFill>
                <a:latin typeface="Calibri" pitchFamily="34" charset="0"/>
                <a:ea typeface="Calibri" pitchFamily="34" charset="-122"/>
                <a:cs typeface="Calibri" pitchFamily="34" charset="-120"/>
              </a:rPr>
              <a:t>Paceville · Sliema · Valletta · Blaue Lagune · Cisk Lager</a:t>
            </a:r>
            <a:endParaRPr lang="en-US" sz="1000" dirty="0"/>
          </a:p>
        </p:txBody>
      </p:sp>
      <p:sp>
        <p:nvSpPr>
          <p:cNvPr id="10" name="Shape 7"/>
          <p:cNvSpPr/>
          <p:nvPr/>
        </p:nvSpPr>
        <p:spPr>
          <a:xfrm>
            <a:off x="6583680" y="1691640"/>
            <a:ext cx="1691640" cy="1097280"/>
          </a:xfrm>
          <a:prstGeom prst="rect">
            <a:avLst/>
          </a:prstGeom>
          <a:solidFill>
            <a:srgbClr val="0F3460"/>
          </a:solidFill>
          <a:ln w="12700">
            <a:solidFill>
              <a:srgbClr val="1EB4C8"/>
            </a:solidFill>
            <a:prstDash val="solid"/>
          </a:ln>
        </p:spPr>
      </p:sp>
      <p:sp>
        <p:nvSpPr>
          <p:cNvPr id="11" name="Text 8"/>
          <p:cNvSpPr/>
          <p:nvPr/>
        </p:nvSpPr>
        <p:spPr>
          <a:xfrm>
            <a:off x="6583680" y="1737360"/>
            <a:ext cx="1691640" cy="32004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 Flugdauer</a:t>
            </a:r>
            <a:endParaRPr lang="en-US" sz="1000" dirty="0"/>
          </a:p>
        </p:txBody>
      </p:sp>
      <p:sp>
        <p:nvSpPr>
          <p:cNvPr id="12" name="Text 9"/>
          <p:cNvSpPr/>
          <p:nvPr/>
        </p:nvSpPr>
        <p:spPr>
          <a:xfrm>
            <a:off x="6583680" y="2039112"/>
            <a:ext cx="1691640" cy="685800"/>
          </a:xfrm>
          <a:prstGeom prst="rect">
            <a:avLst/>
          </a:prstGeom>
          <a:noFill/>
          <a:ln/>
        </p:spPr>
        <p:txBody>
          <a:bodyPr wrap="square" rtlCol="0" anchor="ctr"/>
          <a:lstStyle/>
          <a:p>
            <a:pPr algn="ctr" indent="0" marL="0">
              <a:buNone/>
            </a:pPr>
            <a:r>
              <a:rPr lang="en-US" sz="1600" b="1" dirty="0">
                <a:solidFill>
                  <a:srgbClr val="1EB4C8"/>
                </a:solidFill>
                <a:latin typeface="Trebuchet MS" pitchFamily="34" charset="0"/>
                <a:ea typeface="Trebuchet MS" pitchFamily="34" charset="-122"/>
                <a:cs typeface="Trebuchet MS" pitchFamily="34" charset="-120"/>
              </a:rPr>
              <a:t>~3h 00m</a:t>
            </a:r>
            <a:endParaRPr lang="en-US" sz="1600" dirty="0"/>
          </a:p>
          <a:p>
            <a:pPr algn="ctr" indent="0" marL="0">
              <a:buNone/>
            </a:pPr>
            <a:r>
              <a:rPr lang="en-US" sz="1600" b="1" dirty="0">
                <a:solidFill>
                  <a:srgbClr val="1EB4C8"/>
                </a:solidFill>
                <a:latin typeface="Trebuchet MS" pitchFamily="34" charset="0"/>
                <a:ea typeface="Trebuchet MS" pitchFamily="34" charset="-122"/>
                <a:cs typeface="Trebuchet MS" pitchFamily="34" charset="-120"/>
              </a:rPr>
              <a:t>ab DUS</a:t>
            </a:r>
            <a:endParaRPr lang="en-US" sz="1600" dirty="0"/>
          </a:p>
        </p:txBody>
      </p:sp>
      <p:sp>
        <p:nvSpPr>
          <p:cNvPr id="13" name="Shape 10"/>
          <p:cNvSpPr/>
          <p:nvPr/>
        </p:nvSpPr>
        <p:spPr>
          <a:xfrm>
            <a:off x="8394192" y="1691640"/>
            <a:ext cx="1691640" cy="1097280"/>
          </a:xfrm>
          <a:prstGeom prst="rect">
            <a:avLst/>
          </a:prstGeom>
          <a:solidFill>
            <a:srgbClr val="0F3460"/>
          </a:solidFill>
          <a:ln w="12700">
            <a:solidFill>
              <a:srgbClr val="1EB4C8"/>
            </a:solidFill>
            <a:prstDash val="solid"/>
          </a:ln>
        </p:spPr>
      </p:sp>
      <p:sp>
        <p:nvSpPr>
          <p:cNvPr id="14" name="Text 11"/>
          <p:cNvSpPr/>
          <p:nvPr/>
        </p:nvSpPr>
        <p:spPr>
          <a:xfrm>
            <a:off x="8394192" y="1737360"/>
            <a:ext cx="1691640" cy="32004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 Bier</a:t>
            </a:r>
            <a:endParaRPr lang="en-US" sz="1000" dirty="0"/>
          </a:p>
        </p:txBody>
      </p:sp>
      <p:sp>
        <p:nvSpPr>
          <p:cNvPr id="15" name="Text 12"/>
          <p:cNvSpPr/>
          <p:nvPr/>
        </p:nvSpPr>
        <p:spPr>
          <a:xfrm>
            <a:off x="8394192" y="2039112"/>
            <a:ext cx="1691640" cy="685800"/>
          </a:xfrm>
          <a:prstGeom prst="rect">
            <a:avLst/>
          </a:prstGeom>
          <a:noFill/>
          <a:ln/>
        </p:spPr>
        <p:txBody>
          <a:bodyPr wrap="square" rtlCol="0" anchor="ctr"/>
          <a:lstStyle/>
          <a:p>
            <a:pPr algn="ctr" indent="0" marL="0">
              <a:buNone/>
            </a:pPr>
            <a:r>
              <a:rPr lang="en-US" sz="1600" b="1" dirty="0">
                <a:solidFill>
                  <a:srgbClr val="1EB4C8"/>
                </a:solidFill>
                <a:latin typeface="Trebuchet MS" pitchFamily="34" charset="0"/>
                <a:ea typeface="Trebuchet MS" pitchFamily="34" charset="-122"/>
                <a:cs typeface="Trebuchet MS" pitchFamily="34" charset="-120"/>
              </a:rPr>
              <a:t>€2 – €3</a:t>
            </a:r>
            <a:endParaRPr lang="en-US" sz="1600" dirty="0"/>
          </a:p>
          <a:p>
            <a:pPr algn="ctr" indent="0" marL="0">
              <a:buNone/>
            </a:pPr>
            <a:r>
              <a:rPr lang="en-US" sz="1600" b="1" dirty="0">
                <a:solidFill>
                  <a:srgbClr val="1EB4C8"/>
                </a:solidFill>
                <a:latin typeface="Trebuchet MS" pitchFamily="34" charset="0"/>
                <a:ea typeface="Trebuchet MS" pitchFamily="34" charset="-122"/>
                <a:cs typeface="Trebuchet MS" pitchFamily="34" charset="-120"/>
              </a:rPr>
              <a:t>(Cisk Lager)</a:t>
            </a:r>
            <a:endParaRPr lang="en-US" sz="1600" dirty="0"/>
          </a:p>
        </p:txBody>
      </p:sp>
      <p:sp>
        <p:nvSpPr>
          <p:cNvPr id="16" name="Shape 13"/>
          <p:cNvSpPr/>
          <p:nvPr/>
        </p:nvSpPr>
        <p:spPr>
          <a:xfrm>
            <a:off x="10204704" y="1691640"/>
            <a:ext cx="1691640" cy="1097280"/>
          </a:xfrm>
          <a:prstGeom prst="rect">
            <a:avLst/>
          </a:prstGeom>
          <a:solidFill>
            <a:srgbClr val="0F3460"/>
          </a:solidFill>
          <a:ln w="12700">
            <a:solidFill>
              <a:srgbClr val="1EB4C8"/>
            </a:solidFill>
            <a:prstDash val="solid"/>
          </a:ln>
        </p:spPr>
      </p:sp>
      <p:sp>
        <p:nvSpPr>
          <p:cNvPr id="17" name="Text 14"/>
          <p:cNvSpPr/>
          <p:nvPr/>
        </p:nvSpPr>
        <p:spPr>
          <a:xfrm>
            <a:off x="10204704" y="1737360"/>
            <a:ext cx="1691640" cy="32004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 Wetter</a:t>
            </a:r>
            <a:endParaRPr lang="en-US" sz="1000" dirty="0"/>
          </a:p>
        </p:txBody>
      </p:sp>
      <p:sp>
        <p:nvSpPr>
          <p:cNvPr id="18" name="Text 15"/>
          <p:cNvSpPr/>
          <p:nvPr/>
        </p:nvSpPr>
        <p:spPr>
          <a:xfrm>
            <a:off x="10204704" y="2039112"/>
            <a:ext cx="1691640" cy="685800"/>
          </a:xfrm>
          <a:prstGeom prst="rect">
            <a:avLst/>
          </a:prstGeom>
          <a:noFill/>
          <a:ln/>
        </p:spPr>
        <p:txBody>
          <a:bodyPr wrap="square" rtlCol="0" anchor="ctr"/>
          <a:lstStyle/>
          <a:p>
            <a:pPr algn="ctr" indent="0" marL="0">
              <a:buNone/>
            </a:pPr>
            <a:r>
              <a:rPr lang="en-US" sz="1600" b="1" dirty="0">
                <a:solidFill>
                  <a:srgbClr val="1EB4C8"/>
                </a:solidFill>
                <a:latin typeface="Trebuchet MS" pitchFamily="34" charset="0"/>
                <a:ea typeface="Trebuchet MS" pitchFamily="34" charset="-122"/>
                <a:cs typeface="Trebuchet MS" pitchFamily="34" charset="-120"/>
              </a:rPr>
              <a:t>22–24°C ☀☀</a:t>
            </a:r>
            <a:endParaRPr lang="en-US" sz="1600" dirty="0"/>
          </a:p>
          <a:p>
            <a:pPr algn="ctr" indent="0" marL="0">
              <a:buNone/>
            </a:pPr>
            <a:r>
              <a:rPr lang="en-US" sz="1600" b="1" dirty="0">
                <a:solidFill>
                  <a:srgbClr val="1EB4C8"/>
                </a:solidFill>
                <a:latin typeface="Trebuchet MS" pitchFamily="34" charset="0"/>
                <a:ea typeface="Trebuchet MS" pitchFamily="34" charset="-122"/>
                <a:cs typeface="Trebuchet MS" pitchFamily="34" charset="-120"/>
              </a:rPr>
              <a:t>Wärmstes Ziel!</a:t>
            </a:r>
            <a:endParaRPr lang="en-US" sz="1600" dirty="0"/>
          </a:p>
        </p:txBody>
      </p:sp>
      <p:sp>
        <p:nvSpPr>
          <p:cNvPr id="19" name="Shape 16"/>
          <p:cNvSpPr/>
          <p:nvPr/>
        </p:nvSpPr>
        <p:spPr>
          <a:xfrm>
            <a:off x="6583680" y="2926080"/>
            <a:ext cx="1691640" cy="1097280"/>
          </a:xfrm>
          <a:prstGeom prst="rect">
            <a:avLst/>
          </a:prstGeom>
          <a:solidFill>
            <a:srgbClr val="0F3460"/>
          </a:solidFill>
          <a:ln w="12700">
            <a:solidFill>
              <a:srgbClr val="1EB4C8"/>
            </a:solidFill>
            <a:prstDash val="solid"/>
          </a:ln>
        </p:spPr>
      </p:sp>
      <p:sp>
        <p:nvSpPr>
          <p:cNvPr id="20" name="Text 17"/>
          <p:cNvSpPr/>
          <p:nvPr/>
        </p:nvSpPr>
        <p:spPr>
          <a:xfrm>
            <a:off x="6583680" y="2971800"/>
            <a:ext cx="1691640" cy="32004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 Kosten ca.</a:t>
            </a:r>
            <a:endParaRPr lang="en-US" sz="1000" dirty="0"/>
          </a:p>
        </p:txBody>
      </p:sp>
      <p:sp>
        <p:nvSpPr>
          <p:cNvPr id="21" name="Text 18"/>
          <p:cNvSpPr/>
          <p:nvPr/>
        </p:nvSpPr>
        <p:spPr>
          <a:xfrm>
            <a:off x="6583680" y="3273552"/>
            <a:ext cx="1691640" cy="685800"/>
          </a:xfrm>
          <a:prstGeom prst="rect">
            <a:avLst/>
          </a:prstGeom>
          <a:noFill/>
          <a:ln/>
        </p:spPr>
        <p:txBody>
          <a:bodyPr wrap="square" rtlCol="0" anchor="ctr"/>
          <a:lstStyle/>
          <a:p>
            <a:pPr algn="ctr" indent="0" marL="0">
              <a:buNone/>
            </a:pPr>
            <a:r>
              <a:rPr lang="en-US" sz="1600" b="1" dirty="0">
                <a:solidFill>
                  <a:srgbClr val="1EB4C8"/>
                </a:solidFill>
                <a:latin typeface="Trebuchet MS" pitchFamily="34" charset="0"/>
                <a:ea typeface="Trebuchet MS" pitchFamily="34" charset="-122"/>
                <a:cs typeface="Trebuchet MS" pitchFamily="34" charset="-120"/>
              </a:rPr>
              <a:t>~€631</a:t>
            </a:r>
            <a:endParaRPr lang="en-US" sz="1600" dirty="0"/>
          </a:p>
          <a:p>
            <a:pPr algn="ctr" indent="0" marL="0">
              <a:buNone/>
            </a:pPr>
            <a:r>
              <a:rPr lang="en-US" sz="1600" b="1" dirty="0">
                <a:solidFill>
                  <a:srgbClr val="1EB4C8"/>
                </a:solidFill>
                <a:latin typeface="Trebuchet MS" pitchFamily="34" charset="0"/>
                <a:ea typeface="Trebuchet MS" pitchFamily="34" charset="-122"/>
                <a:cs typeface="Trebuchet MS" pitchFamily="34" charset="-120"/>
              </a:rPr>
              <a:t>pro Person</a:t>
            </a:r>
            <a:endParaRPr lang="en-US" sz="1600" dirty="0"/>
          </a:p>
        </p:txBody>
      </p:sp>
      <p:sp>
        <p:nvSpPr>
          <p:cNvPr id="22" name="Shape 19"/>
          <p:cNvSpPr/>
          <p:nvPr/>
        </p:nvSpPr>
        <p:spPr>
          <a:xfrm>
            <a:off x="8394192" y="2926080"/>
            <a:ext cx="1691640" cy="1097280"/>
          </a:xfrm>
          <a:prstGeom prst="rect">
            <a:avLst/>
          </a:prstGeom>
          <a:solidFill>
            <a:srgbClr val="0F3460"/>
          </a:solidFill>
          <a:ln w="12700">
            <a:solidFill>
              <a:srgbClr val="1EB4C8"/>
            </a:solidFill>
            <a:prstDash val="solid"/>
          </a:ln>
        </p:spPr>
      </p:sp>
      <p:sp>
        <p:nvSpPr>
          <p:cNvPr id="23" name="Text 20"/>
          <p:cNvSpPr/>
          <p:nvPr/>
        </p:nvSpPr>
        <p:spPr>
          <a:xfrm>
            <a:off x="8394192" y="2971800"/>
            <a:ext cx="1691640" cy="32004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 Nightlife</a:t>
            </a:r>
            <a:endParaRPr lang="en-US" sz="1000" dirty="0"/>
          </a:p>
        </p:txBody>
      </p:sp>
      <p:sp>
        <p:nvSpPr>
          <p:cNvPr id="24" name="Text 21"/>
          <p:cNvSpPr/>
          <p:nvPr/>
        </p:nvSpPr>
        <p:spPr>
          <a:xfrm>
            <a:off x="8394192" y="3273552"/>
            <a:ext cx="1691640" cy="685800"/>
          </a:xfrm>
          <a:prstGeom prst="rect">
            <a:avLst/>
          </a:prstGeom>
          <a:noFill/>
          <a:ln/>
        </p:spPr>
        <p:txBody>
          <a:bodyPr wrap="square" rtlCol="0" anchor="ctr"/>
          <a:lstStyle/>
          <a:p>
            <a:pPr algn="ctr" indent="0" marL="0">
              <a:buNone/>
            </a:pPr>
            <a:r>
              <a:rPr lang="en-US" sz="1600" b="1" dirty="0">
                <a:solidFill>
                  <a:srgbClr val="1EB4C8"/>
                </a:solidFill>
                <a:latin typeface="Trebuchet MS" pitchFamily="34" charset="0"/>
                <a:ea typeface="Trebuchet MS" pitchFamily="34" charset="-122"/>
                <a:cs typeface="Trebuchet MS" pitchFamily="34" charset="-120"/>
              </a:rPr>
              <a:t>⭐⭐⭐⭐</a:t>
            </a:r>
            <a:endParaRPr lang="en-US" sz="1600" dirty="0"/>
          </a:p>
          <a:p>
            <a:pPr algn="ctr" indent="0" marL="0">
              <a:buNone/>
            </a:pPr>
            <a:r>
              <a:rPr lang="en-US" sz="1600" b="1" dirty="0">
                <a:solidFill>
                  <a:srgbClr val="1EB4C8"/>
                </a:solidFill>
                <a:latin typeface="Trebuchet MS" pitchFamily="34" charset="0"/>
                <a:ea typeface="Trebuchet MS" pitchFamily="34" charset="-122"/>
                <a:cs typeface="Trebuchet MS" pitchFamily="34" charset="-120"/>
              </a:rPr>
              <a:t>Paceville Clubs</a:t>
            </a:r>
            <a:endParaRPr lang="en-US" sz="1600" dirty="0"/>
          </a:p>
        </p:txBody>
      </p:sp>
      <p:sp>
        <p:nvSpPr>
          <p:cNvPr id="25" name="Shape 22"/>
          <p:cNvSpPr/>
          <p:nvPr/>
        </p:nvSpPr>
        <p:spPr>
          <a:xfrm>
            <a:off x="10204704" y="2926080"/>
            <a:ext cx="1691640" cy="1097280"/>
          </a:xfrm>
          <a:prstGeom prst="rect">
            <a:avLst/>
          </a:prstGeom>
          <a:solidFill>
            <a:srgbClr val="0F3460"/>
          </a:solidFill>
          <a:ln w="12700">
            <a:solidFill>
              <a:srgbClr val="1EB4C8"/>
            </a:solidFill>
            <a:prstDash val="solid"/>
          </a:ln>
        </p:spPr>
      </p:sp>
      <p:sp>
        <p:nvSpPr>
          <p:cNvPr id="26" name="Text 23"/>
          <p:cNvSpPr/>
          <p:nvPr/>
        </p:nvSpPr>
        <p:spPr>
          <a:xfrm>
            <a:off x="10204704" y="2971800"/>
            <a:ext cx="1691640" cy="32004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 Ab Flughafen</a:t>
            </a:r>
            <a:endParaRPr lang="en-US" sz="1000" dirty="0"/>
          </a:p>
        </p:txBody>
      </p:sp>
      <p:sp>
        <p:nvSpPr>
          <p:cNvPr id="27" name="Text 24"/>
          <p:cNvSpPr/>
          <p:nvPr/>
        </p:nvSpPr>
        <p:spPr>
          <a:xfrm>
            <a:off x="10204704" y="3273552"/>
            <a:ext cx="1691640" cy="685800"/>
          </a:xfrm>
          <a:prstGeom prst="rect">
            <a:avLst/>
          </a:prstGeom>
          <a:noFill/>
          <a:ln/>
        </p:spPr>
        <p:txBody>
          <a:bodyPr wrap="square" rtlCol="0" anchor="ctr"/>
          <a:lstStyle/>
          <a:p>
            <a:pPr algn="ctr" indent="0" marL="0">
              <a:buNone/>
            </a:pPr>
            <a:r>
              <a:rPr lang="en-US" sz="1600" b="1" dirty="0">
                <a:solidFill>
                  <a:srgbClr val="1EB4C8"/>
                </a:solidFill>
                <a:latin typeface="Trebuchet MS" pitchFamily="34" charset="0"/>
                <a:ea typeface="Trebuchet MS" pitchFamily="34" charset="-122"/>
                <a:cs typeface="Trebuchet MS" pitchFamily="34" charset="-120"/>
              </a:rPr>
              <a:t>FMO / DTM</a:t>
            </a:r>
            <a:endParaRPr lang="en-US" sz="1600" dirty="0"/>
          </a:p>
          <a:p>
            <a:pPr algn="ctr" indent="0" marL="0">
              <a:buNone/>
            </a:pPr>
            <a:r>
              <a:rPr lang="en-US" sz="1600" b="1" dirty="0">
                <a:solidFill>
                  <a:srgbClr val="1EB4C8"/>
                </a:solidFill>
                <a:latin typeface="Trebuchet MS" pitchFamily="34" charset="0"/>
                <a:ea typeface="Trebuchet MS" pitchFamily="34" charset="-122"/>
                <a:cs typeface="Trebuchet MS" pitchFamily="34" charset="-120"/>
              </a:rPr>
              <a:t>(Ryanair direkt)</a:t>
            </a:r>
            <a:endParaRPr lang="en-US" sz="1600" dirty="0"/>
          </a:p>
        </p:txBody>
      </p:sp>
      <p:sp>
        <p:nvSpPr>
          <p:cNvPr id="28" name="Shape 25"/>
          <p:cNvSpPr/>
          <p:nvPr/>
        </p:nvSpPr>
        <p:spPr>
          <a:xfrm>
            <a:off x="6583680" y="4251960"/>
            <a:ext cx="5394960" cy="1417320"/>
          </a:xfrm>
          <a:prstGeom prst="rect">
            <a:avLst/>
          </a:prstGeom>
          <a:solidFill>
            <a:srgbClr val="16213E"/>
          </a:solidFill>
          <a:ln w="12700">
            <a:solidFill>
              <a:srgbClr val="0F3460"/>
            </a:solidFill>
            <a:prstDash val="solid"/>
          </a:ln>
        </p:spPr>
      </p:sp>
      <p:sp>
        <p:nvSpPr>
          <p:cNvPr id="29" name="Text 26"/>
          <p:cNvSpPr/>
          <p:nvPr/>
        </p:nvSpPr>
        <p:spPr>
          <a:xfrm>
            <a:off x="6720840" y="4343400"/>
            <a:ext cx="5120640" cy="1234440"/>
          </a:xfrm>
          <a:prstGeom prst="rect">
            <a:avLst/>
          </a:prstGeom>
          <a:noFill/>
          <a:ln/>
        </p:spPr>
        <p:txBody>
          <a:bodyPr wrap="square" rtlCol="0" anchor="t"/>
          <a:lstStyle/>
          <a:p>
            <a:pPr indent="0" marL="0">
              <a:buNone/>
            </a:pPr>
            <a:r>
              <a:rPr lang="en-US" sz="1050" dirty="0">
                <a:solidFill>
                  <a:srgbClr val="E8E8E8"/>
                </a:solidFill>
                <a:latin typeface="Calibri" pitchFamily="34" charset="0"/>
                <a:ea typeface="Calibri" pitchFamily="34" charset="-122"/>
                <a:cs typeface="Calibri" pitchFamily="34" charset="-120"/>
              </a:rPr>
              <a:t>Malta ist mit 22–24°C das WÄRMSTE europäische Ziel dieser Auswahl — und Ende Oktober noch Badesaison! Die Insel bietet UNESCO-Welterbe Valletta, das mittelalterliche Mdina und das Nachtleben von Paceville (St. Julian's). Halloween in den Clubs von Paceville ist eine eigene Kategorie. Und das Cisk Lager gehört zu den günstigsten Bieren Europas.</a:t>
            </a:r>
            <a:endParaRPr lang="en-US" sz="1050" dirty="0"/>
          </a:p>
        </p:txBody>
      </p:sp>
      <p:sp>
        <p:nvSpPr>
          <p:cNvPr id="30" name="Shape 27"/>
          <p:cNvSpPr/>
          <p:nvPr/>
        </p:nvSpPr>
        <p:spPr>
          <a:xfrm>
            <a:off x="0" y="6784848"/>
            <a:ext cx="12192000" cy="73152"/>
          </a:xfrm>
          <a:prstGeom prst="rect">
            <a:avLst/>
          </a:prstGeom>
          <a:solidFill>
            <a:srgbClr val="FF8C00"/>
          </a:solidFill>
          <a:ln w="12700">
            <a:solidFill>
              <a:srgbClr val="FF8C00"/>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1EB4C8"/>
          </a:solidFill>
          <a:ln w="12700">
            <a:solidFill>
              <a:srgbClr val="1EB4C8"/>
            </a:solidFill>
            <a:prstDash val="solid"/>
          </a:ln>
        </p:spPr>
      </p:sp>
      <p:sp>
        <p:nvSpPr>
          <p:cNvPr id="3" name="Shape 1"/>
          <p:cNvSpPr/>
          <p:nvPr/>
        </p:nvSpPr>
        <p:spPr>
          <a:xfrm>
            <a:off x="0" y="73152"/>
            <a:ext cx="12192000" cy="658368"/>
          </a:xfrm>
          <a:prstGeom prst="rect">
            <a:avLst/>
          </a:prstGeom>
          <a:solidFill>
            <a:srgbClr val="16213E"/>
          </a:solidFill>
          <a:ln w="12700">
            <a:solidFill>
              <a:srgbClr val="16213E"/>
            </a:solidFill>
            <a:prstDash val="solid"/>
          </a:ln>
        </p:spPr>
      </p:sp>
      <p:sp>
        <p:nvSpPr>
          <p:cNvPr id="4" name="Text 2"/>
          <p:cNvSpPr/>
          <p:nvPr/>
        </p:nvSpPr>
        <p:spPr>
          <a:xfrm>
            <a:off x="365760" y="73152"/>
            <a:ext cx="11430000" cy="658368"/>
          </a:xfrm>
          <a:prstGeom prst="rect">
            <a:avLst/>
          </a:prstGeom>
          <a:noFill/>
          <a:ln/>
        </p:spPr>
        <p:txBody>
          <a:bodyPr wrap="square"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  MALTA — FLÜGE</a:t>
            </a:r>
            <a:endParaRPr lang="en-US" sz="2200" dirty="0"/>
          </a:p>
        </p:txBody>
      </p:sp>
      <p:sp>
        <p:nvSpPr>
          <p:cNvPr id="5" name="Shape 3"/>
          <p:cNvSpPr/>
          <p:nvPr/>
        </p:nvSpPr>
        <p:spPr>
          <a:xfrm>
            <a:off x="0" y="731520"/>
            <a:ext cx="12192000" cy="27432"/>
          </a:xfrm>
          <a:prstGeom prst="rect">
            <a:avLst/>
          </a:prstGeom>
          <a:solidFill>
            <a:srgbClr val="1EB4C8"/>
          </a:solidFill>
          <a:ln w="12700">
            <a:solidFill>
              <a:srgbClr val="1EB4C8"/>
            </a:solidFill>
            <a:prstDash val="solid"/>
          </a:ln>
        </p:spPr>
      </p:sp>
      <p:sp>
        <p:nvSpPr>
          <p:cNvPr id="6" name="Text 4"/>
          <p:cNvSpPr/>
          <p:nvPr/>
        </p:nvSpPr>
        <p:spPr>
          <a:xfrm>
            <a:off x="365760" y="914400"/>
            <a:ext cx="11430000" cy="320040"/>
          </a:xfrm>
          <a:prstGeom prst="rect">
            <a:avLst/>
          </a:prstGeom>
          <a:noFill/>
          <a:ln/>
        </p:spPr>
        <p:txBody>
          <a:bodyPr wrap="square" rtlCol="0" anchor="ctr"/>
          <a:lstStyle/>
          <a:p>
            <a:pPr indent="0" marL="0">
              <a:buNone/>
            </a:pPr>
            <a:r>
              <a:rPr lang="en-US" sz="1300" b="1" dirty="0">
                <a:solidFill>
                  <a:srgbClr val="1EB4C8"/>
                </a:solidFill>
                <a:latin typeface="Trebuchet MS" pitchFamily="34" charset="0"/>
                <a:ea typeface="Trebuchet MS" pitchFamily="34" charset="-122"/>
                <a:cs typeface="Trebuchet MS" pitchFamily="34" charset="-120"/>
              </a:rPr>
              <a:t>HINFLUG: Deutschland → MLA (Malta)</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261872"/>
          <a:ext cx="11430000" cy="914400"/>
        </p:xfrm>
        <a:graphic>
          <a:graphicData uri="http://schemas.openxmlformats.org/drawingml/2006/table">
            <a:tbl>
              <a:tblPr/>
              <a:tblGrid>
                <a:gridCol w="1280160"/>
                <a:gridCol w="1508760"/>
                <a:gridCol w="1828800"/>
                <a:gridCol w="1097280"/>
                <a:gridCol w="1097280"/>
                <a:gridCol w="1097280"/>
                <a:gridCol w="1463040"/>
                <a:gridCol w="1371600"/>
              </a:tblGrid>
              <a:tr h="347472">
                <a:tc>
                  <a:txBody>
                    <a:bodyPr/>
                    <a:lstStyle/>
                    <a:p>
                      <a:pPr algn="ctr" indent="0" marL="0">
                        <a:buNone/>
                      </a:pPr>
                      <a:r>
                        <a:rPr lang="en-US" sz="1100" b="1" dirty="0">
                          <a:solidFill>
                            <a:srgbClr val="1EB4C8"/>
                          </a:solidFill>
                          <a:latin typeface="Trebuchet MS" pitchFamily="34" charset="0"/>
                          <a:ea typeface="Trebuchet MS" pitchFamily="34" charset="-122"/>
                          <a:cs typeface="Trebuchet MS" pitchFamily="34" charset="-120"/>
                        </a:rPr>
                        <a:t>Option</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1EB4C8"/>
                          </a:solidFill>
                          <a:latin typeface="Trebuchet MS" pitchFamily="34" charset="0"/>
                          <a:ea typeface="Trebuchet MS" pitchFamily="34" charset="-122"/>
                          <a:cs typeface="Trebuchet MS" pitchFamily="34" charset="-120"/>
                        </a:rPr>
                        <a:t>Flug</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1EB4C8"/>
                          </a:solidFill>
                          <a:latin typeface="Trebuchet MS" pitchFamily="34" charset="0"/>
                          <a:ea typeface="Trebuchet MS" pitchFamily="34" charset="-122"/>
                          <a:cs typeface="Trebuchet MS" pitchFamily="34" charset="-120"/>
                        </a:rPr>
                        <a:t>Strecke &amp; Datum</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1EB4C8"/>
                          </a:solidFill>
                          <a:latin typeface="Trebuchet MS" pitchFamily="34" charset="0"/>
                          <a:ea typeface="Trebuchet MS" pitchFamily="34" charset="-122"/>
                          <a:cs typeface="Trebuchet MS" pitchFamily="34" charset="-120"/>
                        </a:rPr>
                        <a:t>Abflug</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1EB4C8"/>
                          </a:solidFill>
                          <a:latin typeface="Trebuchet MS" pitchFamily="34" charset="0"/>
                          <a:ea typeface="Trebuchet MS" pitchFamily="34" charset="-122"/>
                          <a:cs typeface="Trebuchet MS" pitchFamily="34" charset="-120"/>
                        </a:rPr>
                        <a:t>Ankunft</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1EB4C8"/>
                          </a:solidFill>
                          <a:latin typeface="Trebuchet MS" pitchFamily="34" charset="0"/>
                          <a:ea typeface="Trebuchet MS" pitchFamily="34" charset="-122"/>
                          <a:cs typeface="Trebuchet MS" pitchFamily="34" charset="-120"/>
                        </a:rPr>
                        <a:t>Dauer</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1EB4C8"/>
                          </a:solidFill>
                          <a:latin typeface="Trebuchet MS" pitchFamily="34" charset="0"/>
                          <a:ea typeface="Trebuchet MS" pitchFamily="34" charset="-122"/>
                          <a:cs typeface="Trebuchet MS" pitchFamily="34" charset="-120"/>
                        </a:rPr>
                        <a:t>Preis p.P.</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1EB4C8"/>
                          </a:solidFill>
                          <a:latin typeface="Trebuchet MS" pitchFamily="34" charset="0"/>
                          <a:ea typeface="Trebuchet MS" pitchFamily="34" charset="-122"/>
                          <a:cs typeface="Trebuchet MS" pitchFamily="34" charset="-120"/>
                        </a:rPr>
                        <a:t>Gesamt (×4)</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r>
              <a:tr h="475488">
                <a:tc>
                  <a:txBody>
                    <a:bodyPr/>
                    <a:lstStyle/>
                    <a:p>
                      <a:pPr algn="ctr" indent="0" marL="0">
                        <a:buNone/>
                      </a:pPr>
                      <a:r>
                        <a:rPr lang="en-US" sz="1000" b="1" dirty="0">
                          <a:solidFill>
                            <a:srgbClr val="22C55E"/>
                          </a:solidFill>
                          <a:latin typeface="Calibri" pitchFamily="34" charset="0"/>
                          <a:ea typeface="Calibri" pitchFamily="34" charset="-122"/>
                          <a:cs typeface="Calibri" pitchFamily="34" charset="-120"/>
                        </a:rPr>
                        <a:t>⭐ Empfohlen</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FR</a:t>
                      </a:r>
                      <a:endParaRPr lang="en-US" sz="1000" dirty="0">
                        <a:latin typeface="Calibri" charset="0"/>
                        <a:ea typeface="Calibri" charset="0"/>
                        <a:cs typeface="Calibri" charset="0"/>
                      </a:endParaRPr>
                    </a:p>
                    <a:p>
                      <a:pPr algn="ctr" indent="0" marL="0">
                        <a:buNone/>
                      </a:pPr>
                      <a:r>
                        <a:rPr lang="en-US" sz="1000" dirty="0">
                          <a:solidFill>
                            <a:srgbClr val="E8E8E8"/>
                          </a:solidFill>
                          <a:latin typeface="Calibri" pitchFamily="34" charset="0"/>
                          <a:ea typeface="Calibri" pitchFamily="34" charset="-122"/>
                          <a:cs typeface="Calibri" pitchFamily="34" charset="-120"/>
                        </a:rPr>
                        <a:t>Ryanair</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FMO → MLA</a:t>
                      </a:r>
                      <a:endParaRPr lang="en-US" sz="1000" dirty="0">
                        <a:latin typeface="Calibri" charset="0"/>
                        <a:ea typeface="Calibri" charset="0"/>
                        <a:cs typeface="Calibri" charset="0"/>
                      </a:endParaRPr>
                    </a:p>
                    <a:p>
                      <a:pPr algn="ctr" indent="0" marL="0">
                        <a:buNone/>
                      </a:pPr>
                      <a:r>
                        <a:rPr lang="en-US" sz="1000" dirty="0">
                          <a:solidFill>
                            <a:srgbClr val="E8E8E8"/>
                          </a:solidFill>
                          <a:latin typeface="Calibri" pitchFamily="34" charset="0"/>
                          <a:ea typeface="Calibri" pitchFamily="34" charset="-122"/>
                          <a:cs typeface="Calibri" pitchFamily="34" charset="-120"/>
                        </a:rPr>
                        <a:t>30. Okt.</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Morgens</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~10:30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~3h 00m</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~€60–90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b="1" dirty="0">
                          <a:solidFill>
                            <a:srgbClr val="FF8C00"/>
                          </a:solidFill>
                          <a:latin typeface="Calibri" pitchFamily="34" charset="0"/>
                          <a:ea typeface="Calibri" pitchFamily="34" charset="-122"/>
                          <a:cs typeface="Calibri" pitchFamily="34" charset="-120"/>
                        </a:rPr>
                        <a:t>~€240–360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r>
              <a:tr h="475488">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Option 2</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FR</a:t>
                      </a:r>
                      <a:endParaRPr lang="en-US" sz="1000" dirty="0">
                        <a:latin typeface="Calibri" charset="0"/>
                        <a:ea typeface="Calibri" charset="0"/>
                        <a:cs typeface="Calibri" charset="0"/>
                      </a:endParaRPr>
                    </a:p>
                    <a:p>
                      <a:pPr algn="ctr" indent="0" marL="0">
                        <a:buNone/>
                      </a:pPr>
                      <a:r>
                        <a:rPr lang="en-US" sz="1000" dirty="0">
                          <a:solidFill>
                            <a:srgbClr val="E8E8E8"/>
                          </a:solidFill>
                          <a:latin typeface="Calibri" pitchFamily="34" charset="0"/>
                          <a:ea typeface="Calibri" pitchFamily="34" charset="-122"/>
                          <a:cs typeface="Calibri" pitchFamily="34" charset="-120"/>
                        </a:rPr>
                        <a:t>Ryanair</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DTM → MLA</a:t>
                      </a:r>
                      <a:endParaRPr lang="en-US" sz="1000" dirty="0">
                        <a:latin typeface="Calibri" charset="0"/>
                        <a:ea typeface="Calibri" charset="0"/>
                        <a:cs typeface="Calibri" charset="0"/>
                      </a:endParaRPr>
                    </a:p>
                    <a:p>
                      <a:pPr algn="ctr" indent="0" marL="0">
                        <a:buNone/>
                      </a:pPr>
                      <a:r>
                        <a:rPr lang="en-US" sz="1000" dirty="0">
                          <a:solidFill>
                            <a:srgbClr val="E8E8E8"/>
                          </a:solidFill>
                          <a:latin typeface="Calibri" pitchFamily="34" charset="0"/>
                          <a:ea typeface="Calibri" pitchFamily="34" charset="-122"/>
                          <a:cs typeface="Calibri" pitchFamily="34" charset="-120"/>
                        </a:rPr>
                        <a:t>30. Okt.</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Morgens</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~10:45</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~3h 00m</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~€65–95</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FFC107"/>
                          </a:solidFill>
                          <a:latin typeface="Calibri" pitchFamily="34" charset="0"/>
                          <a:ea typeface="Calibri" pitchFamily="34" charset="-122"/>
                          <a:cs typeface="Calibri" pitchFamily="34" charset="-120"/>
                        </a:rPr>
                        <a:t>~€260–380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r>
              <a:tr h="475488">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Vorabend</a:t>
                      </a:r>
                      <a:endParaRPr lang="en-US" sz="1000" dirty="0">
                        <a:latin typeface="Calibri" charset="0"/>
                        <a:ea typeface="Calibri" charset="0"/>
                        <a:cs typeface="Calibri" charset="0"/>
                      </a:endParaRPr>
                    </a:p>
                    <a:p>
                      <a:pPr algn="ctr" indent="0" marL="0">
                        <a:buNone/>
                      </a:pPr>
                      <a:r>
                        <a:rPr lang="en-US" sz="1000" dirty="0">
                          <a:solidFill>
                            <a:srgbClr val="E8E8E8"/>
                          </a:solidFill>
                          <a:latin typeface="Calibri" pitchFamily="34" charset="0"/>
                          <a:ea typeface="Calibri" pitchFamily="34" charset="-122"/>
                          <a:cs typeface="Calibri" pitchFamily="34" charset="-120"/>
                        </a:rPr>
                        <a:t>29. Okt.</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FR</a:t>
                      </a:r>
                      <a:endParaRPr lang="en-US" sz="1000" dirty="0">
                        <a:latin typeface="Calibri" charset="0"/>
                        <a:ea typeface="Calibri" charset="0"/>
                        <a:cs typeface="Calibri" charset="0"/>
                      </a:endParaRPr>
                    </a:p>
                    <a:p>
                      <a:pPr algn="ctr" indent="0" marL="0">
                        <a:buNone/>
                      </a:pPr>
                      <a:r>
                        <a:rPr lang="en-US" sz="1000" dirty="0">
                          <a:solidFill>
                            <a:srgbClr val="E8E8E8"/>
                          </a:solidFill>
                          <a:latin typeface="Calibri" pitchFamily="34" charset="0"/>
                          <a:ea typeface="Calibri" pitchFamily="34" charset="-122"/>
                          <a:cs typeface="Calibri" pitchFamily="34" charset="-120"/>
                        </a:rPr>
                        <a:t>Ryanair</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FMO → MLA</a:t>
                      </a:r>
                      <a:endParaRPr lang="en-US" sz="1000" dirty="0">
                        <a:latin typeface="Calibri" charset="0"/>
                        <a:ea typeface="Calibri" charset="0"/>
                        <a:cs typeface="Calibri" charset="0"/>
                      </a:endParaRPr>
                    </a:p>
                    <a:p>
                      <a:pPr algn="ctr" indent="0" marL="0">
                        <a:buNone/>
                      </a:pPr>
                      <a:r>
                        <a:rPr lang="en-US" sz="1000" dirty="0">
                          <a:solidFill>
                            <a:srgbClr val="E8E8E8"/>
                          </a:solidFill>
                          <a:latin typeface="Calibri" pitchFamily="34" charset="0"/>
                          <a:ea typeface="Calibri" pitchFamily="34" charset="-122"/>
                          <a:cs typeface="Calibri" pitchFamily="34" charset="-120"/>
                        </a:rPr>
                        <a:t>29. Okt.</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Abends</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Abends</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~3h 00m</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~€70–100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FFC107"/>
                          </a:solidFill>
                          <a:latin typeface="Calibri" pitchFamily="34" charset="0"/>
                          <a:ea typeface="Calibri" pitchFamily="34" charset="-122"/>
                          <a:cs typeface="Calibri" pitchFamily="34" charset="-120"/>
                        </a:rPr>
                        <a:t>~€280–400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r>
              <a:tr h="475488">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DUS-Passagiere</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Umstieg</a:t>
                      </a:r>
                      <a:endParaRPr lang="en-US" sz="1000" dirty="0">
                        <a:latin typeface="Calibri" charset="0"/>
                        <a:ea typeface="Calibri" charset="0"/>
                        <a:cs typeface="Calibri" charset="0"/>
                      </a:endParaRPr>
                    </a:p>
                    <a:p>
                      <a:pPr algn="ctr" indent="0" marL="0">
                        <a:buNone/>
                      </a:pPr>
                      <a:r>
                        <a:rPr lang="en-US" sz="1000" dirty="0">
                          <a:solidFill>
                            <a:srgbClr val="E8E8E8"/>
                          </a:solidFill>
                          <a:latin typeface="Calibri" pitchFamily="34" charset="0"/>
                          <a:ea typeface="Calibri" pitchFamily="34" charset="-122"/>
                          <a:cs typeface="Calibri" pitchFamily="34" charset="-120"/>
                        </a:rPr>
                        <a:t>(z.B. LH/EW)</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DUS → FRA/MUC</a:t>
                      </a:r>
                      <a:endParaRPr lang="en-US" sz="1000" dirty="0">
                        <a:latin typeface="Calibri" charset="0"/>
                        <a:ea typeface="Calibri" charset="0"/>
                        <a:cs typeface="Calibri" charset="0"/>
                      </a:endParaRPr>
                    </a:p>
                    <a:p>
                      <a:pPr algn="ctr" indent="0" marL="0">
                        <a:buNone/>
                      </a:pPr>
                      <a:r>
                        <a:rPr lang="en-US" sz="1000" dirty="0">
                          <a:solidFill>
                            <a:srgbClr val="E8E8E8"/>
                          </a:solidFill>
                          <a:latin typeface="Calibri" pitchFamily="34" charset="0"/>
                          <a:ea typeface="Calibri" pitchFamily="34" charset="-122"/>
                          <a:cs typeface="Calibri" pitchFamily="34" charset="-120"/>
                        </a:rPr>
                        <a:t>→ MLA</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5–7h</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~€120–180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ctr" indent="0" marL="0">
                        <a:buNone/>
                      </a:pPr>
                      <a:r>
                        <a:rPr lang="en-US" sz="1000" dirty="0">
                          <a:solidFill>
                            <a:srgbClr val="FFC107"/>
                          </a:solidFill>
                          <a:latin typeface="Calibri" pitchFamily="34" charset="0"/>
                          <a:ea typeface="Calibri" pitchFamily="34" charset="-122"/>
                          <a:cs typeface="Calibri" pitchFamily="34" charset="-120"/>
                        </a:rPr>
                        <a:t>~€480–720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r>
            </a:tbl>
          </a:graphicData>
        </a:graphic>
      </p:graphicFrame>
      <p:sp>
        <p:nvSpPr>
          <p:cNvPr id="8" name="Text 5"/>
          <p:cNvSpPr/>
          <p:nvPr/>
        </p:nvSpPr>
        <p:spPr>
          <a:xfrm>
            <a:off x="365760" y="3712464"/>
            <a:ext cx="11430000" cy="320040"/>
          </a:xfrm>
          <a:prstGeom prst="rect">
            <a:avLst/>
          </a:prstGeom>
          <a:noFill/>
          <a:ln/>
        </p:spPr>
        <p:txBody>
          <a:bodyPr wrap="square" rtlCol="0" anchor="ctr"/>
          <a:lstStyle/>
          <a:p>
            <a:pPr indent="0" marL="0">
              <a:buNone/>
            </a:pPr>
            <a:r>
              <a:rPr lang="en-US" sz="1300" b="1" dirty="0">
                <a:solidFill>
                  <a:srgbClr val="1EB4C8"/>
                </a:solidFill>
                <a:latin typeface="Trebuchet MS" pitchFamily="34" charset="0"/>
                <a:ea typeface="Trebuchet MS" pitchFamily="34" charset="-122"/>
                <a:cs typeface="Trebuchet MS" pitchFamily="34" charset="-120"/>
              </a:rPr>
              <a:t>RÜCKFLUG: MLA (Malta) → Deutschland (2. Nov.)</a:t>
            </a:r>
            <a:endParaRPr lang="en-US" sz="13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365760" y="4050792"/>
          <a:ext cx="11430000" cy="914400"/>
        </p:xfrm>
        <a:graphic>
          <a:graphicData uri="http://schemas.openxmlformats.org/drawingml/2006/table">
            <a:tbl>
              <a:tblPr/>
              <a:tblGrid>
                <a:gridCol w="2286000"/>
                <a:gridCol w="1828800"/>
                <a:gridCol w="1188720"/>
                <a:gridCol w="1188720"/>
                <a:gridCol w="1188720"/>
                <a:gridCol w="1645920"/>
                <a:gridCol w="1463040"/>
              </a:tblGrid>
              <a:tr h="347472">
                <a:tc>
                  <a:txBody>
                    <a:bodyPr/>
                    <a:lstStyle/>
                    <a:p>
                      <a:pPr algn="ctr" indent="0" marL="0">
                        <a:buNone/>
                      </a:pPr>
                      <a:r>
                        <a:rPr lang="en-US" sz="1100" b="1" dirty="0">
                          <a:solidFill>
                            <a:srgbClr val="1EB4C8"/>
                          </a:solidFill>
                          <a:latin typeface="Trebuchet MS" pitchFamily="34" charset="0"/>
                          <a:ea typeface="Trebuchet MS" pitchFamily="34" charset="-122"/>
                          <a:cs typeface="Trebuchet MS" pitchFamily="34" charset="-120"/>
                        </a:rPr>
                        <a:t>Flug</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1EB4C8"/>
                          </a:solidFill>
                          <a:latin typeface="Trebuchet MS" pitchFamily="34" charset="0"/>
                          <a:ea typeface="Trebuchet MS" pitchFamily="34" charset="-122"/>
                          <a:cs typeface="Trebuchet MS" pitchFamily="34" charset="-120"/>
                        </a:rPr>
                        <a:t>Strecke &amp; Datum</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1EB4C8"/>
                          </a:solidFill>
                          <a:latin typeface="Trebuchet MS" pitchFamily="34" charset="0"/>
                          <a:ea typeface="Trebuchet MS" pitchFamily="34" charset="-122"/>
                          <a:cs typeface="Trebuchet MS" pitchFamily="34" charset="-120"/>
                        </a:rPr>
                        <a:t>Abflug</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1EB4C8"/>
                          </a:solidFill>
                          <a:latin typeface="Trebuchet MS" pitchFamily="34" charset="0"/>
                          <a:ea typeface="Trebuchet MS" pitchFamily="34" charset="-122"/>
                          <a:cs typeface="Trebuchet MS" pitchFamily="34" charset="-120"/>
                        </a:rPr>
                        <a:t>Ankunft</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1EB4C8"/>
                          </a:solidFill>
                          <a:latin typeface="Trebuchet MS" pitchFamily="34" charset="0"/>
                          <a:ea typeface="Trebuchet MS" pitchFamily="34" charset="-122"/>
                          <a:cs typeface="Trebuchet MS" pitchFamily="34" charset="-120"/>
                        </a:rPr>
                        <a:t>Dauer</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1EB4C8"/>
                          </a:solidFill>
                          <a:latin typeface="Trebuchet MS" pitchFamily="34" charset="0"/>
                          <a:ea typeface="Trebuchet MS" pitchFamily="34" charset="-122"/>
                          <a:cs typeface="Trebuchet MS" pitchFamily="34" charset="-120"/>
                        </a:rPr>
                        <a:t>Preis p.P.</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100" b="1" dirty="0">
                          <a:solidFill>
                            <a:srgbClr val="1EB4C8"/>
                          </a:solidFill>
                          <a:latin typeface="Trebuchet MS" pitchFamily="34" charset="0"/>
                          <a:ea typeface="Trebuchet MS" pitchFamily="34" charset="-122"/>
                          <a:cs typeface="Trebuchet MS" pitchFamily="34" charset="-120"/>
                        </a:rPr>
                        <a:t>Gesamt (×4)</a:t>
                      </a:r>
                      <a:endParaRPr lang="en-US" sz="1100" dirty="0">
                        <a:latin typeface="Trebuchet MS" charset="0"/>
                        <a:ea typeface="Trebuchet MS" charset="0"/>
                        <a:cs typeface="Trebuchet MS"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r>
              <a:tr h="475488">
                <a:tc>
                  <a:txBody>
                    <a:bodyPr/>
                    <a:lstStyle/>
                    <a:p>
                      <a:pPr algn="ctr" indent="0" marL="0">
                        <a:buNone/>
                      </a:pPr>
                      <a:r>
                        <a:rPr lang="en-US" sz="1000" dirty="0">
                          <a:solidFill>
                            <a:srgbClr val="22C55E"/>
                          </a:solidFill>
                          <a:latin typeface="Calibri" pitchFamily="34" charset="0"/>
                          <a:ea typeface="Calibri" pitchFamily="34" charset="-122"/>
                          <a:cs typeface="Calibri" pitchFamily="34" charset="-120"/>
                        </a:rPr>
                        <a:t>FR Ryanair  (MLA→FMO/DTM)</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MLA → FMO oder DTM  /  2. Nov.</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Verschieden</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Verschieden</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~3h 00m</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dirty="0">
                          <a:solidFill>
                            <a:srgbClr val="E8E8E8"/>
                          </a:solidFill>
                          <a:latin typeface="Calibri" pitchFamily="34" charset="0"/>
                          <a:ea typeface="Calibri" pitchFamily="34" charset="-122"/>
                          <a:cs typeface="Calibri" pitchFamily="34" charset="-120"/>
                        </a:rPr>
                        <a:t>~€50–90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ctr" indent="0" marL="0">
                        <a:buNone/>
                      </a:pPr>
                      <a:r>
                        <a:rPr lang="en-US" sz="1000" b="1" dirty="0">
                          <a:solidFill>
                            <a:srgbClr val="FFC107"/>
                          </a:solidFill>
                          <a:latin typeface="Calibri" pitchFamily="34" charset="0"/>
                          <a:ea typeface="Calibri" pitchFamily="34" charset="-122"/>
                          <a:cs typeface="Calibri" pitchFamily="34" charset="-120"/>
                        </a:rPr>
                        <a:t>~€200–360</a:t>
                      </a:r>
                      <a:endParaRPr lang="en-US" sz="1000" dirty="0">
                        <a:latin typeface="Calibri" charset="0"/>
                        <a:ea typeface="Calibri" charset="0"/>
                        <a:cs typeface="Calibri" charset="0"/>
                      </a:endParaRPr>
                    </a:p>
                  </a:txBody>
                  <a:tcPr marL="91440" marR="91440" marT="45720" marB="45720">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r>
            </a:tbl>
          </a:graphicData>
        </a:graphic>
      </p:graphicFrame>
      <p:sp>
        <p:nvSpPr>
          <p:cNvPr id="10" name="Shape 6"/>
          <p:cNvSpPr/>
          <p:nvPr/>
        </p:nvSpPr>
        <p:spPr>
          <a:xfrm>
            <a:off x="365760" y="5010912"/>
            <a:ext cx="11430000" cy="658368"/>
          </a:xfrm>
          <a:prstGeom prst="rect">
            <a:avLst/>
          </a:prstGeom>
          <a:solidFill>
            <a:srgbClr val="16213E"/>
          </a:solidFill>
          <a:ln w="12700">
            <a:solidFill>
              <a:srgbClr val="0F3460"/>
            </a:solidFill>
            <a:prstDash val="solid"/>
          </a:ln>
        </p:spPr>
      </p:sp>
      <p:sp>
        <p:nvSpPr>
          <p:cNvPr id="11" name="Text 7"/>
          <p:cNvSpPr/>
          <p:nvPr/>
        </p:nvSpPr>
        <p:spPr>
          <a:xfrm>
            <a:off x="502920" y="5056632"/>
            <a:ext cx="11155680" cy="566928"/>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  KEIN Direktflug ab DUS (Düsseldorf) nach Malta!  Direktflüge ab FMO (Münster/Osnabrück) und DTM (Dortmund) mit Ryanair.  FMO liegt ~100 km von DUS entfernt (1,5h Fahrt), DTM ~70 km (1h Fahrt).  Empfehlung: Fahrgemeinschaft nach FMO oder DTM zum Abflug.  Buchen: ryanair.com · skyscanner.de</a:t>
            </a:r>
            <a:endParaRPr lang="en-US" sz="1000" dirty="0"/>
          </a:p>
        </p:txBody>
      </p:sp>
      <p:sp>
        <p:nvSpPr>
          <p:cNvPr id="12" name="Shape 8"/>
          <p:cNvSpPr/>
          <p:nvPr/>
        </p:nvSpPr>
        <p:spPr>
          <a:xfrm>
            <a:off x="8046720" y="5788152"/>
            <a:ext cx="3749040" cy="777240"/>
          </a:xfrm>
          <a:prstGeom prst="rect">
            <a:avLst/>
          </a:prstGeom>
          <a:solidFill>
            <a:srgbClr val="0F3460"/>
          </a:solidFill>
          <a:ln w="12700">
            <a:solidFill>
              <a:srgbClr val="1EB4C8"/>
            </a:solidFill>
            <a:prstDash val="solid"/>
          </a:ln>
        </p:spPr>
      </p:sp>
      <p:sp>
        <p:nvSpPr>
          <p:cNvPr id="13" name="Text 9"/>
          <p:cNvSpPr/>
          <p:nvPr/>
        </p:nvSpPr>
        <p:spPr>
          <a:xfrm>
            <a:off x="8046720" y="5806440"/>
            <a:ext cx="3749040" cy="27432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Hin &amp; Zurück · 4 Personen</a:t>
            </a:r>
            <a:endParaRPr lang="en-US" sz="1000" dirty="0"/>
          </a:p>
        </p:txBody>
      </p:sp>
      <p:sp>
        <p:nvSpPr>
          <p:cNvPr id="14" name="Text 10"/>
          <p:cNvSpPr/>
          <p:nvPr/>
        </p:nvSpPr>
        <p:spPr>
          <a:xfrm>
            <a:off x="8046720" y="6080760"/>
            <a:ext cx="3749040" cy="438912"/>
          </a:xfrm>
          <a:prstGeom prst="rect">
            <a:avLst/>
          </a:prstGeom>
          <a:noFill/>
          <a:ln/>
        </p:spPr>
        <p:txBody>
          <a:bodyPr wrap="square" rtlCol="0" anchor="ctr"/>
          <a:lstStyle/>
          <a:p>
            <a:pPr algn="ctr" indent="0" marL="0">
              <a:buNone/>
            </a:pPr>
            <a:r>
              <a:rPr lang="en-US" sz="2000" b="1" dirty="0">
                <a:solidFill>
                  <a:srgbClr val="1EB4C8"/>
                </a:solidFill>
                <a:latin typeface="Trebuchet MS" pitchFamily="34" charset="0"/>
                <a:ea typeface="Trebuchet MS" pitchFamily="34" charset="-122"/>
                <a:cs typeface="Trebuchet MS" pitchFamily="34" charset="-120"/>
              </a:rPr>
              <a:t>€400 – €560 gesamt</a:t>
            </a:r>
            <a:endParaRPr lang="en-US" sz="2000" dirty="0"/>
          </a:p>
        </p:txBody>
      </p:sp>
      <p:sp>
        <p:nvSpPr>
          <p:cNvPr id="15" name="Shape 11"/>
          <p:cNvSpPr/>
          <p:nvPr/>
        </p:nvSpPr>
        <p:spPr>
          <a:xfrm>
            <a:off x="0" y="6784848"/>
            <a:ext cx="12192000" cy="73152"/>
          </a:xfrm>
          <a:prstGeom prst="rect">
            <a:avLst/>
          </a:prstGeom>
          <a:solidFill>
            <a:srgbClr val="FF8C00"/>
          </a:solidFill>
          <a:ln w="12700">
            <a:solidFill>
              <a:srgbClr val="FF8C00"/>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1EB4C8"/>
          </a:solidFill>
          <a:ln w="12700">
            <a:solidFill>
              <a:srgbClr val="1EB4C8"/>
            </a:solidFill>
            <a:prstDash val="solid"/>
          </a:ln>
        </p:spPr>
      </p:sp>
      <p:sp>
        <p:nvSpPr>
          <p:cNvPr id="3" name="Shape 1"/>
          <p:cNvSpPr/>
          <p:nvPr/>
        </p:nvSpPr>
        <p:spPr>
          <a:xfrm>
            <a:off x="0" y="73152"/>
            <a:ext cx="12192000" cy="658368"/>
          </a:xfrm>
          <a:prstGeom prst="rect">
            <a:avLst/>
          </a:prstGeom>
          <a:solidFill>
            <a:srgbClr val="16213E"/>
          </a:solidFill>
          <a:ln w="12700">
            <a:solidFill>
              <a:srgbClr val="16213E"/>
            </a:solidFill>
            <a:prstDash val="solid"/>
          </a:ln>
        </p:spPr>
      </p:sp>
      <p:sp>
        <p:nvSpPr>
          <p:cNvPr id="4" name="Text 2"/>
          <p:cNvSpPr/>
          <p:nvPr/>
        </p:nvSpPr>
        <p:spPr>
          <a:xfrm>
            <a:off x="365760" y="73152"/>
            <a:ext cx="11430000" cy="658368"/>
          </a:xfrm>
          <a:prstGeom prst="rect">
            <a:avLst/>
          </a:prstGeom>
          <a:noFill/>
          <a:ln/>
        </p:spPr>
        <p:txBody>
          <a:bodyPr wrap="square"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  MALTA — UNTERKUNFT</a:t>
            </a:r>
            <a:endParaRPr lang="en-US" sz="2200" dirty="0"/>
          </a:p>
        </p:txBody>
      </p:sp>
      <p:sp>
        <p:nvSpPr>
          <p:cNvPr id="5" name="Shape 3"/>
          <p:cNvSpPr/>
          <p:nvPr/>
        </p:nvSpPr>
        <p:spPr>
          <a:xfrm>
            <a:off x="0" y="731520"/>
            <a:ext cx="12192000" cy="27432"/>
          </a:xfrm>
          <a:prstGeom prst="rect">
            <a:avLst/>
          </a:prstGeom>
          <a:solidFill>
            <a:srgbClr val="1EB4C8"/>
          </a:solidFill>
          <a:ln w="12700">
            <a:solidFill>
              <a:srgbClr val="1EB4C8"/>
            </a:solidFill>
            <a:prstDash val="solid"/>
          </a:ln>
        </p:spPr>
      </p:sp>
      <p:pic>
        <p:nvPicPr>
          <p:cNvPr id="6" name="Image 0" descr="/home/user/Excelhaus/halloween_trip/malta_airbnb.png">    </p:cNvPr>
          <p:cNvPicPr>
            <a:picLocks noChangeAspect="1"/>
          </p:cNvPicPr>
          <p:nvPr/>
        </p:nvPicPr>
        <p:blipFill>
          <a:blip r:embed="rId1"/>
          <a:stretch>
            <a:fillRect/>
          </a:stretch>
        </p:blipFill>
        <p:spPr>
          <a:xfrm>
            <a:off x="0" y="758952"/>
            <a:ext cx="5029200" cy="3108960"/>
          </a:xfrm>
          <a:prstGeom prst="rect">
            <a:avLst/>
          </a:prstGeom>
        </p:spPr>
      </p:pic>
      <p:pic>
        <p:nvPicPr>
          <p:cNvPr id="7" name="Image 1" descr="/home/user/Excelhaus/halloween_trip/malta_map.png">    </p:cNvPr>
          <p:cNvPicPr>
            <a:picLocks noChangeAspect="1"/>
          </p:cNvPicPr>
          <p:nvPr/>
        </p:nvPicPr>
        <p:blipFill>
          <a:blip r:embed="rId2"/>
          <a:stretch>
            <a:fillRect/>
          </a:stretch>
        </p:blipFill>
        <p:spPr>
          <a:xfrm>
            <a:off x="0" y="3913632"/>
            <a:ext cx="5029200" cy="2103120"/>
          </a:xfrm>
          <a:prstGeom prst="rect">
            <a:avLst/>
          </a:prstGeom>
        </p:spPr>
      </p:pic>
      <p:sp>
        <p:nvSpPr>
          <p:cNvPr id="8" name="Shape 4"/>
          <p:cNvSpPr/>
          <p:nvPr/>
        </p:nvSpPr>
        <p:spPr>
          <a:xfrm>
            <a:off x="5303520" y="822960"/>
            <a:ext cx="6675120" cy="502920"/>
          </a:xfrm>
          <a:prstGeom prst="rect">
            <a:avLst/>
          </a:prstGeom>
          <a:solidFill>
            <a:srgbClr val="0F3460"/>
          </a:solidFill>
          <a:ln w="12700">
            <a:solidFill>
              <a:srgbClr val="1EB4C8"/>
            </a:solidFill>
            <a:prstDash val="solid"/>
          </a:ln>
        </p:spPr>
      </p:sp>
      <p:sp>
        <p:nvSpPr>
          <p:cNvPr id="9" name="Text 5"/>
          <p:cNvSpPr/>
          <p:nvPr/>
        </p:nvSpPr>
        <p:spPr>
          <a:xfrm>
            <a:off x="5440680" y="822960"/>
            <a:ext cx="6400800" cy="502920"/>
          </a:xfrm>
          <a:prstGeom prst="rect">
            <a:avLst/>
          </a:prstGeom>
          <a:noFill/>
          <a:ln/>
        </p:spPr>
        <p:txBody>
          <a:bodyPr wrap="square"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St. Julian's / Sliema — 2-Zi.-Wohnung mit Terrasse &amp; Meerblick</a:t>
            </a:r>
            <a:endParaRPr lang="en-US" sz="1400" dirty="0"/>
          </a:p>
        </p:txBody>
      </p:sp>
      <p:sp>
        <p:nvSpPr>
          <p:cNvPr id="10" name="Shape 6"/>
          <p:cNvSpPr/>
          <p:nvPr/>
        </p:nvSpPr>
        <p:spPr>
          <a:xfrm>
            <a:off x="5303520" y="1426464"/>
            <a:ext cx="2103120" cy="384048"/>
          </a:xfrm>
          <a:prstGeom prst="rect">
            <a:avLst/>
          </a:prstGeom>
          <a:solidFill>
            <a:srgbClr val="0F3460"/>
          </a:solidFill>
          <a:ln w="12700">
            <a:solidFill>
              <a:srgbClr val="1EB4C8"/>
            </a:solidFill>
            <a:prstDash val="solid"/>
          </a:ln>
        </p:spPr>
      </p:sp>
      <p:sp>
        <p:nvSpPr>
          <p:cNvPr id="11" name="Text 7"/>
          <p:cNvSpPr/>
          <p:nvPr/>
        </p:nvSpPr>
        <p:spPr>
          <a:xfrm>
            <a:off x="5303520" y="1426464"/>
            <a:ext cx="2103120" cy="384048"/>
          </a:xfrm>
          <a:prstGeom prst="rect">
            <a:avLst/>
          </a:prstGeom>
          <a:noFill/>
          <a:ln/>
        </p:spPr>
        <p:txBody>
          <a:bodyPr wrap="square" rtlCol="0" anchor="ctr"/>
          <a:lstStyle/>
          <a:p>
            <a:pPr algn="ctr" indent="0" marL="0">
              <a:buNone/>
            </a:pPr>
            <a:r>
              <a:rPr lang="en-US" sz="1100" b="1" dirty="0">
                <a:solidFill>
                  <a:srgbClr val="1EB4C8"/>
                </a:solidFill>
                <a:latin typeface="Calibri" pitchFamily="34" charset="0"/>
                <a:ea typeface="Calibri" pitchFamily="34" charset="-122"/>
                <a:cs typeface="Calibri" pitchFamily="34" charset="-120"/>
              </a:rPr>
              <a:t>🛏 2 Schlafzimmer</a:t>
            </a:r>
            <a:endParaRPr lang="en-US" sz="1100" dirty="0"/>
          </a:p>
        </p:txBody>
      </p:sp>
      <p:sp>
        <p:nvSpPr>
          <p:cNvPr id="12" name="Shape 8"/>
          <p:cNvSpPr/>
          <p:nvPr/>
        </p:nvSpPr>
        <p:spPr>
          <a:xfrm>
            <a:off x="7543800" y="1426464"/>
            <a:ext cx="2103120" cy="384048"/>
          </a:xfrm>
          <a:prstGeom prst="rect">
            <a:avLst/>
          </a:prstGeom>
          <a:solidFill>
            <a:srgbClr val="0F3460"/>
          </a:solidFill>
          <a:ln w="12700">
            <a:solidFill>
              <a:srgbClr val="1EB4C8"/>
            </a:solidFill>
            <a:prstDash val="solid"/>
          </a:ln>
        </p:spPr>
      </p:sp>
      <p:sp>
        <p:nvSpPr>
          <p:cNvPr id="13" name="Text 9"/>
          <p:cNvSpPr/>
          <p:nvPr/>
        </p:nvSpPr>
        <p:spPr>
          <a:xfrm>
            <a:off x="7543800" y="1426464"/>
            <a:ext cx="2103120" cy="384048"/>
          </a:xfrm>
          <a:prstGeom prst="rect">
            <a:avLst/>
          </a:prstGeom>
          <a:noFill/>
          <a:ln/>
        </p:spPr>
        <p:txBody>
          <a:bodyPr wrap="square" rtlCol="0" anchor="ctr"/>
          <a:lstStyle/>
          <a:p>
            <a:pPr algn="ctr" indent="0" marL="0">
              <a:buNone/>
            </a:pPr>
            <a:r>
              <a:rPr lang="en-US" sz="1100" b="1" dirty="0">
                <a:solidFill>
                  <a:srgbClr val="1EB4C8"/>
                </a:solidFill>
                <a:latin typeface="Calibri" pitchFamily="34" charset="0"/>
                <a:ea typeface="Calibri" pitchFamily="34" charset="-122"/>
                <a:cs typeface="Calibri" pitchFamily="34" charset="-120"/>
              </a:rPr>
              <a:t>🚿 2 Bäder</a:t>
            </a:r>
            <a:endParaRPr lang="en-US" sz="1100" dirty="0"/>
          </a:p>
        </p:txBody>
      </p:sp>
      <p:sp>
        <p:nvSpPr>
          <p:cNvPr id="14" name="Shape 10"/>
          <p:cNvSpPr/>
          <p:nvPr/>
        </p:nvSpPr>
        <p:spPr>
          <a:xfrm>
            <a:off x="9784080" y="1426464"/>
            <a:ext cx="2103120" cy="384048"/>
          </a:xfrm>
          <a:prstGeom prst="rect">
            <a:avLst/>
          </a:prstGeom>
          <a:solidFill>
            <a:srgbClr val="0F3460"/>
          </a:solidFill>
          <a:ln w="12700">
            <a:solidFill>
              <a:srgbClr val="22C55E"/>
            </a:solidFill>
            <a:prstDash val="solid"/>
          </a:ln>
        </p:spPr>
      </p:sp>
      <p:sp>
        <p:nvSpPr>
          <p:cNvPr id="15" name="Text 11"/>
          <p:cNvSpPr/>
          <p:nvPr/>
        </p:nvSpPr>
        <p:spPr>
          <a:xfrm>
            <a:off x="9784080" y="1426464"/>
            <a:ext cx="2103120" cy="384048"/>
          </a:xfrm>
          <a:prstGeom prst="rect">
            <a:avLst/>
          </a:prstGeom>
          <a:noFill/>
          <a:ln/>
        </p:spPr>
        <p:txBody>
          <a:bodyPr wrap="square" rtlCol="0" anchor="ctr"/>
          <a:lstStyle/>
          <a:p>
            <a:pPr algn="ctr" indent="0" marL="0">
              <a:buNone/>
            </a:pPr>
            <a:r>
              <a:rPr lang="en-US" sz="1100" b="1" dirty="0">
                <a:solidFill>
                  <a:srgbClr val="22C55E"/>
                </a:solidFill>
                <a:latin typeface="Calibri" pitchFamily="34" charset="0"/>
                <a:ea typeface="Calibri" pitchFamily="34" charset="-122"/>
                <a:cs typeface="Calibri" pitchFamily="34" charset="-120"/>
              </a:rPr>
              <a:t>🏗 Terrasse ✓</a:t>
            </a:r>
            <a:endParaRPr lang="en-US" sz="1100" dirty="0"/>
          </a:p>
        </p:txBody>
      </p:sp>
      <p:sp>
        <p:nvSpPr>
          <p:cNvPr id="16" name="Shape 12"/>
          <p:cNvSpPr/>
          <p:nvPr/>
        </p:nvSpPr>
        <p:spPr>
          <a:xfrm>
            <a:off x="5303520" y="1929384"/>
            <a:ext cx="2103120" cy="384048"/>
          </a:xfrm>
          <a:prstGeom prst="rect">
            <a:avLst/>
          </a:prstGeom>
          <a:solidFill>
            <a:srgbClr val="0F3460"/>
          </a:solidFill>
          <a:ln w="12700">
            <a:solidFill>
              <a:srgbClr val="1EB4C8"/>
            </a:solidFill>
            <a:prstDash val="solid"/>
          </a:ln>
        </p:spPr>
      </p:sp>
      <p:sp>
        <p:nvSpPr>
          <p:cNvPr id="17" name="Text 13"/>
          <p:cNvSpPr/>
          <p:nvPr/>
        </p:nvSpPr>
        <p:spPr>
          <a:xfrm>
            <a:off x="5303520" y="1929384"/>
            <a:ext cx="2103120" cy="384048"/>
          </a:xfrm>
          <a:prstGeom prst="rect">
            <a:avLst/>
          </a:prstGeom>
          <a:noFill/>
          <a:ln/>
        </p:spPr>
        <p:txBody>
          <a:bodyPr wrap="square" rtlCol="0" anchor="ctr"/>
          <a:lstStyle/>
          <a:p>
            <a:pPr algn="ctr" indent="0" marL="0">
              <a:buNone/>
            </a:pPr>
            <a:r>
              <a:rPr lang="en-US" sz="1100" b="1" dirty="0">
                <a:solidFill>
                  <a:srgbClr val="1EB4C8"/>
                </a:solidFill>
                <a:latin typeface="Calibri" pitchFamily="34" charset="0"/>
                <a:ea typeface="Calibri" pitchFamily="34" charset="-122"/>
                <a:cs typeface="Calibri" pitchFamily="34" charset="-120"/>
              </a:rPr>
              <a:t>👥 4 Gäste</a:t>
            </a:r>
            <a:endParaRPr lang="en-US" sz="1100" dirty="0"/>
          </a:p>
        </p:txBody>
      </p:sp>
      <p:sp>
        <p:nvSpPr>
          <p:cNvPr id="18" name="Shape 14"/>
          <p:cNvSpPr/>
          <p:nvPr/>
        </p:nvSpPr>
        <p:spPr>
          <a:xfrm>
            <a:off x="7543800" y="1929384"/>
            <a:ext cx="2103120" cy="384048"/>
          </a:xfrm>
          <a:prstGeom prst="rect">
            <a:avLst/>
          </a:prstGeom>
          <a:solidFill>
            <a:srgbClr val="0F3460"/>
          </a:solidFill>
          <a:ln w="12700">
            <a:solidFill>
              <a:srgbClr val="1EB4C8"/>
            </a:solidFill>
            <a:prstDash val="solid"/>
          </a:ln>
        </p:spPr>
      </p:sp>
      <p:sp>
        <p:nvSpPr>
          <p:cNvPr id="19" name="Text 15"/>
          <p:cNvSpPr/>
          <p:nvPr/>
        </p:nvSpPr>
        <p:spPr>
          <a:xfrm>
            <a:off x="7543800" y="1929384"/>
            <a:ext cx="2103120" cy="384048"/>
          </a:xfrm>
          <a:prstGeom prst="rect">
            <a:avLst/>
          </a:prstGeom>
          <a:noFill/>
          <a:ln/>
        </p:spPr>
        <p:txBody>
          <a:bodyPr wrap="square" rtlCol="0" anchor="ctr"/>
          <a:lstStyle/>
          <a:p>
            <a:pPr algn="ctr" indent="0" marL="0">
              <a:buNone/>
            </a:pPr>
            <a:r>
              <a:rPr lang="en-US" sz="1100" b="1" dirty="0">
                <a:solidFill>
                  <a:srgbClr val="1EB4C8"/>
                </a:solidFill>
                <a:latin typeface="Calibri" pitchFamily="34" charset="0"/>
                <a:ea typeface="Calibri" pitchFamily="34" charset="-122"/>
                <a:cs typeface="Calibri" pitchFamily="34" charset="-120"/>
              </a:rPr>
              <a:t>❄ Klimaanlage ✓</a:t>
            </a:r>
            <a:endParaRPr lang="en-US" sz="1100" dirty="0"/>
          </a:p>
        </p:txBody>
      </p:sp>
      <p:sp>
        <p:nvSpPr>
          <p:cNvPr id="20" name="Shape 16"/>
          <p:cNvSpPr/>
          <p:nvPr/>
        </p:nvSpPr>
        <p:spPr>
          <a:xfrm>
            <a:off x="9784080" y="1929384"/>
            <a:ext cx="2103120" cy="384048"/>
          </a:xfrm>
          <a:prstGeom prst="rect">
            <a:avLst/>
          </a:prstGeom>
          <a:solidFill>
            <a:srgbClr val="0F3460"/>
          </a:solidFill>
          <a:ln w="12700">
            <a:solidFill>
              <a:srgbClr val="1EB4C8"/>
            </a:solidFill>
            <a:prstDash val="solid"/>
          </a:ln>
        </p:spPr>
      </p:sp>
      <p:sp>
        <p:nvSpPr>
          <p:cNvPr id="21" name="Text 17"/>
          <p:cNvSpPr/>
          <p:nvPr/>
        </p:nvSpPr>
        <p:spPr>
          <a:xfrm>
            <a:off x="9784080" y="1929384"/>
            <a:ext cx="2103120" cy="384048"/>
          </a:xfrm>
          <a:prstGeom prst="rect">
            <a:avLst/>
          </a:prstGeom>
          <a:noFill/>
          <a:ln/>
        </p:spPr>
        <p:txBody>
          <a:bodyPr wrap="square" rtlCol="0" anchor="ctr"/>
          <a:lstStyle/>
          <a:p>
            <a:pPr algn="ctr" indent="0" marL="0">
              <a:buNone/>
            </a:pPr>
            <a:r>
              <a:rPr lang="en-US" sz="1100" b="1" dirty="0">
                <a:solidFill>
                  <a:srgbClr val="1EB4C8"/>
                </a:solidFill>
                <a:latin typeface="Calibri" pitchFamily="34" charset="0"/>
                <a:ea typeface="Calibri" pitchFamily="34" charset="-122"/>
                <a:cs typeface="Calibri" pitchFamily="34" charset="-120"/>
              </a:rPr>
              <a:t>🌊 Meerblick mögl.</a:t>
            </a:r>
            <a:endParaRPr lang="en-US" sz="1100" dirty="0"/>
          </a:p>
        </p:txBody>
      </p:sp>
      <p:sp>
        <p:nvSpPr>
          <p:cNvPr id="22" name="Shape 18"/>
          <p:cNvSpPr/>
          <p:nvPr/>
        </p:nvSpPr>
        <p:spPr>
          <a:xfrm>
            <a:off x="5303520" y="2505456"/>
            <a:ext cx="6675120" cy="502920"/>
          </a:xfrm>
          <a:prstGeom prst="rect">
            <a:avLst/>
          </a:prstGeom>
          <a:solidFill>
            <a:srgbClr val="16213E"/>
          </a:solidFill>
          <a:ln w="12700">
            <a:solidFill>
              <a:srgbClr val="0F3460"/>
            </a:solidFill>
            <a:prstDash val="solid"/>
          </a:ln>
        </p:spPr>
      </p:sp>
      <p:sp>
        <p:nvSpPr>
          <p:cNvPr id="23" name="Text 19"/>
          <p:cNvSpPr/>
          <p:nvPr/>
        </p:nvSpPr>
        <p:spPr>
          <a:xfrm>
            <a:off x="5394960" y="2505456"/>
            <a:ext cx="6492240" cy="502920"/>
          </a:xfrm>
          <a:prstGeom prst="rect">
            <a:avLst/>
          </a:prstGeom>
          <a:noFill/>
          <a:ln/>
        </p:spPr>
        <p:txBody>
          <a:bodyPr wrap="square" rtlCol="0" anchor="ctr"/>
          <a:lstStyle/>
          <a:p>
            <a:pPr indent="0" marL="0">
              <a:buNone/>
            </a:pPr>
            <a:r>
              <a:rPr lang="en-US" sz="1050" dirty="0">
                <a:solidFill>
                  <a:srgbClr val="9CA3AF"/>
                </a:solidFill>
                <a:latin typeface="Calibri" pitchFamily="34" charset="0"/>
                <a:ea typeface="Calibri" pitchFamily="34" charset="-122"/>
                <a:cs typeface="Calibri" pitchFamily="34" charset="-120"/>
              </a:rPr>
              <a:t>📌 St. Julian's / Paceville — direkt am Nachtleben, 2 Min. zu Hugo's Lounge &amp; Beach Clubs</a:t>
            </a:r>
            <a:endParaRPr lang="en-US" sz="1050" dirty="0"/>
          </a:p>
        </p:txBody>
      </p:sp>
      <p:sp>
        <p:nvSpPr>
          <p:cNvPr id="24" name="Shape 20"/>
          <p:cNvSpPr/>
          <p:nvPr/>
        </p:nvSpPr>
        <p:spPr>
          <a:xfrm>
            <a:off x="5303520" y="3108960"/>
            <a:ext cx="6675120" cy="1371600"/>
          </a:xfrm>
          <a:prstGeom prst="rect">
            <a:avLst/>
          </a:prstGeom>
          <a:solidFill>
            <a:srgbClr val="16213E"/>
          </a:solidFill>
          <a:ln w="12700">
            <a:solidFill>
              <a:srgbClr val="1EB4C8"/>
            </a:solidFill>
            <a:prstDash val="solid"/>
          </a:ln>
        </p:spPr>
      </p:sp>
      <p:sp>
        <p:nvSpPr>
          <p:cNvPr id="25" name="Text 21"/>
          <p:cNvSpPr/>
          <p:nvPr/>
        </p:nvSpPr>
        <p:spPr>
          <a:xfrm>
            <a:off x="5486400" y="3163824"/>
            <a:ext cx="6400800" cy="292608"/>
          </a:xfrm>
          <a:prstGeom prst="rect">
            <a:avLst/>
          </a:prstGeom>
          <a:noFill/>
          <a:ln/>
        </p:spPr>
        <p:txBody>
          <a:bodyPr wrap="square" rtlCol="0" anchor="ctr"/>
          <a:lstStyle/>
          <a:p>
            <a:pPr indent="0" marL="0">
              <a:buNone/>
            </a:pPr>
            <a:r>
              <a:rPr lang="en-US" sz="1100" b="1" dirty="0">
                <a:solidFill>
                  <a:srgbClr val="1EB4C8"/>
                </a:solidFill>
                <a:latin typeface="Trebuchet MS" pitchFamily="34" charset="0"/>
                <a:ea typeface="Trebuchet MS" pitchFamily="34" charset="-122"/>
                <a:cs typeface="Trebuchet MS" pitchFamily="34" charset="-120"/>
              </a:rPr>
              <a:t>PREISE  (30. Okt. – 2. Nov., 3 Nächte)</a:t>
            </a:r>
            <a:endParaRPr lang="en-US" sz="1100" dirty="0"/>
          </a:p>
        </p:txBody>
      </p:sp>
      <p:sp>
        <p:nvSpPr>
          <p:cNvPr id="26" name="Text 22"/>
          <p:cNvSpPr/>
          <p:nvPr/>
        </p:nvSpPr>
        <p:spPr>
          <a:xfrm>
            <a:off x="5486400" y="3493008"/>
            <a:ext cx="3657600" cy="192024"/>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Pro Nacht</a:t>
            </a:r>
            <a:endParaRPr lang="en-US" sz="1000" dirty="0"/>
          </a:p>
        </p:txBody>
      </p:sp>
      <p:sp>
        <p:nvSpPr>
          <p:cNvPr id="27" name="Text 23"/>
          <p:cNvSpPr/>
          <p:nvPr/>
        </p:nvSpPr>
        <p:spPr>
          <a:xfrm>
            <a:off x="9418320" y="3493008"/>
            <a:ext cx="2377440" cy="192024"/>
          </a:xfrm>
          <a:prstGeom prst="rect">
            <a:avLst/>
          </a:prstGeom>
          <a:noFill/>
          <a:ln/>
        </p:spPr>
        <p:txBody>
          <a:bodyPr wrap="square" rtlCol="0" anchor="ctr"/>
          <a:lstStyle/>
          <a:p>
            <a:pPr algn="r" indent="0" marL="0">
              <a:buNone/>
            </a:pPr>
            <a:r>
              <a:rPr lang="en-US" sz="1000" dirty="0">
                <a:solidFill>
                  <a:srgbClr val="E8E8E8"/>
                </a:solidFill>
                <a:latin typeface="Trebuchet MS" pitchFamily="34" charset="0"/>
                <a:ea typeface="Trebuchet MS" pitchFamily="34" charset="-122"/>
                <a:cs typeface="Trebuchet MS" pitchFamily="34" charset="-120"/>
              </a:rPr>
              <a:t>~€95</a:t>
            </a:r>
            <a:endParaRPr lang="en-US" sz="1000" dirty="0"/>
          </a:p>
        </p:txBody>
      </p:sp>
      <p:sp>
        <p:nvSpPr>
          <p:cNvPr id="28" name="Text 24"/>
          <p:cNvSpPr/>
          <p:nvPr/>
        </p:nvSpPr>
        <p:spPr>
          <a:xfrm>
            <a:off x="5486400" y="3689604"/>
            <a:ext cx="3657600" cy="192024"/>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3 Nächte</a:t>
            </a:r>
            <a:endParaRPr lang="en-US" sz="1000" dirty="0"/>
          </a:p>
        </p:txBody>
      </p:sp>
      <p:sp>
        <p:nvSpPr>
          <p:cNvPr id="29" name="Text 25"/>
          <p:cNvSpPr/>
          <p:nvPr/>
        </p:nvSpPr>
        <p:spPr>
          <a:xfrm>
            <a:off x="9418320" y="3689604"/>
            <a:ext cx="2377440" cy="192024"/>
          </a:xfrm>
          <a:prstGeom prst="rect">
            <a:avLst/>
          </a:prstGeom>
          <a:noFill/>
          <a:ln/>
        </p:spPr>
        <p:txBody>
          <a:bodyPr wrap="square" rtlCol="0" anchor="ctr"/>
          <a:lstStyle/>
          <a:p>
            <a:pPr algn="r" indent="0" marL="0">
              <a:buNone/>
            </a:pPr>
            <a:r>
              <a:rPr lang="en-US" sz="1000" dirty="0">
                <a:solidFill>
                  <a:srgbClr val="E8E8E8"/>
                </a:solidFill>
                <a:latin typeface="Trebuchet MS" pitchFamily="34" charset="0"/>
                <a:ea typeface="Trebuchet MS" pitchFamily="34" charset="-122"/>
                <a:cs typeface="Trebuchet MS" pitchFamily="34" charset="-120"/>
              </a:rPr>
              <a:t>~€285</a:t>
            </a:r>
            <a:endParaRPr lang="en-US" sz="1000" dirty="0"/>
          </a:p>
        </p:txBody>
      </p:sp>
      <p:sp>
        <p:nvSpPr>
          <p:cNvPr id="30" name="Text 26"/>
          <p:cNvSpPr/>
          <p:nvPr/>
        </p:nvSpPr>
        <p:spPr>
          <a:xfrm>
            <a:off x="5486400" y="3886200"/>
            <a:ext cx="3657600" cy="192024"/>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Reinigung &amp; Gebühren</a:t>
            </a:r>
            <a:endParaRPr lang="en-US" sz="1000" dirty="0"/>
          </a:p>
        </p:txBody>
      </p:sp>
      <p:sp>
        <p:nvSpPr>
          <p:cNvPr id="31" name="Text 27"/>
          <p:cNvSpPr/>
          <p:nvPr/>
        </p:nvSpPr>
        <p:spPr>
          <a:xfrm>
            <a:off x="9418320" y="3886200"/>
            <a:ext cx="2377440" cy="192024"/>
          </a:xfrm>
          <a:prstGeom prst="rect">
            <a:avLst/>
          </a:prstGeom>
          <a:noFill/>
          <a:ln/>
        </p:spPr>
        <p:txBody>
          <a:bodyPr wrap="square" rtlCol="0" anchor="ctr"/>
          <a:lstStyle/>
          <a:p>
            <a:pPr algn="r" indent="0" marL="0">
              <a:buNone/>
            </a:pPr>
            <a:r>
              <a:rPr lang="en-US" sz="1000" dirty="0">
                <a:solidFill>
                  <a:srgbClr val="E8E8E8"/>
                </a:solidFill>
                <a:latin typeface="Trebuchet MS" pitchFamily="34" charset="0"/>
                <a:ea typeface="Trebuchet MS" pitchFamily="34" charset="-122"/>
                <a:cs typeface="Trebuchet MS" pitchFamily="34" charset="-120"/>
              </a:rPr>
              <a:t>~€50–70</a:t>
            </a:r>
            <a:endParaRPr lang="en-US" sz="1000" dirty="0"/>
          </a:p>
        </p:txBody>
      </p:sp>
      <p:sp>
        <p:nvSpPr>
          <p:cNvPr id="32" name="Text 28"/>
          <p:cNvSpPr/>
          <p:nvPr/>
        </p:nvSpPr>
        <p:spPr>
          <a:xfrm>
            <a:off x="5486400" y="4082796"/>
            <a:ext cx="3657600" cy="192024"/>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Gesamt für 4 Pers.</a:t>
            </a:r>
            <a:endParaRPr lang="en-US" sz="1000" dirty="0"/>
          </a:p>
        </p:txBody>
      </p:sp>
      <p:sp>
        <p:nvSpPr>
          <p:cNvPr id="33" name="Text 29"/>
          <p:cNvSpPr/>
          <p:nvPr/>
        </p:nvSpPr>
        <p:spPr>
          <a:xfrm>
            <a:off x="9418320" y="4082796"/>
            <a:ext cx="2377440" cy="192024"/>
          </a:xfrm>
          <a:prstGeom prst="rect">
            <a:avLst/>
          </a:prstGeom>
          <a:noFill/>
          <a:ln/>
        </p:spPr>
        <p:txBody>
          <a:bodyPr wrap="square" rtlCol="0" anchor="ctr"/>
          <a:lstStyle/>
          <a:p>
            <a:pPr algn="r" indent="0" marL="0">
              <a:buNone/>
            </a:pPr>
            <a:r>
              <a:rPr lang="en-US" sz="1000" b="1" dirty="0">
                <a:solidFill>
                  <a:srgbClr val="1EB4C8"/>
                </a:solidFill>
                <a:latin typeface="Trebuchet MS" pitchFamily="34" charset="0"/>
                <a:ea typeface="Trebuchet MS" pitchFamily="34" charset="-122"/>
                <a:cs typeface="Trebuchet MS" pitchFamily="34" charset="-120"/>
              </a:rPr>
              <a:t>~€335–355</a:t>
            </a:r>
            <a:endParaRPr lang="en-US" sz="1000" dirty="0"/>
          </a:p>
        </p:txBody>
      </p:sp>
      <p:sp>
        <p:nvSpPr>
          <p:cNvPr id="34" name="Text 30"/>
          <p:cNvSpPr/>
          <p:nvPr/>
        </p:nvSpPr>
        <p:spPr>
          <a:xfrm>
            <a:off x="5486400" y="4279392"/>
            <a:ext cx="3657600" cy="192024"/>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Pro Person</a:t>
            </a:r>
            <a:endParaRPr lang="en-US" sz="1000" dirty="0"/>
          </a:p>
        </p:txBody>
      </p:sp>
      <p:sp>
        <p:nvSpPr>
          <p:cNvPr id="35" name="Text 31"/>
          <p:cNvSpPr/>
          <p:nvPr/>
        </p:nvSpPr>
        <p:spPr>
          <a:xfrm>
            <a:off x="9418320" y="4279392"/>
            <a:ext cx="2377440" cy="192024"/>
          </a:xfrm>
          <a:prstGeom prst="rect">
            <a:avLst/>
          </a:prstGeom>
          <a:noFill/>
          <a:ln/>
        </p:spPr>
        <p:txBody>
          <a:bodyPr wrap="square" rtlCol="0" anchor="ctr"/>
          <a:lstStyle/>
          <a:p>
            <a:pPr algn="r" indent="0" marL="0">
              <a:buNone/>
            </a:pPr>
            <a:r>
              <a:rPr lang="en-US" sz="1000" b="1" dirty="0">
                <a:solidFill>
                  <a:srgbClr val="22C55E"/>
                </a:solidFill>
                <a:latin typeface="Trebuchet MS" pitchFamily="34" charset="0"/>
                <a:ea typeface="Trebuchet MS" pitchFamily="34" charset="-122"/>
                <a:cs typeface="Trebuchet MS" pitchFamily="34" charset="-120"/>
              </a:rPr>
              <a:t>~€84–89</a:t>
            </a:r>
            <a:endParaRPr lang="en-US" sz="1000" dirty="0"/>
          </a:p>
        </p:txBody>
      </p:sp>
      <p:sp>
        <p:nvSpPr>
          <p:cNvPr id="36" name="Shape 32"/>
          <p:cNvSpPr/>
          <p:nvPr/>
        </p:nvSpPr>
        <p:spPr>
          <a:xfrm>
            <a:off x="5303520" y="4599432"/>
            <a:ext cx="6675120" cy="603504"/>
          </a:xfrm>
          <a:prstGeom prst="rect">
            <a:avLst/>
          </a:prstGeom>
          <a:solidFill>
            <a:srgbClr val="1EB4C8"/>
          </a:solidFill>
          <a:ln w="12700">
            <a:solidFill>
              <a:srgbClr val="1EB4C8"/>
            </a:solidFill>
            <a:prstDash val="solid"/>
          </a:ln>
        </p:spPr>
      </p:sp>
      <p:sp>
        <p:nvSpPr>
          <p:cNvPr id="37" name="Text 33">
            <a:hlinkClick r:id="rId3" tooltip="Airbnb öffnen — 30. Okt.–2. Nov., 4 Gäste, 2 SZ"/>
          </p:cNvPr>
          <p:cNvSpPr/>
          <p:nvPr/>
        </p:nvSpPr>
        <p:spPr>
          <a:xfrm>
            <a:off x="5303520" y="4599432"/>
            <a:ext cx="6675120" cy="603504"/>
          </a:xfrm>
          <a:prstGeom prst="rect">
            <a:avLst/>
          </a:prstGeom>
          <a:noFill/>
          <a:ln/>
        </p:spPr>
        <p:txBody>
          <a:bodyPr wrap="square" rtlCol="0" anchor="ctr"/>
          <a:lstStyle/>
          <a:p>
            <a:pPr algn="ctr" indent="0" marL="0">
              <a:buNone/>
            </a:pPr>
            <a:r>
              <a:rPr lang="en-US" sz="1500" b="1" u="sng" dirty="0">
                <a:solidFill>
                  <a:srgbClr val="FFFFFF"/>
                </a:solidFill>
                <a:latin typeface="Trebuchet MS" pitchFamily="34" charset="0"/>
                <a:ea typeface="Trebuchet MS" pitchFamily="34" charset="-122"/>
                <a:cs typeface="Trebuchet MS" pitchFamily="34" charset="-120"/>
                <a:hlinkClick r:id="rId3" invalidUrl="" action="" tgtFrame="" tooltip="Airbnb öffnen — 30. Okt.–2. Nov., 4 Gäste, 2 SZ" history="1" highlightClick="0" endSnd="0">
                  <a:extLst>
                    <a:ext uri="{A12FA001-AC4F-418D-AE19-62706E023703}">
                      <ahyp:hlinkClr xmlns:ahyp="http://schemas.microsoft.com/office/drawing/2018/hyperlinkcolor" val="tx"/>
                    </a:ext>
                  </a:extLst>
                </a:hlinkClick>
              </a:rPr>
              <a:t>🔍  Airbnb: Malta durchsuchen  →</a:t>
            </a:r>
            <a:endParaRPr lang="en-US" sz="1500" dirty="0"/>
          </a:p>
        </p:txBody>
      </p:sp>
      <p:sp>
        <p:nvSpPr>
          <p:cNvPr id="38" name="Text 34">
            <a:hlinkClick r:id="rId4" tooltip="Alternative Suche öffnen"/>
          </p:cNvPr>
          <p:cNvSpPr/>
          <p:nvPr/>
        </p:nvSpPr>
        <p:spPr>
          <a:xfrm>
            <a:off x="5394960" y="5276088"/>
            <a:ext cx="6492240" cy="256032"/>
          </a:xfrm>
          <a:prstGeom prst="rect">
            <a:avLst/>
          </a:prstGeom>
          <a:noFill/>
          <a:ln/>
        </p:spPr>
        <p:txBody>
          <a:bodyPr wrap="square" rtlCol="0" anchor="ctr"/>
          <a:lstStyle/>
          <a:p>
            <a:pPr indent="0" marL="0">
              <a:buNone/>
            </a:pPr>
            <a:r>
              <a:rPr lang="en-US" sz="900" i="1" u="sng" dirty="0">
                <a:solidFill>
                  <a:srgbClr val="6B7280"/>
                </a:solidFill>
                <a:latin typeface="Calibri" pitchFamily="34" charset="0"/>
                <a:ea typeface="Calibri" pitchFamily="34" charset="-122"/>
                <a:cs typeface="Calibri" pitchFamily="34" charset="-120"/>
                <a:hlinkClick r:id="rId4" invalidUrl="" action="" tgtFrame="" tooltip="Alternative Suche öffnen" history="1" highlightClick="0" endSnd="0">
                  <a:extLst>
                    <a:ext uri="{A12FA001-AC4F-418D-AE19-62706E023703}">
                      <ahyp:hlinkClr xmlns:ahyp="http://schemas.microsoft.com/office/drawing/2018/hyperlinkcolor" val="tx"/>
                    </a:ext>
                  </a:extLst>
                </a:hlinkClick>
              </a:rPr>
              <a:t>📍 Alternativ in Sliema suchen: airbnb.com/s/Sliema--Malta (ruhiger, Wasserfront, gleiche Daten)</a:t>
            </a:r>
            <a:endParaRPr lang="en-US" sz="900" dirty="0"/>
          </a:p>
        </p:txBody>
      </p:sp>
      <p:sp>
        <p:nvSpPr>
          <p:cNvPr id="39" name="Text 35"/>
          <p:cNvSpPr/>
          <p:nvPr/>
        </p:nvSpPr>
        <p:spPr>
          <a:xfrm>
            <a:off x="5394960" y="5577840"/>
            <a:ext cx="6492240" cy="274320"/>
          </a:xfrm>
          <a:prstGeom prst="rect">
            <a:avLst/>
          </a:prstGeom>
          <a:noFill/>
          <a:ln/>
        </p:spPr>
        <p:txBody>
          <a:bodyPr wrap="square" rtlCol="0" anchor="ctr"/>
          <a:lstStyle/>
          <a:p>
            <a:pPr indent="0" marL="0">
              <a:buNone/>
            </a:pPr>
            <a:r>
              <a:rPr lang="en-US" sz="950" b="1" dirty="0">
                <a:solidFill>
                  <a:srgbClr val="F96167"/>
                </a:solidFill>
                <a:latin typeface="Calibri" pitchFamily="34" charset="0"/>
                <a:ea typeface="Calibri" pitchFamily="34" charset="-122"/>
                <a:cs typeface="Calibri" pitchFamily="34" charset="-120"/>
              </a:rPr>
              <a:t>⚠️  Halloween-Wochenende ist schnell ausgebucht — jetzt klicken &amp; buchen!</a:t>
            </a:r>
            <a:endParaRPr lang="en-US" sz="950" dirty="0"/>
          </a:p>
        </p:txBody>
      </p:sp>
      <p:sp>
        <p:nvSpPr>
          <p:cNvPr id="40" name="Shape 36"/>
          <p:cNvSpPr/>
          <p:nvPr/>
        </p:nvSpPr>
        <p:spPr>
          <a:xfrm>
            <a:off x="0" y="6784848"/>
            <a:ext cx="12192000" cy="73152"/>
          </a:xfrm>
          <a:prstGeom prst="rect">
            <a:avLst/>
          </a:prstGeom>
          <a:solidFill>
            <a:srgbClr val="FF8C00"/>
          </a:solidFill>
          <a:ln w="12700">
            <a:solidFill>
              <a:srgbClr val="FF8C00"/>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1EB4C8"/>
          </a:solidFill>
          <a:ln w="12700">
            <a:solidFill>
              <a:srgbClr val="1EB4C8"/>
            </a:solidFill>
            <a:prstDash val="solid"/>
          </a:ln>
        </p:spPr>
      </p:sp>
      <p:sp>
        <p:nvSpPr>
          <p:cNvPr id="3" name="Shape 1"/>
          <p:cNvSpPr/>
          <p:nvPr/>
        </p:nvSpPr>
        <p:spPr>
          <a:xfrm>
            <a:off x="0" y="73152"/>
            <a:ext cx="12192000" cy="658368"/>
          </a:xfrm>
          <a:prstGeom prst="rect">
            <a:avLst/>
          </a:prstGeom>
          <a:solidFill>
            <a:srgbClr val="16213E"/>
          </a:solidFill>
          <a:ln w="12700">
            <a:solidFill>
              <a:srgbClr val="16213E"/>
            </a:solidFill>
            <a:prstDash val="solid"/>
          </a:ln>
        </p:spPr>
      </p:sp>
      <p:sp>
        <p:nvSpPr>
          <p:cNvPr id="4" name="Text 2"/>
          <p:cNvSpPr/>
          <p:nvPr/>
        </p:nvSpPr>
        <p:spPr>
          <a:xfrm>
            <a:off x="365760" y="73152"/>
            <a:ext cx="11430000" cy="658368"/>
          </a:xfrm>
          <a:prstGeom prst="rect">
            <a:avLst/>
          </a:prstGeom>
          <a:noFill/>
          <a:ln/>
        </p:spPr>
        <p:txBody>
          <a:bodyPr wrap="square"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  MALTA — TAGESPROGRAMM</a:t>
            </a:r>
            <a:endParaRPr lang="en-US" sz="2200" dirty="0"/>
          </a:p>
        </p:txBody>
      </p:sp>
      <p:sp>
        <p:nvSpPr>
          <p:cNvPr id="5" name="Shape 3"/>
          <p:cNvSpPr/>
          <p:nvPr/>
        </p:nvSpPr>
        <p:spPr>
          <a:xfrm>
            <a:off x="0" y="731520"/>
            <a:ext cx="12192000" cy="27432"/>
          </a:xfrm>
          <a:prstGeom prst="rect">
            <a:avLst/>
          </a:prstGeom>
          <a:solidFill>
            <a:srgbClr val="1EB4C8"/>
          </a:solidFill>
          <a:ln w="12700">
            <a:solidFill>
              <a:srgbClr val="1EB4C8"/>
            </a:solidFill>
            <a:prstDash val="solid"/>
          </a:ln>
        </p:spPr>
      </p:sp>
      <p:sp>
        <p:nvSpPr>
          <p:cNvPr id="6" name="Shape 4"/>
          <p:cNvSpPr/>
          <p:nvPr/>
        </p:nvSpPr>
        <p:spPr>
          <a:xfrm>
            <a:off x="274320" y="896112"/>
            <a:ext cx="5669280" cy="2743200"/>
          </a:xfrm>
          <a:prstGeom prst="rect">
            <a:avLst/>
          </a:prstGeom>
          <a:solidFill>
            <a:srgbClr val="16213E"/>
          </a:solidFill>
          <a:ln w="12700">
            <a:solidFill>
              <a:srgbClr val="1EB4C8"/>
            </a:solidFill>
            <a:prstDash val="solid"/>
          </a:ln>
        </p:spPr>
      </p:sp>
      <p:sp>
        <p:nvSpPr>
          <p:cNvPr id="7" name="Shape 5"/>
          <p:cNvSpPr/>
          <p:nvPr/>
        </p:nvSpPr>
        <p:spPr>
          <a:xfrm>
            <a:off x="274320" y="896112"/>
            <a:ext cx="5669280" cy="384048"/>
          </a:xfrm>
          <a:prstGeom prst="rect">
            <a:avLst/>
          </a:prstGeom>
          <a:solidFill>
            <a:srgbClr val="0F3460"/>
          </a:solidFill>
          <a:ln w="12700">
            <a:solidFill>
              <a:srgbClr val="0F3460"/>
            </a:solidFill>
            <a:prstDash val="solid"/>
          </a:ln>
        </p:spPr>
      </p:sp>
      <p:sp>
        <p:nvSpPr>
          <p:cNvPr id="8" name="Text 6"/>
          <p:cNvSpPr/>
          <p:nvPr/>
        </p:nvSpPr>
        <p:spPr>
          <a:xfrm>
            <a:off x="347472" y="914400"/>
            <a:ext cx="5522976" cy="182880"/>
          </a:xfrm>
          <a:prstGeom prst="rect">
            <a:avLst/>
          </a:prstGeom>
          <a:noFill/>
          <a:ln/>
        </p:spPr>
        <p:txBody>
          <a:bodyPr wrap="square" rtlCol="0" anchor="ctr"/>
          <a:lstStyle/>
          <a:p>
            <a:pPr indent="0" marL="0">
              <a:buNone/>
            </a:pPr>
            <a:r>
              <a:rPr lang="en-US" sz="1100" b="1" dirty="0">
                <a:solidFill>
                  <a:srgbClr val="1EB4C8"/>
                </a:solidFill>
                <a:latin typeface="Trebuchet MS" pitchFamily="34" charset="0"/>
                <a:ea typeface="Trebuchet MS" pitchFamily="34" charset="-122"/>
                <a:cs typeface="Trebuchet MS" pitchFamily="34" charset="-120"/>
              </a:rPr>
              <a:t>TAG 1 — DO., 30. OKT.</a:t>
            </a:r>
            <a:endParaRPr lang="en-US" sz="1100" dirty="0"/>
          </a:p>
        </p:txBody>
      </p:sp>
      <p:sp>
        <p:nvSpPr>
          <p:cNvPr id="9" name="Text 7"/>
          <p:cNvSpPr/>
          <p:nvPr/>
        </p:nvSpPr>
        <p:spPr>
          <a:xfrm>
            <a:off x="347472" y="1097280"/>
            <a:ext cx="5522976" cy="164592"/>
          </a:xfrm>
          <a:prstGeom prst="rect">
            <a:avLst/>
          </a:prstGeom>
          <a:noFill/>
          <a:ln/>
        </p:spPr>
        <p:txBody>
          <a:bodyPr wrap="square" rtlCol="0" anchor="ctr"/>
          <a:lstStyle/>
          <a:p>
            <a:pPr indent="0" marL="0">
              <a:buNone/>
            </a:pPr>
            <a:r>
              <a:rPr lang="en-US" sz="900" dirty="0">
                <a:solidFill>
                  <a:srgbClr val="9CA3AF"/>
                </a:solidFill>
                <a:latin typeface="Calibri" pitchFamily="34" charset="0"/>
                <a:ea typeface="Calibri" pitchFamily="34" charset="-122"/>
                <a:cs typeface="Calibri" pitchFamily="34" charset="-120"/>
              </a:rPr>
              <a:t>Ankunftstag</a:t>
            </a:r>
            <a:endParaRPr lang="en-US" sz="900" dirty="0"/>
          </a:p>
        </p:txBody>
      </p:sp>
      <p:sp>
        <p:nvSpPr>
          <p:cNvPr id="10" name="Text 8"/>
          <p:cNvSpPr/>
          <p:nvPr/>
        </p:nvSpPr>
        <p:spPr>
          <a:xfrm>
            <a:off x="365760" y="1335024"/>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Eurowings landet MLA ~10:00 · Taxi nach St. Julian's</a:t>
            </a:r>
            <a:endParaRPr lang="en-US" sz="900" dirty="0"/>
          </a:p>
        </p:txBody>
      </p:sp>
      <p:sp>
        <p:nvSpPr>
          <p:cNvPr id="11" name="Text 9"/>
          <p:cNvSpPr/>
          <p:nvPr/>
        </p:nvSpPr>
        <p:spPr>
          <a:xfrm>
            <a:off x="365760" y="1600200"/>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Einchecken · erstes kühles Cisk-Bier auf der Terrasse</a:t>
            </a:r>
            <a:endParaRPr lang="en-US" sz="900" dirty="0"/>
          </a:p>
        </p:txBody>
      </p:sp>
      <p:sp>
        <p:nvSpPr>
          <p:cNvPr id="12" name="Text 10"/>
          <p:cNvSpPr/>
          <p:nvPr/>
        </p:nvSpPr>
        <p:spPr>
          <a:xfrm>
            <a:off x="365760" y="1865376"/>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Valletta Altstadt-Spaziergang (UNESCO-Welterbe)</a:t>
            </a:r>
            <a:endParaRPr lang="en-US" sz="900" dirty="0"/>
          </a:p>
        </p:txBody>
      </p:sp>
      <p:sp>
        <p:nvSpPr>
          <p:cNvPr id="13" name="Text 11"/>
          <p:cNvSpPr/>
          <p:nvPr/>
        </p:nvSpPr>
        <p:spPr>
          <a:xfrm>
            <a:off x="365760" y="2130552"/>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Sliema Waterfront zum Sonnenuntergang</a:t>
            </a:r>
            <a:endParaRPr lang="en-US" sz="900" dirty="0"/>
          </a:p>
        </p:txBody>
      </p:sp>
      <p:sp>
        <p:nvSpPr>
          <p:cNvPr id="14" name="Text 12"/>
          <p:cNvSpPr/>
          <p:nvPr/>
        </p:nvSpPr>
        <p:spPr>
          <a:xfrm>
            <a:off x="365760" y="2395728"/>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Erste Bar-Nacht in Paceville: Hugo's Lounge</a:t>
            </a:r>
            <a:endParaRPr lang="en-US" sz="900" dirty="0"/>
          </a:p>
        </p:txBody>
      </p:sp>
      <p:sp>
        <p:nvSpPr>
          <p:cNvPr id="15" name="Text 13"/>
          <p:cNvSpPr/>
          <p:nvPr/>
        </p:nvSpPr>
        <p:spPr>
          <a:xfrm>
            <a:off x="365760" y="2660904"/>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Cisk 0,5l: ~€2,50 · T-Shirt-Wetter um Mitternacht!</a:t>
            </a:r>
            <a:endParaRPr lang="en-US" sz="900" dirty="0"/>
          </a:p>
        </p:txBody>
      </p:sp>
      <p:sp>
        <p:nvSpPr>
          <p:cNvPr id="16" name="Shape 14"/>
          <p:cNvSpPr/>
          <p:nvPr/>
        </p:nvSpPr>
        <p:spPr>
          <a:xfrm>
            <a:off x="6217920" y="896112"/>
            <a:ext cx="5669280" cy="2743200"/>
          </a:xfrm>
          <a:prstGeom prst="rect">
            <a:avLst/>
          </a:prstGeom>
          <a:solidFill>
            <a:srgbClr val="16213E"/>
          </a:solidFill>
          <a:ln w="12700">
            <a:solidFill>
              <a:srgbClr val="1EB4C8"/>
            </a:solidFill>
            <a:prstDash val="solid"/>
          </a:ln>
        </p:spPr>
      </p:sp>
      <p:sp>
        <p:nvSpPr>
          <p:cNvPr id="17" name="Shape 15"/>
          <p:cNvSpPr/>
          <p:nvPr/>
        </p:nvSpPr>
        <p:spPr>
          <a:xfrm>
            <a:off x="6217920" y="896112"/>
            <a:ext cx="5669280" cy="384048"/>
          </a:xfrm>
          <a:prstGeom prst="rect">
            <a:avLst/>
          </a:prstGeom>
          <a:solidFill>
            <a:srgbClr val="0F3460"/>
          </a:solidFill>
          <a:ln w="12700">
            <a:solidFill>
              <a:srgbClr val="0F3460"/>
            </a:solidFill>
            <a:prstDash val="solid"/>
          </a:ln>
        </p:spPr>
      </p:sp>
      <p:sp>
        <p:nvSpPr>
          <p:cNvPr id="18" name="Text 16"/>
          <p:cNvSpPr/>
          <p:nvPr/>
        </p:nvSpPr>
        <p:spPr>
          <a:xfrm>
            <a:off x="6291072" y="914400"/>
            <a:ext cx="5522976" cy="182880"/>
          </a:xfrm>
          <a:prstGeom prst="rect">
            <a:avLst/>
          </a:prstGeom>
          <a:noFill/>
          <a:ln/>
        </p:spPr>
        <p:txBody>
          <a:bodyPr wrap="square" rtlCol="0" anchor="ctr"/>
          <a:lstStyle/>
          <a:p>
            <a:pPr indent="0" marL="0">
              <a:buNone/>
            </a:pPr>
            <a:r>
              <a:rPr lang="en-US" sz="1100" b="1" dirty="0">
                <a:solidFill>
                  <a:srgbClr val="1EB4C8"/>
                </a:solidFill>
                <a:latin typeface="Trebuchet MS" pitchFamily="34" charset="0"/>
                <a:ea typeface="Trebuchet MS" pitchFamily="34" charset="-122"/>
                <a:cs typeface="Trebuchet MS" pitchFamily="34" charset="-120"/>
              </a:rPr>
              <a:t>TAG 2 — FR., 31. OKT. 🎃</a:t>
            </a:r>
            <a:endParaRPr lang="en-US" sz="1100" dirty="0"/>
          </a:p>
        </p:txBody>
      </p:sp>
      <p:sp>
        <p:nvSpPr>
          <p:cNvPr id="19" name="Text 17"/>
          <p:cNvSpPr/>
          <p:nvPr/>
        </p:nvSpPr>
        <p:spPr>
          <a:xfrm>
            <a:off x="6291072" y="1097280"/>
            <a:ext cx="5522976" cy="164592"/>
          </a:xfrm>
          <a:prstGeom prst="rect">
            <a:avLst/>
          </a:prstGeom>
          <a:noFill/>
          <a:ln/>
        </p:spPr>
        <p:txBody>
          <a:bodyPr wrap="square" rtlCol="0" anchor="ctr"/>
          <a:lstStyle/>
          <a:p>
            <a:pPr indent="0" marL="0">
              <a:buNone/>
            </a:pPr>
            <a:r>
              <a:rPr lang="en-US" sz="900" dirty="0">
                <a:solidFill>
                  <a:srgbClr val="9CA3AF"/>
                </a:solidFill>
                <a:latin typeface="Calibri" pitchFamily="34" charset="0"/>
                <a:ea typeface="Calibri" pitchFamily="34" charset="-122"/>
                <a:cs typeface="Calibri" pitchFamily="34" charset="-120"/>
              </a:rPr>
              <a:t>HALLOWEEN-NACHT</a:t>
            </a:r>
            <a:endParaRPr lang="en-US" sz="900" dirty="0"/>
          </a:p>
        </p:txBody>
      </p:sp>
      <p:sp>
        <p:nvSpPr>
          <p:cNvPr id="20" name="Text 18"/>
          <p:cNvSpPr/>
          <p:nvPr/>
        </p:nvSpPr>
        <p:spPr>
          <a:xfrm>
            <a:off x="6309360" y="1335024"/>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Tagesausflug Blaue Lagune (Bootsfahrt, ~€35 p.P.)</a:t>
            </a:r>
            <a:endParaRPr lang="en-US" sz="900" dirty="0"/>
          </a:p>
        </p:txBody>
      </p:sp>
      <p:sp>
        <p:nvSpPr>
          <p:cNvPr id="21" name="Text 19"/>
          <p:cNvSpPr/>
          <p:nvPr/>
        </p:nvSpPr>
        <p:spPr>
          <a:xfrm>
            <a:off x="6309360" y="1600200"/>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Kristallklares Mittelmeer · letztes Bad im Oktober!</a:t>
            </a:r>
            <a:endParaRPr lang="en-US" sz="900" dirty="0"/>
          </a:p>
        </p:txBody>
      </p:sp>
      <p:sp>
        <p:nvSpPr>
          <p:cNvPr id="22" name="Text 20"/>
          <p:cNvSpPr/>
          <p:nvPr/>
        </p:nvSpPr>
        <p:spPr>
          <a:xfrm>
            <a:off x="6309360" y="1865376"/>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Maltesischer Kochkurs nachmittags (€65 p.P.)</a:t>
            </a:r>
            <a:endParaRPr lang="en-US" sz="900" dirty="0"/>
          </a:p>
        </p:txBody>
      </p:sp>
      <p:sp>
        <p:nvSpPr>
          <p:cNvPr id="23" name="Text 21"/>
          <p:cNvSpPr/>
          <p:nvPr/>
        </p:nvSpPr>
        <p:spPr>
          <a:xfrm>
            <a:off x="6309360" y="2130552"/>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Kaninchen-Eintopf (Fenek) + Pastizzi + lokaler Wein</a:t>
            </a:r>
            <a:endParaRPr lang="en-US" sz="900" dirty="0"/>
          </a:p>
        </p:txBody>
      </p:sp>
      <p:sp>
        <p:nvSpPr>
          <p:cNvPr id="24" name="Text 22"/>
          <p:cNvSpPr/>
          <p:nvPr/>
        </p:nvSpPr>
        <p:spPr>
          <a:xfrm>
            <a:off x="6309360" y="2395728"/>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Halloween in Paceville ab 22 Uhr</a:t>
            </a:r>
            <a:endParaRPr lang="en-US" sz="900" dirty="0"/>
          </a:p>
        </p:txBody>
      </p:sp>
      <p:sp>
        <p:nvSpPr>
          <p:cNvPr id="25" name="Text 23"/>
          <p:cNvSpPr/>
          <p:nvPr/>
        </p:nvSpPr>
        <p:spPr>
          <a:xfrm>
            <a:off x="6309360" y="2660904"/>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Clubmeile: Sky Club · Footloose · Level 22</a:t>
            </a:r>
            <a:endParaRPr lang="en-US" sz="900" dirty="0"/>
          </a:p>
        </p:txBody>
      </p:sp>
      <p:sp>
        <p:nvSpPr>
          <p:cNvPr id="26" name="Text 24"/>
          <p:cNvSpPr/>
          <p:nvPr/>
        </p:nvSpPr>
        <p:spPr>
          <a:xfrm>
            <a:off x="6309360" y="2926080"/>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Bis 4 Uhr morgens · alle mit Halloween-Deko</a:t>
            </a:r>
            <a:endParaRPr lang="en-US" sz="900" dirty="0"/>
          </a:p>
        </p:txBody>
      </p:sp>
      <p:sp>
        <p:nvSpPr>
          <p:cNvPr id="27" name="Shape 25"/>
          <p:cNvSpPr/>
          <p:nvPr/>
        </p:nvSpPr>
        <p:spPr>
          <a:xfrm>
            <a:off x="274320" y="3776472"/>
            <a:ext cx="5669280" cy="2743200"/>
          </a:xfrm>
          <a:prstGeom prst="rect">
            <a:avLst/>
          </a:prstGeom>
          <a:solidFill>
            <a:srgbClr val="16213E"/>
          </a:solidFill>
          <a:ln w="12700">
            <a:solidFill>
              <a:srgbClr val="1EB4C8"/>
            </a:solidFill>
            <a:prstDash val="solid"/>
          </a:ln>
        </p:spPr>
      </p:sp>
      <p:sp>
        <p:nvSpPr>
          <p:cNvPr id="28" name="Shape 26"/>
          <p:cNvSpPr/>
          <p:nvPr/>
        </p:nvSpPr>
        <p:spPr>
          <a:xfrm>
            <a:off x="274320" y="3776472"/>
            <a:ext cx="5669280" cy="384048"/>
          </a:xfrm>
          <a:prstGeom prst="rect">
            <a:avLst/>
          </a:prstGeom>
          <a:solidFill>
            <a:srgbClr val="0F3460"/>
          </a:solidFill>
          <a:ln w="12700">
            <a:solidFill>
              <a:srgbClr val="0F3460"/>
            </a:solidFill>
            <a:prstDash val="solid"/>
          </a:ln>
        </p:spPr>
      </p:sp>
      <p:sp>
        <p:nvSpPr>
          <p:cNvPr id="29" name="Text 27"/>
          <p:cNvSpPr/>
          <p:nvPr/>
        </p:nvSpPr>
        <p:spPr>
          <a:xfrm>
            <a:off x="347472" y="3794760"/>
            <a:ext cx="5522976" cy="182880"/>
          </a:xfrm>
          <a:prstGeom prst="rect">
            <a:avLst/>
          </a:prstGeom>
          <a:noFill/>
          <a:ln/>
        </p:spPr>
        <p:txBody>
          <a:bodyPr wrap="square" rtlCol="0" anchor="ctr"/>
          <a:lstStyle/>
          <a:p>
            <a:pPr indent="0" marL="0">
              <a:buNone/>
            </a:pPr>
            <a:r>
              <a:rPr lang="en-US" sz="1100" b="1" dirty="0">
                <a:solidFill>
                  <a:srgbClr val="1EB4C8"/>
                </a:solidFill>
                <a:latin typeface="Trebuchet MS" pitchFamily="34" charset="0"/>
                <a:ea typeface="Trebuchet MS" pitchFamily="34" charset="-122"/>
                <a:cs typeface="Trebuchet MS" pitchFamily="34" charset="-120"/>
              </a:rPr>
              <a:t>TAG 3 — SA., 1. NOV.</a:t>
            </a:r>
            <a:endParaRPr lang="en-US" sz="1100" dirty="0"/>
          </a:p>
        </p:txBody>
      </p:sp>
      <p:sp>
        <p:nvSpPr>
          <p:cNvPr id="30" name="Text 28"/>
          <p:cNvSpPr/>
          <p:nvPr/>
        </p:nvSpPr>
        <p:spPr>
          <a:xfrm>
            <a:off x="347472" y="3977640"/>
            <a:ext cx="5522976" cy="164592"/>
          </a:xfrm>
          <a:prstGeom prst="rect">
            <a:avLst/>
          </a:prstGeom>
          <a:noFill/>
          <a:ln/>
        </p:spPr>
        <p:txBody>
          <a:bodyPr wrap="square" rtlCol="0" anchor="ctr"/>
          <a:lstStyle/>
          <a:p>
            <a:pPr indent="0" marL="0">
              <a:buNone/>
            </a:pPr>
            <a:r>
              <a:rPr lang="en-US" sz="900" dirty="0">
                <a:solidFill>
                  <a:srgbClr val="9CA3AF"/>
                </a:solidFill>
                <a:latin typeface="Calibri" pitchFamily="34" charset="0"/>
                <a:ea typeface="Calibri" pitchFamily="34" charset="-122"/>
                <a:cs typeface="Calibri" pitchFamily="34" charset="-120"/>
              </a:rPr>
              <a:t>Malta Erkunden</a:t>
            </a:r>
            <a:endParaRPr lang="en-US" sz="900" dirty="0"/>
          </a:p>
        </p:txBody>
      </p:sp>
      <p:sp>
        <p:nvSpPr>
          <p:cNvPr id="31" name="Text 29"/>
          <p:cNvSpPr/>
          <p:nvPr/>
        </p:nvSpPr>
        <p:spPr>
          <a:xfrm>
            <a:off x="365760" y="4215384"/>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Mdina: "Die Stille Stadt" — mittelalterl. Festungsstadt</a:t>
            </a:r>
            <a:endParaRPr lang="en-US" sz="900" dirty="0"/>
          </a:p>
        </p:txBody>
      </p:sp>
      <p:sp>
        <p:nvSpPr>
          <p:cNvPr id="32" name="Text 30"/>
          <p:cNvSpPr/>
          <p:nvPr/>
        </p:nvSpPr>
        <p:spPr>
          <a:xfrm>
            <a:off x="365760" y="4480560"/>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Marsaxlokk Fischmarkt: frischer Fang, bunte Boote</a:t>
            </a:r>
            <a:endParaRPr lang="en-US" sz="900" dirty="0"/>
          </a:p>
        </p:txBody>
      </p:sp>
      <p:sp>
        <p:nvSpPr>
          <p:cNvPr id="33" name="Text 31"/>
          <p:cNvSpPr/>
          <p:nvPr/>
        </p:nvSpPr>
        <p:spPr>
          <a:xfrm>
            <a:off x="365760" y="4745736"/>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Mittagspause: Pasta + Cisk am Hafen (~€12)</a:t>
            </a:r>
            <a:endParaRPr lang="en-US" sz="900" dirty="0"/>
          </a:p>
        </p:txBody>
      </p:sp>
      <p:sp>
        <p:nvSpPr>
          <p:cNvPr id="34" name="Text 32"/>
          <p:cNvSpPr/>
          <p:nvPr/>
        </p:nvSpPr>
        <p:spPr>
          <a:xfrm>
            <a:off x="365760" y="5010912"/>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Nachmittag: Baden an den Felsenbädern (noch warm!)</a:t>
            </a:r>
            <a:endParaRPr lang="en-US" sz="900" dirty="0"/>
          </a:p>
        </p:txBody>
      </p:sp>
      <p:sp>
        <p:nvSpPr>
          <p:cNvPr id="35" name="Text 33"/>
          <p:cNvSpPr/>
          <p:nvPr/>
        </p:nvSpPr>
        <p:spPr>
          <a:xfrm>
            <a:off x="365760" y="5276088"/>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Letzte Nacht: Paceville + Strand-Bars</a:t>
            </a:r>
            <a:endParaRPr lang="en-US" sz="900" dirty="0"/>
          </a:p>
        </p:txBody>
      </p:sp>
      <p:sp>
        <p:nvSpPr>
          <p:cNvPr id="36" name="Shape 34"/>
          <p:cNvSpPr/>
          <p:nvPr/>
        </p:nvSpPr>
        <p:spPr>
          <a:xfrm>
            <a:off x="6217920" y="3776472"/>
            <a:ext cx="5669280" cy="2743200"/>
          </a:xfrm>
          <a:prstGeom prst="rect">
            <a:avLst/>
          </a:prstGeom>
          <a:solidFill>
            <a:srgbClr val="16213E"/>
          </a:solidFill>
          <a:ln w="12700">
            <a:solidFill>
              <a:srgbClr val="1EB4C8"/>
            </a:solidFill>
            <a:prstDash val="solid"/>
          </a:ln>
        </p:spPr>
      </p:sp>
      <p:sp>
        <p:nvSpPr>
          <p:cNvPr id="37" name="Shape 35"/>
          <p:cNvSpPr/>
          <p:nvPr/>
        </p:nvSpPr>
        <p:spPr>
          <a:xfrm>
            <a:off x="6217920" y="3776472"/>
            <a:ext cx="5669280" cy="384048"/>
          </a:xfrm>
          <a:prstGeom prst="rect">
            <a:avLst/>
          </a:prstGeom>
          <a:solidFill>
            <a:srgbClr val="0F3460"/>
          </a:solidFill>
          <a:ln w="12700">
            <a:solidFill>
              <a:srgbClr val="0F3460"/>
            </a:solidFill>
            <a:prstDash val="solid"/>
          </a:ln>
        </p:spPr>
      </p:sp>
      <p:sp>
        <p:nvSpPr>
          <p:cNvPr id="38" name="Text 36"/>
          <p:cNvSpPr/>
          <p:nvPr/>
        </p:nvSpPr>
        <p:spPr>
          <a:xfrm>
            <a:off x="6291072" y="3794760"/>
            <a:ext cx="5522976" cy="182880"/>
          </a:xfrm>
          <a:prstGeom prst="rect">
            <a:avLst/>
          </a:prstGeom>
          <a:noFill/>
          <a:ln/>
        </p:spPr>
        <p:txBody>
          <a:bodyPr wrap="square" rtlCol="0" anchor="ctr"/>
          <a:lstStyle/>
          <a:p>
            <a:pPr indent="0" marL="0">
              <a:buNone/>
            </a:pPr>
            <a:r>
              <a:rPr lang="en-US" sz="1100" b="1" dirty="0">
                <a:solidFill>
                  <a:srgbClr val="1EB4C8"/>
                </a:solidFill>
                <a:latin typeface="Trebuchet MS" pitchFamily="34" charset="0"/>
                <a:ea typeface="Trebuchet MS" pitchFamily="34" charset="-122"/>
                <a:cs typeface="Trebuchet MS" pitchFamily="34" charset="-120"/>
              </a:rPr>
              <a:t>TAG 4 — SO., 2. NOV.</a:t>
            </a:r>
            <a:endParaRPr lang="en-US" sz="1100" dirty="0"/>
          </a:p>
        </p:txBody>
      </p:sp>
      <p:sp>
        <p:nvSpPr>
          <p:cNvPr id="39" name="Text 37"/>
          <p:cNvSpPr/>
          <p:nvPr/>
        </p:nvSpPr>
        <p:spPr>
          <a:xfrm>
            <a:off x="6291072" y="3977640"/>
            <a:ext cx="5522976" cy="164592"/>
          </a:xfrm>
          <a:prstGeom prst="rect">
            <a:avLst/>
          </a:prstGeom>
          <a:noFill/>
          <a:ln/>
        </p:spPr>
        <p:txBody>
          <a:bodyPr wrap="square" rtlCol="0" anchor="ctr"/>
          <a:lstStyle/>
          <a:p>
            <a:pPr indent="0" marL="0">
              <a:buNone/>
            </a:pPr>
            <a:r>
              <a:rPr lang="en-US" sz="900" dirty="0">
                <a:solidFill>
                  <a:srgbClr val="9CA3AF"/>
                </a:solidFill>
                <a:latin typeface="Calibri" pitchFamily="34" charset="0"/>
                <a:ea typeface="Calibri" pitchFamily="34" charset="-122"/>
                <a:cs typeface="Calibri" pitchFamily="34" charset="-120"/>
              </a:rPr>
              <a:t>Abreisetag</a:t>
            </a:r>
            <a:endParaRPr lang="en-US" sz="900" dirty="0"/>
          </a:p>
        </p:txBody>
      </p:sp>
      <p:sp>
        <p:nvSpPr>
          <p:cNvPr id="40" name="Text 38"/>
          <p:cNvSpPr/>
          <p:nvPr/>
        </p:nvSpPr>
        <p:spPr>
          <a:xfrm>
            <a:off x="6309360" y="4215384"/>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Frühstück auf der Terrasse bei 20°C</a:t>
            </a:r>
            <a:endParaRPr lang="en-US" sz="900" dirty="0"/>
          </a:p>
        </p:txBody>
      </p:sp>
      <p:sp>
        <p:nvSpPr>
          <p:cNvPr id="41" name="Text 39"/>
          <p:cNvSpPr/>
          <p:nvPr/>
        </p:nvSpPr>
        <p:spPr>
          <a:xfrm>
            <a:off x="6309360" y="4480560"/>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Pastizzi zum Frühstück (Ricotta-Blätterteig, €0,50!)</a:t>
            </a:r>
            <a:endParaRPr lang="en-US" sz="900" dirty="0"/>
          </a:p>
        </p:txBody>
      </p:sp>
      <p:sp>
        <p:nvSpPr>
          <p:cNvPr id="42" name="Text 40"/>
          <p:cNvSpPr/>
          <p:nvPr/>
        </p:nvSpPr>
        <p:spPr>
          <a:xfrm>
            <a:off x="6309360" y="4745736"/>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Letzte Stunde am Meer (badefertig!)</a:t>
            </a:r>
            <a:endParaRPr lang="en-US" sz="900" dirty="0"/>
          </a:p>
        </p:txBody>
      </p:sp>
      <p:sp>
        <p:nvSpPr>
          <p:cNvPr id="43" name="Text 41"/>
          <p:cNvSpPr/>
          <p:nvPr/>
        </p:nvSpPr>
        <p:spPr>
          <a:xfrm>
            <a:off x="6309360" y="5010912"/>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Souvenirs: Maltesisches Kreuz, Ftira-Brot, Cisk-Sixpack</a:t>
            </a:r>
            <a:endParaRPr lang="en-US" sz="900" dirty="0"/>
          </a:p>
        </p:txBody>
      </p:sp>
      <p:sp>
        <p:nvSpPr>
          <p:cNvPr id="44" name="Text 42"/>
          <p:cNvSpPr/>
          <p:nvPr/>
        </p:nvSpPr>
        <p:spPr>
          <a:xfrm>
            <a:off x="6309360" y="5276088"/>
            <a:ext cx="5486400" cy="256032"/>
          </a:xfrm>
          <a:prstGeom prst="rect">
            <a:avLst/>
          </a:prstGeom>
          <a:noFill/>
          <a:ln/>
        </p:spPr>
        <p:txBody>
          <a:bodyPr wrap="square" rtlCol="0" anchor="t"/>
          <a:lstStyle/>
          <a:p>
            <a:pPr indent="0" marL="0">
              <a:buNone/>
            </a:pPr>
            <a:r>
              <a:rPr lang="en-US" sz="900" dirty="0">
                <a:solidFill>
                  <a:srgbClr val="E8E8E8"/>
                </a:solidFill>
                <a:latin typeface="Calibri" pitchFamily="34" charset="0"/>
                <a:ea typeface="Calibri" pitchFamily="34" charset="-122"/>
                <a:cs typeface="Calibri" pitchFamily="34" charset="-120"/>
              </a:rPr>
              <a:t>✈  Eurowings/Ryanair Rückflug nach DUS</a:t>
            </a:r>
            <a:endParaRPr lang="en-US" sz="900" dirty="0"/>
          </a:p>
        </p:txBody>
      </p:sp>
      <p:sp>
        <p:nvSpPr>
          <p:cNvPr id="45" name="Shape 43"/>
          <p:cNvSpPr/>
          <p:nvPr/>
        </p:nvSpPr>
        <p:spPr>
          <a:xfrm>
            <a:off x="274320" y="6510528"/>
            <a:ext cx="11612880" cy="201168"/>
          </a:xfrm>
          <a:prstGeom prst="rect">
            <a:avLst/>
          </a:prstGeom>
          <a:solidFill>
            <a:srgbClr val="16213E"/>
          </a:solidFill>
          <a:ln w="12700">
            <a:solidFill>
              <a:srgbClr val="0F3460"/>
            </a:solidFill>
            <a:prstDash val="solid"/>
          </a:ln>
        </p:spPr>
      </p:sp>
      <p:sp>
        <p:nvSpPr>
          <p:cNvPr id="46" name="Text 44"/>
          <p:cNvSpPr/>
          <p:nvPr/>
        </p:nvSpPr>
        <p:spPr>
          <a:xfrm>
            <a:off x="365760" y="6510528"/>
            <a:ext cx="11430000" cy="201168"/>
          </a:xfrm>
          <a:prstGeom prst="rect">
            <a:avLst/>
          </a:prstGeom>
          <a:noFill/>
          <a:ln/>
        </p:spPr>
        <p:txBody>
          <a:bodyPr wrap="square" rtlCol="0" anchor="ctr"/>
          <a:lstStyle/>
          <a:p>
            <a:pPr indent="0" marL="0">
              <a:buNone/>
            </a:pPr>
            <a:r>
              <a:rPr lang="en-US" sz="800" dirty="0">
                <a:solidFill>
                  <a:srgbClr val="6B7280"/>
                </a:solidFill>
                <a:latin typeface="Calibri" pitchFamily="34" charset="0"/>
                <a:ea typeface="Calibri" pitchFamily="34" charset="-122"/>
                <a:cs typeface="Calibri" pitchFamily="34" charset="-120"/>
              </a:rPr>
              <a:t>Bootsausflug Blaue Lagune: katarinaLine.com oder lokal buchen  ·  Kochkurs: experiencemalta.com  ·  Stadtführung: visitvalletta.mt  ·  Paceville Clubs: hugo.com.mt</a:t>
            </a:r>
            <a:endParaRPr lang="en-US" sz="800" dirty="0"/>
          </a:p>
        </p:txBody>
      </p:sp>
      <p:sp>
        <p:nvSpPr>
          <p:cNvPr id="47" name="Shape 45"/>
          <p:cNvSpPr/>
          <p:nvPr/>
        </p:nvSpPr>
        <p:spPr>
          <a:xfrm>
            <a:off x="0" y="6784848"/>
            <a:ext cx="12192000" cy="73152"/>
          </a:xfrm>
          <a:prstGeom prst="rect">
            <a:avLst/>
          </a:prstGeom>
          <a:solidFill>
            <a:srgbClr val="FF8C00"/>
          </a:solidFill>
          <a:ln w="12700">
            <a:solidFill>
              <a:srgbClr val="FF8C00"/>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1EB4C8"/>
          </a:solidFill>
          <a:ln w="12700">
            <a:solidFill>
              <a:srgbClr val="1EB4C8"/>
            </a:solidFill>
            <a:prstDash val="solid"/>
          </a:ln>
        </p:spPr>
      </p:sp>
      <p:sp>
        <p:nvSpPr>
          <p:cNvPr id="3" name="Shape 1"/>
          <p:cNvSpPr/>
          <p:nvPr/>
        </p:nvSpPr>
        <p:spPr>
          <a:xfrm>
            <a:off x="0" y="73152"/>
            <a:ext cx="12192000" cy="658368"/>
          </a:xfrm>
          <a:prstGeom prst="rect">
            <a:avLst/>
          </a:prstGeom>
          <a:solidFill>
            <a:srgbClr val="16213E"/>
          </a:solidFill>
          <a:ln w="12700">
            <a:solidFill>
              <a:srgbClr val="16213E"/>
            </a:solidFill>
            <a:prstDash val="solid"/>
          </a:ln>
        </p:spPr>
      </p:sp>
      <p:sp>
        <p:nvSpPr>
          <p:cNvPr id="4" name="Text 2"/>
          <p:cNvSpPr/>
          <p:nvPr/>
        </p:nvSpPr>
        <p:spPr>
          <a:xfrm>
            <a:off x="365760" y="73152"/>
            <a:ext cx="11430000" cy="658368"/>
          </a:xfrm>
          <a:prstGeom prst="rect">
            <a:avLst/>
          </a:prstGeom>
          <a:noFill/>
          <a:ln/>
        </p:spPr>
        <p:txBody>
          <a:bodyPr wrap="square"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  MALTA — KOSTENÜBERSICHT</a:t>
            </a:r>
            <a:endParaRPr lang="en-US" sz="2200" dirty="0"/>
          </a:p>
        </p:txBody>
      </p:sp>
      <p:sp>
        <p:nvSpPr>
          <p:cNvPr id="5" name="Shape 3"/>
          <p:cNvSpPr/>
          <p:nvPr/>
        </p:nvSpPr>
        <p:spPr>
          <a:xfrm>
            <a:off x="0" y="731520"/>
            <a:ext cx="12192000" cy="27432"/>
          </a:xfrm>
          <a:prstGeom prst="rect">
            <a:avLst/>
          </a:prstGeom>
          <a:solidFill>
            <a:srgbClr val="1EB4C8"/>
          </a:solidFill>
          <a:ln w="12700">
            <a:solidFill>
              <a:srgbClr val="1EB4C8"/>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932688"/>
          <a:ext cx="11247120" cy="914400"/>
        </p:xfrm>
        <a:graphic>
          <a:graphicData uri="http://schemas.openxmlformats.org/drawingml/2006/table">
            <a:tbl>
              <a:tblPr/>
              <a:tblGrid>
                <a:gridCol w="2286000"/>
                <a:gridCol w="4754880"/>
                <a:gridCol w="1920240"/>
                <a:gridCol w="1920240"/>
              </a:tblGrid>
              <a:tr h="384048">
                <a:tc>
                  <a:txBody>
                    <a:bodyPr/>
                    <a:lstStyle/>
                    <a:p>
                      <a:pPr algn="ctr" indent="0" marL="0">
                        <a:buNone/>
                      </a:pPr>
                      <a:r>
                        <a:rPr lang="en-US" sz="1200" b="1" dirty="0">
                          <a:solidFill>
                            <a:srgbClr val="1EB4C8"/>
                          </a:solidFill>
                          <a:latin typeface="Trebuchet MS" pitchFamily="34" charset="0"/>
                          <a:ea typeface="Trebuchet MS" pitchFamily="34" charset="-122"/>
                          <a:cs typeface="Trebuchet MS" pitchFamily="34" charset="-120"/>
                        </a:rPr>
                        <a:t>Posten</a:t>
                      </a:r>
                      <a:endParaRPr lang="en-US" sz="1200" dirty="0">
                        <a:latin typeface="Trebuchet MS" charset="0"/>
                        <a:ea typeface="Trebuchet MS" charset="0"/>
                        <a:cs typeface="Trebuchet MS"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200" b="1" dirty="0">
                          <a:solidFill>
                            <a:srgbClr val="1EB4C8"/>
                          </a:solidFill>
                          <a:latin typeface="Trebuchet MS" pitchFamily="34" charset="0"/>
                          <a:ea typeface="Trebuchet MS" pitchFamily="34" charset="-122"/>
                          <a:cs typeface="Trebuchet MS" pitchFamily="34" charset="-120"/>
                        </a:rPr>
                        <a:t>Details</a:t>
                      </a:r>
                      <a:endParaRPr lang="en-US" sz="1200" dirty="0">
                        <a:latin typeface="Trebuchet MS" charset="0"/>
                        <a:ea typeface="Trebuchet MS" charset="0"/>
                        <a:cs typeface="Trebuchet MS"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200" b="1" dirty="0">
                          <a:solidFill>
                            <a:srgbClr val="1EB4C8"/>
                          </a:solidFill>
                          <a:latin typeface="Trebuchet MS" pitchFamily="34" charset="0"/>
                          <a:ea typeface="Trebuchet MS" pitchFamily="34" charset="-122"/>
                          <a:cs typeface="Trebuchet MS" pitchFamily="34" charset="-120"/>
                        </a:rPr>
                        <a:t>p.P.</a:t>
                      </a:r>
                      <a:endParaRPr lang="en-US" sz="1200" dirty="0">
                        <a:latin typeface="Trebuchet MS" charset="0"/>
                        <a:ea typeface="Trebuchet MS" charset="0"/>
                        <a:cs typeface="Trebuchet MS"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ctr" indent="0" marL="0">
                        <a:buNone/>
                      </a:pPr>
                      <a:r>
                        <a:rPr lang="en-US" sz="1200" b="1" dirty="0">
                          <a:solidFill>
                            <a:srgbClr val="FF8C00"/>
                          </a:solidFill>
                          <a:latin typeface="Trebuchet MS" pitchFamily="34" charset="0"/>
                          <a:ea typeface="Trebuchet MS" pitchFamily="34" charset="-122"/>
                          <a:cs typeface="Trebuchet MS" pitchFamily="34" charset="-120"/>
                        </a:rPr>
                        <a:t>Gesamt ×4</a:t>
                      </a:r>
                      <a:endParaRPr lang="en-US" sz="1200" dirty="0">
                        <a:latin typeface="Trebuchet MS" charset="0"/>
                        <a:ea typeface="Trebuchet MS" charset="0"/>
                        <a:cs typeface="Trebuchet MS"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r>
              <a:tr h="429768">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Hin- und Rückflug</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Ryanair  FMO/DTM ↔ MLA  (+ Anfahrt ~€15)</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~€140</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~€560</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r>
              <a:tr h="429768">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Unterkunft</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Airbnb St. Julian's — 3 Nächte (inkl. Gebühren)</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~€89</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~€355</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r>
              <a:tr h="429768">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Halloween-Party</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Paceville Clubeintritt (31. Okt.) — meist günstiger</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~€60</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r>
              <a:tr h="429768">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Kochkurs</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Maltesische Küche — Fenek + Pastizzi + Wein</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€260</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r>
              <a:tr h="429768">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Bootsausflug</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Blaue Lagune (31. Okt. tagsüber)</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€140</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r>
              <a:tr h="429768">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Stadtführung</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Valletta Free Tour (Trinkgeld)</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r>
              <a:tr h="429768">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Essen (3 Tage)</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Fisch, Pasta, Pastizzi, Hafenrestaurants</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~€95</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~€380</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r>
              <a:tr h="429768">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Getränke &amp; Ausgehen</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Paceville Clubs + Strandbar (3 Nächte)</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~€110</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~€440</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A1A2E"/>
                    </a:solidFill>
                  </a:tcPr>
                </a:tc>
              </a:tr>
              <a:tr h="429768">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Sonstiges</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l" indent="0" marL="0">
                        <a:buNone/>
                      </a:pPr>
                      <a:r>
                        <a:rPr lang="en-US" sz="1100" dirty="0">
                          <a:solidFill>
                            <a:srgbClr val="E8E8E8"/>
                          </a:solidFill>
                          <a:latin typeface="Calibri" pitchFamily="34" charset="0"/>
                          <a:ea typeface="Calibri" pitchFamily="34" charset="-122"/>
                          <a:cs typeface="Calibri" pitchFamily="34" charset="-120"/>
                        </a:rPr>
                        <a:t>Taxi Flughafen, Bus, Souvenirs</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c>
                  <a:txBody>
                    <a:bodyPr/>
                    <a:lstStyle/>
                    <a:p>
                      <a:pPr algn="r" indent="0" marL="0">
                        <a:buNone/>
                      </a:pPr>
                      <a:r>
                        <a:rPr lang="en-US" sz="1100" dirty="0">
                          <a:solidFill>
                            <a:srgbClr val="E8E8E8"/>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16213E"/>
                    </a:solidFill>
                  </a:tcPr>
                </a:tc>
              </a:tr>
              <a:tr h="429768">
                <a:tc>
                  <a:txBody>
                    <a:bodyPr/>
                    <a:lstStyle/>
                    <a:p>
                      <a:pPr algn="l" indent="0" marL="0">
                        <a:buNone/>
                      </a:pPr>
                      <a:r>
                        <a:rPr lang="en-US" sz="1300" b="1" dirty="0">
                          <a:solidFill>
                            <a:srgbClr val="FFFFFF"/>
                          </a:solidFill>
                          <a:latin typeface="Trebuchet MS" pitchFamily="34" charset="0"/>
                          <a:ea typeface="Trebuchet MS" pitchFamily="34" charset="-122"/>
                          <a:cs typeface="Trebuchet MS" pitchFamily="34" charset="-120"/>
                        </a:rPr>
                        <a:t>🏆  GESAMTSCHÄTZUNG</a:t>
                      </a:r>
                      <a:endParaRPr lang="en-US" sz="1300" dirty="0">
                        <a:latin typeface="Trebuchet MS" charset="0"/>
                        <a:ea typeface="Trebuchet MS" charset="0"/>
                        <a:cs typeface="Trebuchet MS"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l" indent="0" marL="0">
                        <a:buNone/>
                      </a:pPr>
                      <a:r>
                        <a:rPr lang="en-US" sz="1300" b="1" dirty="0">
                          <a:solidFill>
                            <a:srgbClr val="9CA3AF"/>
                          </a:solidFill>
                          <a:latin typeface="Trebuchet MS" pitchFamily="34" charset="0"/>
                          <a:ea typeface="Trebuchet MS" pitchFamily="34" charset="-122"/>
                          <a:cs typeface="Trebuchet MS" pitchFamily="34" charset="-120"/>
                        </a:rPr>
                        <a:t>Malta, 30. Okt. – 2. Nov. 2025</a:t>
                      </a:r>
                      <a:endParaRPr lang="en-US" sz="1300" dirty="0">
                        <a:latin typeface="Trebuchet MS" charset="0"/>
                        <a:ea typeface="Trebuchet MS" charset="0"/>
                        <a:cs typeface="Trebuchet MS"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r" indent="0" marL="0">
                        <a:buNone/>
                      </a:pPr>
                      <a:r>
                        <a:rPr lang="en-US" sz="1300" b="1" dirty="0">
                          <a:solidFill>
                            <a:srgbClr val="1EB4C8"/>
                          </a:solidFill>
                          <a:latin typeface="Trebuchet MS" pitchFamily="34" charset="0"/>
                          <a:ea typeface="Trebuchet MS" pitchFamily="34" charset="-122"/>
                          <a:cs typeface="Trebuchet MS" pitchFamily="34" charset="-120"/>
                        </a:rPr>
                        <a:t>~€586</a:t>
                      </a:r>
                      <a:endParaRPr lang="en-US" sz="1300" dirty="0">
                        <a:latin typeface="Trebuchet MS" charset="0"/>
                        <a:ea typeface="Trebuchet MS" charset="0"/>
                        <a:cs typeface="Trebuchet MS"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c>
                  <a:txBody>
                    <a:bodyPr/>
                    <a:lstStyle/>
                    <a:p>
                      <a:pPr algn="r" indent="0" marL="0">
                        <a:buNone/>
                      </a:pPr>
                      <a:r>
                        <a:rPr lang="en-US" sz="1300" b="1" dirty="0">
                          <a:solidFill>
                            <a:srgbClr val="FF8C00"/>
                          </a:solidFill>
                          <a:latin typeface="Trebuchet MS" pitchFamily="34" charset="0"/>
                          <a:ea typeface="Trebuchet MS" pitchFamily="34" charset="-122"/>
                          <a:cs typeface="Trebuchet MS" pitchFamily="34" charset="-120"/>
                        </a:rPr>
                        <a:t>~€2.344</a:t>
                      </a:r>
                      <a:endParaRPr lang="en-US" sz="1300" dirty="0">
                        <a:latin typeface="Trebuchet MS" charset="0"/>
                        <a:ea typeface="Trebuchet MS" charset="0"/>
                        <a:cs typeface="Trebuchet MS" charset="0"/>
                      </a:endParaRPr>
                    </a:p>
                  </a:txBody>
                  <a:tcPr marL="91440" marR="91440" marT="45720" marB="45720" anchor="ctr">
                    <a:lnL w="12700" cap="flat" cmpd="sng" algn="ctr">
                      <a:solidFill>
                        <a:srgbClr val="0F3460"/>
                      </a:solidFill>
                      <a:prstDash val="solid"/>
                      <a:round/>
                      <a:headEnd type="none" w="med" len="med"/>
                      <a:tailEnd type="none" w="med" len="med"/>
                    </a:lnL>
                    <a:lnR w="12700" cap="flat" cmpd="sng" algn="ctr">
                      <a:solidFill>
                        <a:srgbClr val="0F3460"/>
                      </a:solidFill>
                      <a:prstDash val="solid"/>
                      <a:round/>
                      <a:headEnd type="none" w="med" len="med"/>
                      <a:tailEnd type="none" w="med" len="med"/>
                    </a:lnR>
                    <a:lnT w="12700" cap="flat" cmpd="sng" algn="ctr">
                      <a:solidFill>
                        <a:srgbClr val="0F3460"/>
                      </a:solidFill>
                      <a:prstDash val="solid"/>
                      <a:round/>
                      <a:headEnd type="none" w="med" len="med"/>
                      <a:tailEnd type="none" w="med" len="med"/>
                    </a:lnT>
                    <a:lnB w="12700" cap="flat" cmpd="sng" algn="ctr">
                      <a:solidFill>
                        <a:srgbClr val="0F3460"/>
                      </a:solidFill>
                      <a:prstDash val="solid"/>
                      <a:round/>
                      <a:headEnd type="none" w="med" len="med"/>
                      <a:tailEnd type="none" w="med" len="med"/>
                    </a:lnB>
                    <a:solidFill>
                      <a:srgbClr val="0F3460"/>
                    </a:solidFill>
                  </a:tcPr>
                </a:tc>
              </a:tr>
            </a:tbl>
          </a:graphicData>
        </a:graphic>
      </p:graphicFrame>
      <p:sp>
        <p:nvSpPr>
          <p:cNvPr id="7" name="Shape 4"/>
          <p:cNvSpPr/>
          <p:nvPr/>
        </p:nvSpPr>
        <p:spPr>
          <a:xfrm>
            <a:off x="457200" y="5687568"/>
            <a:ext cx="11247120" cy="594360"/>
          </a:xfrm>
          <a:prstGeom prst="rect">
            <a:avLst/>
          </a:prstGeom>
          <a:solidFill>
            <a:srgbClr val="16213E"/>
          </a:solidFill>
          <a:ln w="12700">
            <a:solidFill>
              <a:srgbClr val="1EB4C8"/>
            </a:solidFill>
            <a:prstDash val="solid"/>
          </a:ln>
        </p:spPr>
      </p:sp>
      <p:sp>
        <p:nvSpPr>
          <p:cNvPr id="8" name="Text 5"/>
          <p:cNvSpPr/>
          <p:nvPr/>
        </p:nvSpPr>
        <p:spPr>
          <a:xfrm>
            <a:off x="594360" y="5733288"/>
            <a:ext cx="10972800" cy="502920"/>
          </a:xfrm>
          <a:prstGeom prst="rect">
            <a:avLst/>
          </a:prstGeom>
          <a:noFill/>
          <a:ln/>
        </p:spPr>
        <p:txBody>
          <a:bodyPr wrap="square" rtlCol="0" anchor="ctr"/>
          <a:lstStyle/>
          <a:p>
            <a:pPr indent="0" marL="0">
              <a:buNone/>
            </a:pPr>
            <a:r>
              <a:rPr lang="en-US" sz="1050" dirty="0">
                <a:solidFill>
                  <a:srgbClr val="9CA3AF"/>
                </a:solidFill>
                <a:latin typeface="Calibri" pitchFamily="34" charset="0"/>
                <a:ea typeface="Calibri" pitchFamily="34" charset="-122"/>
                <a:cs typeface="Calibri" pitchFamily="34" charset="-120"/>
              </a:rPr>
              <a:t>💡 Günstigste Unterkunft dieser Auswahl!  Cisk-Bier ab €2,50.  Pastizzi (maltesisches Gebäck) für €0,50.  Baden im Mittelmeer noch möglich!  Blaue Lagune ist eines der schönsten Gewässer Europas.</a:t>
            </a:r>
            <a:endParaRPr lang="en-US" sz="1050" dirty="0"/>
          </a:p>
        </p:txBody>
      </p:sp>
      <p:sp>
        <p:nvSpPr>
          <p:cNvPr id="9" name="Shape 6"/>
          <p:cNvSpPr/>
          <p:nvPr/>
        </p:nvSpPr>
        <p:spPr>
          <a:xfrm>
            <a:off x="0" y="6784848"/>
            <a:ext cx="12192000" cy="73152"/>
          </a:xfrm>
          <a:prstGeom prst="rect">
            <a:avLst/>
          </a:prstGeom>
          <a:solidFill>
            <a:srgbClr val="FF8C00"/>
          </a:solidFill>
          <a:ln w="12700">
            <a:solidFill>
              <a:srgbClr val="FF8C00"/>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FF8C00"/>
          </a:solidFill>
          <a:ln w="12700">
            <a:solidFill>
              <a:srgbClr val="FF8C00"/>
            </a:solidFill>
            <a:prstDash val="solid"/>
          </a:ln>
        </p:spPr>
      </p:sp>
      <p:sp>
        <p:nvSpPr>
          <p:cNvPr id="3" name="Shape 1"/>
          <p:cNvSpPr/>
          <p:nvPr/>
        </p:nvSpPr>
        <p:spPr>
          <a:xfrm>
            <a:off x="0" y="73152"/>
            <a:ext cx="12192000" cy="658368"/>
          </a:xfrm>
          <a:prstGeom prst="rect">
            <a:avLst/>
          </a:prstGeom>
          <a:solidFill>
            <a:srgbClr val="16213E"/>
          </a:solidFill>
          <a:ln w="12700">
            <a:solidFill>
              <a:srgbClr val="16213E"/>
            </a:solidFill>
            <a:prstDash val="solid"/>
          </a:ln>
        </p:spPr>
      </p:sp>
      <p:sp>
        <p:nvSpPr>
          <p:cNvPr id="4" name="Text 2"/>
          <p:cNvSpPr/>
          <p:nvPr/>
        </p:nvSpPr>
        <p:spPr>
          <a:xfrm>
            <a:off x="365760" y="73152"/>
            <a:ext cx="11430000" cy="658368"/>
          </a:xfrm>
          <a:prstGeom prst="rect">
            <a:avLst/>
          </a:prstGeom>
          <a:noFill/>
          <a:ln/>
        </p:spPr>
        <p:txBody>
          <a:bodyPr wrap="square"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  DIREKTVERGLEICH — LISSABON vs. MALTA</a:t>
            </a:r>
            <a:endParaRPr lang="en-US" sz="2200" dirty="0"/>
          </a:p>
        </p:txBody>
      </p:sp>
      <p:sp>
        <p:nvSpPr>
          <p:cNvPr id="5" name="Shape 3"/>
          <p:cNvSpPr/>
          <p:nvPr/>
        </p:nvSpPr>
        <p:spPr>
          <a:xfrm>
            <a:off x="0" y="731520"/>
            <a:ext cx="12192000" cy="27432"/>
          </a:xfrm>
          <a:prstGeom prst="rect">
            <a:avLst/>
          </a:prstGeom>
          <a:solidFill>
            <a:srgbClr val="FF8C00"/>
          </a:solidFill>
          <a:ln w="12700">
            <a:solidFill>
              <a:srgbClr val="FF8C00"/>
            </a:solidFill>
            <a:prstDash val="solid"/>
          </a:ln>
        </p:spPr>
      </p:sp>
      <p:sp>
        <p:nvSpPr>
          <p:cNvPr id="6" name="Shape 4"/>
          <p:cNvSpPr/>
          <p:nvPr/>
        </p:nvSpPr>
        <p:spPr>
          <a:xfrm>
            <a:off x="3429000" y="777240"/>
            <a:ext cx="4160520" cy="512064"/>
          </a:xfrm>
          <a:prstGeom prst="rect">
            <a:avLst/>
          </a:prstGeom>
          <a:solidFill>
            <a:srgbClr val="0F3460"/>
          </a:solidFill>
          <a:ln w="12700">
            <a:solidFill>
              <a:srgbClr val="FF8C00"/>
            </a:solidFill>
            <a:prstDash val="solid"/>
          </a:ln>
        </p:spPr>
      </p:sp>
      <p:sp>
        <p:nvSpPr>
          <p:cNvPr id="7" name="Text 5"/>
          <p:cNvSpPr/>
          <p:nvPr/>
        </p:nvSpPr>
        <p:spPr>
          <a:xfrm>
            <a:off x="3429000" y="777240"/>
            <a:ext cx="4160520" cy="512064"/>
          </a:xfrm>
          <a:prstGeom prst="rect">
            <a:avLst/>
          </a:prstGeom>
          <a:noFill/>
          <a:ln/>
        </p:spPr>
        <p:txBody>
          <a:bodyPr wrap="square" rtlCol="0" anchor="ctr"/>
          <a:lstStyle/>
          <a:p>
            <a:pPr algn="ctr" indent="0" marL="0">
              <a:buNone/>
            </a:pPr>
            <a:r>
              <a:rPr lang="en-US" sz="1800" b="1" dirty="0">
                <a:solidFill>
                  <a:srgbClr val="FF8C00"/>
                </a:solidFill>
                <a:latin typeface="Trebuchet MS" pitchFamily="34" charset="0"/>
                <a:ea typeface="Trebuchet MS" pitchFamily="34" charset="-122"/>
                <a:cs typeface="Trebuchet MS" pitchFamily="34" charset="-120"/>
              </a:rPr>
              <a:t>🇵🇹 LISSABON</a:t>
            </a:r>
            <a:endParaRPr lang="en-US" sz="1800" dirty="0"/>
          </a:p>
        </p:txBody>
      </p:sp>
      <p:sp>
        <p:nvSpPr>
          <p:cNvPr id="8" name="Shape 6"/>
          <p:cNvSpPr/>
          <p:nvPr/>
        </p:nvSpPr>
        <p:spPr>
          <a:xfrm>
            <a:off x="7680960" y="777240"/>
            <a:ext cx="4160520" cy="512064"/>
          </a:xfrm>
          <a:prstGeom prst="rect">
            <a:avLst/>
          </a:prstGeom>
          <a:solidFill>
            <a:srgbClr val="0F3460"/>
          </a:solidFill>
          <a:ln w="12700">
            <a:solidFill>
              <a:srgbClr val="1EB4C8"/>
            </a:solidFill>
            <a:prstDash val="solid"/>
          </a:ln>
        </p:spPr>
      </p:sp>
      <p:sp>
        <p:nvSpPr>
          <p:cNvPr id="9" name="Text 7"/>
          <p:cNvSpPr/>
          <p:nvPr/>
        </p:nvSpPr>
        <p:spPr>
          <a:xfrm>
            <a:off x="7680960" y="777240"/>
            <a:ext cx="4160520" cy="512064"/>
          </a:xfrm>
          <a:prstGeom prst="rect">
            <a:avLst/>
          </a:prstGeom>
          <a:noFill/>
          <a:ln/>
        </p:spPr>
        <p:txBody>
          <a:bodyPr wrap="square" rtlCol="0" anchor="ctr"/>
          <a:lstStyle/>
          <a:p>
            <a:pPr algn="ctr" indent="0" marL="0">
              <a:buNone/>
            </a:pPr>
            <a:r>
              <a:rPr lang="en-US" sz="1800" b="1" dirty="0">
                <a:solidFill>
                  <a:srgbClr val="1EB4C8"/>
                </a:solidFill>
                <a:latin typeface="Trebuchet MS" pitchFamily="34" charset="0"/>
                <a:ea typeface="Trebuchet MS" pitchFamily="34" charset="-122"/>
                <a:cs typeface="Trebuchet MS" pitchFamily="34" charset="-120"/>
              </a:rPr>
              <a:t>🇲🇹 MALTA</a:t>
            </a:r>
            <a:endParaRPr lang="en-US" sz="1800" dirty="0"/>
          </a:p>
        </p:txBody>
      </p:sp>
      <p:sp>
        <p:nvSpPr>
          <p:cNvPr id="10" name="Shape 8"/>
          <p:cNvSpPr/>
          <p:nvPr/>
        </p:nvSpPr>
        <p:spPr>
          <a:xfrm>
            <a:off x="274320" y="1325880"/>
            <a:ext cx="3108960" cy="457200"/>
          </a:xfrm>
          <a:prstGeom prst="rect">
            <a:avLst/>
          </a:prstGeom>
          <a:solidFill>
            <a:srgbClr val="16213E"/>
          </a:solidFill>
          <a:ln w="12700">
            <a:solidFill>
              <a:srgbClr val="0F3460"/>
            </a:solidFill>
            <a:prstDash val="solid"/>
          </a:ln>
        </p:spPr>
      </p:sp>
      <p:sp>
        <p:nvSpPr>
          <p:cNvPr id="11" name="Text 9"/>
          <p:cNvSpPr/>
          <p:nvPr/>
        </p:nvSpPr>
        <p:spPr>
          <a:xfrm>
            <a:off x="365760" y="1325880"/>
            <a:ext cx="2971800" cy="457200"/>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 Kosten p.P.</a:t>
            </a:r>
            <a:endParaRPr lang="en-US" sz="1000" dirty="0"/>
          </a:p>
        </p:txBody>
      </p:sp>
      <p:sp>
        <p:nvSpPr>
          <p:cNvPr id="12" name="Shape 10"/>
          <p:cNvSpPr/>
          <p:nvPr/>
        </p:nvSpPr>
        <p:spPr>
          <a:xfrm>
            <a:off x="3429000" y="1325880"/>
            <a:ext cx="4160520" cy="457200"/>
          </a:xfrm>
          <a:prstGeom prst="rect">
            <a:avLst/>
          </a:prstGeom>
          <a:solidFill>
            <a:srgbClr val="16213E"/>
          </a:solidFill>
          <a:ln w="12700">
            <a:solidFill>
              <a:srgbClr val="0F3460"/>
            </a:solidFill>
            <a:prstDash val="solid"/>
          </a:ln>
        </p:spPr>
      </p:sp>
      <p:sp>
        <p:nvSpPr>
          <p:cNvPr id="13" name="Text 11"/>
          <p:cNvSpPr/>
          <p:nvPr/>
        </p:nvSpPr>
        <p:spPr>
          <a:xfrm>
            <a:off x="3520440" y="1325880"/>
            <a:ext cx="3977640" cy="457200"/>
          </a:xfrm>
          <a:prstGeom prst="rect">
            <a:avLst/>
          </a:prstGeom>
          <a:noFill/>
          <a:ln/>
        </p:spPr>
        <p:txBody>
          <a:bodyPr wrap="square" rtlCol="0" anchor="ctr"/>
          <a:lstStyle/>
          <a:p>
            <a:pPr algn="ctr" indent="0" marL="0">
              <a:buNone/>
            </a:pPr>
            <a:r>
              <a:rPr lang="en-US" sz="1000" dirty="0">
                <a:solidFill>
                  <a:srgbClr val="E8E8E8"/>
                </a:solidFill>
                <a:latin typeface="Calibri" pitchFamily="34" charset="0"/>
                <a:ea typeface="Calibri" pitchFamily="34" charset="-122"/>
                <a:cs typeface="Calibri" pitchFamily="34" charset="-120"/>
              </a:rPr>
              <a:t>~€735</a:t>
            </a:r>
            <a:endParaRPr lang="en-US" sz="1000" dirty="0"/>
          </a:p>
        </p:txBody>
      </p:sp>
      <p:sp>
        <p:nvSpPr>
          <p:cNvPr id="14" name="Shape 12"/>
          <p:cNvSpPr/>
          <p:nvPr/>
        </p:nvSpPr>
        <p:spPr>
          <a:xfrm>
            <a:off x="7680960" y="1325880"/>
            <a:ext cx="4160520" cy="457200"/>
          </a:xfrm>
          <a:prstGeom prst="rect">
            <a:avLst/>
          </a:prstGeom>
          <a:solidFill>
            <a:srgbClr val="16213E"/>
          </a:solidFill>
          <a:ln w="12700">
            <a:solidFill>
              <a:srgbClr val="0F3460"/>
            </a:solidFill>
            <a:prstDash val="solid"/>
          </a:ln>
        </p:spPr>
      </p:sp>
      <p:sp>
        <p:nvSpPr>
          <p:cNvPr id="15" name="Text 13"/>
          <p:cNvSpPr/>
          <p:nvPr/>
        </p:nvSpPr>
        <p:spPr>
          <a:xfrm>
            <a:off x="7772400" y="1325880"/>
            <a:ext cx="3977640" cy="457200"/>
          </a:xfrm>
          <a:prstGeom prst="rect">
            <a:avLst/>
          </a:prstGeom>
          <a:noFill/>
          <a:ln/>
        </p:spPr>
        <p:txBody>
          <a:bodyPr wrap="square" rtlCol="0" anchor="ctr"/>
          <a:lstStyle/>
          <a:p>
            <a:pPr algn="ctr" indent="0" marL="0">
              <a:buNone/>
            </a:pPr>
            <a:r>
              <a:rPr lang="en-US" sz="1000" dirty="0">
                <a:solidFill>
                  <a:srgbClr val="E8E8E8"/>
                </a:solidFill>
                <a:latin typeface="Calibri" pitchFamily="34" charset="0"/>
                <a:ea typeface="Calibri" pitchFamily="34" charset="-122"/>
                <a:cs typeface="Calibri" pitchFamily="34" charset="-120"/>
              </a:rPr>
              <a:t>~€586</a:t>
            </a:r>
            <a:endParaRPr lang="en-US" sz="1000" dirty="0"/>
          </a:p>
        </p:txBody>
      </p:sp>
      <p:sp>
        <p:nvSpPr>
          <p:cNvPr id="16" name="Shape 14"/>
          <p:cNvSpPr/>
          <p:nvPr/>
        </p:nvSpPr>
        <p:spPr>
          <a:xfrm>
            <a:off x="274320" y="1783080"/>
            <a:ext cx="3108960" cy="457200"/>
          </a:xfrm>
          <a:prstGeom prst="rect">
            <a:avLst/>
          </a:prstGeom>
          <a:solidFill>
            <a:srgbClr val="1A1A2E"/>
          </a:solidFill>
          <a:ln w="12700">
            <a:solidFill>
              <a:srgbClr val="0F3460"/>
            </a:solidFill>
            <a:prstDash val="solid"/>
          </a:ln>
        </p:spPr>
      </p:sp>
      <p:sp>
        <p:nvSpPr>
          <p:cNvPr id="17" name="Text 15"/>
          <p:cNvSpPr/>
          <p:nvPr/>
        </p:nvSpPr>
        <p:spPr>
          <a:xfrm>
            <a:off x="365760" y="1783080"/>
            <a:ext cx="2971800" cy="457200"/>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 Flugdauer</a:t>
            </a:r>
            <a:endParaRPr lang="en-US" sz="1000" dirty="0"/>
          </a:p>
        </p:txBody>
      </p:sp>
      <p:sp>
        <p:nvSpPr>
          <p:cNvPr id="18" name="Shape 16"/>
          <p:cNvSpPr/>
          <p:nvPr/>
        </p:nvSpPr>
        <p:spPr>
          <a:xfrm>
            <a:off x="3429000" y="1783080"/>
            <a:ext cx="4160520" cy="457200"/>
          </a:xfrm>
          <a:prstGeom prst="rect">
            <a:avLst/>
          </a:prstGeom>
          <a:solidFill>
            <a:srgbClr val="1A1A2E"/>
          </a:solidFill>
          <a:ln w="12700">
            <a:solidFill>
              <a:srgbClr val="0F3460"/>
            </a:solidFill>
            <a:prstDash val="solid"/>
          </a:ln>
        </p:spPr>
      </p:sp>
      <p:sp>
        <p:nvSpPr>
          <p:cNvPr id="19" name="Text 17"/>
          <p:cNvSpPr/>
          <p:nvPr/>
        </p:nvSpPr>
        <p:spPr>
          <a:xfrm>
            <a:off x="3520440" y="1783080"/>
            <a:ext cx="3977640" cy="457200"/>
          </a:xfrm>
          <a:prstGeom prst="rect">
            <a:avLst/>
          </a:prstGeom>
          <a:noFill/>
          <a:ln/>
        </p:spPr>
        <p:txBody>
          <a:bodyPr wrap="square" rtlCol="0" anchor="ctr"/>
          <a:lstStyle/>
          <a:p>
            <a:pPr algn="ctr" indent="0" marL="0">
              <a:buNone/>
            </a:pPr>
            <a:r>
              <a:rPr lang="en-US" sz="1000" dirty="0">
                <a:solidFill>
                  <a:srgbClr val="E8E8E8"/>
                </a:solidFill>
                <a:latin typeface="Calibri" pitchFamily="34" charset="0"/>
                <a:ea typeface="Calibri" pitchFamily="34" charset="-122"/>
                <a:cs typeface="Calibri" pitchFamily="34" charset="-120"/>
              </a:rPr>
              <a:t>3h 10m  ab DUS</a:t>
            </a:r>
            <a:endParaRPr lang="en-US" sz="1000" dirty="0"/>
          </a:p>
        </p:txBody>
      </p:sp>
      <p:sp>
        <p:nvSpPr>
          <p:cNvPr id="20" name="Shape 18"/>
          <p:cNvSpPr/>
          <p:nvPr/>
        </p:nvSpPr>
        <p:spPr>
          <a:xfrm>
            <a:off x="7680960" y="1783080"/>
            <a:ext cx="4160520" cy="457200"/>
          </a:xfrm>
          <a:prstGeom prst="rect">
            <a:avLst/>
          </a:prstGeom>
          <a:solidFill>
            <a:srgbClr val="1A1A2E"/>
          </a:solidFill>
          <a:ln w="12700">
            <a:solidFill>
              <a:srgbClr val="0F3460"/>
            </a:solidFill>
            <a:prstDash val="solid"/>
          </a:ln>
        </p:spPr>
      </p:sp>
      <p:sp>
        <p:nvSpPr>
          <p:cNvPr id="21" name="Text 19"/>
          <p:cNvSpPr/>
          <p:nvPr/>
        </p:nvSpPr>
        <p:spPr>
          <a:xfrm>
            <a:off x="7772400" y="1783080"/>
            <a:ext cx="3977640" cy="457200"/>
          </a:xfrm>
          <a:prstGeom prst="rect">
            <a:avLst/>
          </a:prstGeom>
          <a:noFill/>
          <a:ln/>
        </p:spPr>
        <p:txBody>
          <a:bodyPr wrap="square" rtlCol="0" anchor="ctr"/>
          <a:lstStyle/>
          <a:p>
            <a:pPr algn="ctr" indent="0" marL="0">
              <a:buNone/>
            </a:pPr>
            <a:r>
              <a:rPr lang="en-US" sz="1000" dirty="0">
                <a:solidFill>
                  <a:srgbClr val="E8E8E8"/>
                </a:solidFill>
                <a:latin typeface="Calibri" pitchFamily="34" charset="0"/>
                <a:ea typeface="Calibri" pitchFamily="34" charset="-122"/>
                <a:cs typeface="Calibri" pitchFamily="34" charset="-120"/>
              </a:rPr>
              <a:t>~3h 00m  ab FMO/DTM</a:t>
            </a:r>
            <a:endParaRPr lang="en-US" sz="1000" dirty="0"/>
          </a:p>
        </p:txBody>
      </p:sp>
      <p:sp>
        <p:nvSpPr>
          <p:cNvPr id="22" name="Shape 20"/>
          <p:cNvSpPr/>
          <p:nvPr/>
        </p:nvSpPr>
        <p:spPr>
          <a:xfrm>
            <a:off x="274320" y="2240280"/>
            <a:ext cx="3108960" cy="457200"/>
          </a:xfrm>
          <a:prstGeom prst="rect">
            <a:avLst/>
          </a:prstGeom>
          <a:solidFill>
            <a:srgbClr val="16213E"/>
          </a:solidFill>
          <a:ln w="12700">
            <a:solidFill>
              <a:srgbClr val="0F3460"/>
            </a:solidFill>
            <a:prstDash val="solid"/>
          </a:ln>
        </p:spPr>
      </p:sp>
      <p:sp>
        <p:nvSpPr>
          <p:cNvPr id="23" name="Text 21"/>
          <p:cNvSpPr/>
          <p:nvPr/>
        </p:nvSpPr>
        <p:spPr>
          <a:xfrm>
            <a:off x="365760" y="2240280"/>
            <a:ext cx="2971800" cy="457200"/>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 Flughafen</a:t>
            </a:r>
            <a:endParaRPr lang="en-US" sz="1000" dirty="0"/>
          </a:p>
        </p:txBody>
      </p:sp>
      <p:sp>
        <p:nvSpPr>
          <p:cNvPr id="24" name="Shape 22"/>
          <p:cNvSpPr/>
          <p:nvPr/>
        </p:nvSpPr>
        <p:spPr>
          <a:xfrm>
            <a:off x="3429000" y="2240280"/>
            <a:ext cx="4160520" cy="457200"/>
          </a:xfrm>
          <a:prstGeom prst="rect">
            <a:avLst/>
          </a:prstGeom>
          <a:solidFill>
            <a:srgbClr val="16213E"/>
          </a:solidFill>
          <a:ln w="12700">
            <a:solidFill>
              <a:srgbClr val="0F3460"/>
            </a:solidFill>
            <a:prstDash val="solid"/>
          </a:ln>
        </p:spPr>
      </p:sp>
      <p:sp>
        <p:nvSpPr>
          <p:cNvPr id="25" name="Text 23"/>
          <p:cNvSpPr/>
          <p:nvPr/>
        </p:nvSpPr>
        <p:spPr>
          <a:xfrm>
            <a:off x="3520440" y="2240280"/>
            <a:ext cx="3977640" cy="457200"/>
          </a:xfrm>
          <a:prstGeom prst="rect">
            <a:avLst/>
          </a:prstGeom>
          <a:noFill/>
          <a:ln/>
        </p:spPr>
        <p:txBody>
          <a:bodyPr wrap="square" rtlCol="0" anchor="ctr"/>
          <a:lstStyle/>
          <a:p>
            <a:pPr algn="ctr" indent="0" marL="0">
              <a:buNone/>
            </a:pPr>
            <a:r>
              <a:rPr lang="en-US" sz="1000" dirty="0">
                <a:solidFill>
                  <a:srgbClr val="E8E8E8"/>
                </a:solidFill>
                <a:latin typeface="Calibri" pitchFamily="34" charset="0"/>
                <a:ea typeface="Calibri" pitchFamily="34" charset="-122"/>
                <a:cs typeface="Calibri" pitchFamily="34" charset="-120"/>
              </a:rPr>
              <a:t>DUS — Eurowings / TAP</a:t>
            </a:r>
            <a:endParaRPr lang="en-US" sz="1000" dirty="0"/>
          </a:p>
        </p:txBody>
      </p:sp>
      <p:sp>
        <p:nvSpPr>
          <p:cNvPr id="26" name="Shape 24"/>
          <p:cNvSpPr/>
          <p:nvPr/>
        </p:nvSpPr>
        <p:spPr>
          <a:xfrm>
            <a:off x="7680960" y="2240280"/>
            <a:ext cx="4160520" cy="457200"/>
          </a:xfrm>
          <a:prstGeom prst="rect">
            <a:avLst/>
          </a:prstGeom>
          <a:solidFill>
            <a:srgbClr val="16213E"/>
          </a:solidFill>
          <a:ln w="12700">
            <a:solidFill>
              <a:srgbClr val="0F3460"/>
            </a:solidFill>
            <a:prstDash val="solid"/>
          </a:ln>
        </p:spPr>
      </p:sp>
      <p:sp>
        <p:nvSpPr>
          <p:cNvPr id="27" name="Text 25"/>
          <p:cNvSpPr/>
          <p:nvPr/>
        </p:nvSpPr>
        <p:spPr>
          <a:xfrm>
            <a:off x="7772400" y="2240280"/>
            <a:ext cx="3977640" cy="457200"/>
          </a:xfrm>
          <a:prstGeom prst="rect">
            <a:avLst/>
          </a:prstGeom>
          <a:noFill/>
          <a:ln/>
        </p:spPr>
        <p:txBody>
          <a:bodyPr wrap="square" rtlCol="0" anchor="ctr"/>
          <a:lstStyle/>
          <a:p>
            <a:pPr algn="ctr" indent="0" marL="0">
              <a:buNone/>
            </a:pPr>
            <a:r>
              <a:rPr lang="en-US" sz="1000" dirty="0">
                <a:solidFill>
                  <a:srgbClr val="E8E8E8"/>
                </a:solidFill>
                <a:latin typeface="Calibri" pitchFamily="34" charset="0"/>
                <a:ea typeface="Calibri" pitchFamily="34" charset="-122"/>
                <a:cs typeface="Calibri" pitchFamily="34" charset="-120"/>
              </a:rPr>
              <a:t>FMO oder DTM — Ryanair direkt</a:t>
            </a:r>
            <a:endParaRPr lang="en-US" sz="1000" dirty="0"/>
          </a:p>
        </p:txBody>
      </p:sp>
      <p:sp>
        <p:nvSpPr>
          <p:cNvPr id="28" name="Shape 26"/>
          <p:cNvSpPr/>
          <p:nvPr/>
        </p:nvSpPr>
        <p:spPr>
          <a:xfrm>
            <a:off x="274320" y="2697480"/>
            <a:ext cx="3108960" cy="457200"/>
          </a:xfrm>
          <a:prstGeom prst="rect">
            <a:avLst/>
          </a:prstGeom>
          <a:solidFill>
            <a:srgbClr val="1A1A2E"/>
          </a:solidFill>
          <a:ln w="12700">
            <a:solidFill>
              <a:srgbClr val="0F3460"/>
            </a:solidFill>
            <a:prstDash val="solid"/>
          </a:ln>
        </p:spPr>
      </p:sp>
      <p:sp>
        <p:nvSpPr>
          <p:cNvPr id="29" name="Text 27"/>
          <p:cNvSpPr/>
          <p:nvPr/>
        </p:nvSpPr>
        <p:spPr>
          <a:xfrm>
            <a:off x="365760" y="2697480"/>
            <a:ext cx="2971800" cy="457200"/>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 Bierpreis</a:t>
            </a:r>
            <a:endParaRPr lang="en-US" sz="1000" dirty="0"/>
          </a:p>
        </p:txBody>
      </p:sp>
      <p:sp>
        <p:nvSpPr>
          <p:cNvPr id="30" name="Shape 28"/>
          <p:cNvSpPr/>
          <p:nvPr/>
        </p:nvSpPr>
        <p:spPr>
          <a:xfrm>
            <a:off x="3429000" y="2697480"/>
            <a:ext cx="4160520" cy="457200"/>
          </a:xfrm>
          <a:prstGeom prst="rect">
            <a:avLst/>
          </a:prstGeom>
          <a:solidFill>
            <a:srgbClr val="1A1A2E"/>
          </a:solidFill>
          <a:ln w="12700">
            <a:solidFill>
              <a:srgbClr val="0F3460"/>
            </a:solidFill>
            <a:prstDash val="solid"/>
          </a:ln>
        </p:spPr>
      </p:sp>
      <p:sp>
        <p:nvSpPr>
          <p:cNvPr id="31" name="Text 29"/>
          <p:cNvSpPr/>
          <p:nvPr/>
        </p:nvSpPr>
        <p:spPr>
          <a:xfrm>
            <a:off x="3520440" y="2697480"/>
            <a:ext cx="3977640" cy="457200"/>
          </a:xfrm>
          <a:prstGeom prst="rect">
            <a:avLst/>
          </a:prstGeom>
          <a:noFill/>
          <a:ln/>
        </p:spPr>
        <p:txBody>
          <a:bodyPr wrap="square" rtlCol="0" anchor="ctr"/>
          <a:lstStyle/>
          <a:p>
            <a:pPr algn="ctr" indent="0" marL="0">
              <a:buNone/>
            </a:pPr>
            <a:r>
              <a:rPr lang="en-US" sz="1000" dirty="0">
                <a:solidFill>
                  <a:srgbClr val="E8E8E8"/>
                </a:solidFill>
                <a:latin typeface="Calibri" pitchFamily="34" charset="0"/>
                <a:ea typeface="Calibri" pitchFamily="34" charset="-122"/>
                <a:cs typeface="Calibri" pitchFamily="34" charset="-120"/>
              </a:rPr>
              <a:t>€2–3  (Super Bock / Sagres)</a:t>
            </a:r>
            <a:endParaRPr lang="en-US" sz="1000" dirty="0"/>
          </a:p>
        </p:txBody>
      </p:sp>
      <p:sp>
        <p:nvSpPr>
          <p:cNvPr id="32" name="Shape 30"/>
          <p:cNvSpPr/>
          <p:nvPr/>
        </p:nvSpPr>
        <p:spPr>
          <a:xfrm>
            <a:off x="7680960" y="2697480"/>
            <a:ext cx="4160520" cy="457200"/>
          </a:xfrm>
          <a:prstGeom prst="rect">
            <a:avLst/>
          </a:prstGeom>
          <a:solidFill>
            <a:srgbClr val="1A1A2E"/>
          </a:solidFill>
          <a:ln w="12700">
            <a:solidFill>
              <a:srgbClr val="0F3460"/>
            </a:solidFill>
            <a:prstDash val="solid"/>
          </a:ln>
        </p:spPr>
      </p:sp>
      <p:sp>
        <p:nvSpPr>
          <p:cNvPr id="33" name="Text 31"/>
          <p:cNvSpPr/>
          <p:nvPr/>
        </p:nvSpPr>
        <p:spPr>
          <a:xfrm>
            <a:off x="7772400" y="2697480"/>
            <a:ext cx="3977640" cy="457200"/>
          </a:xfrm>
          <a:prstGeom prst="rect">
            <a:avLst/>
          </a:prstGeom>
          <a:noFill/>
          <a:ln/>
        </p:spPr>
        <p:txBody>
          <a:bodyPr wrap="square" rtlCol="0" anchor="ctr"/>
          <a:lstStyle/>
          <a:p>
            <a:pPr algn="ctr" indent="0" marL="0">
              <a:buNone/>
            </a:pPr>
            <a:r>
              <a:rPr lang="en-US" sz="1000" dirty="0">
                <a:solidFill>
                  <a:srgbClr val="E8E8E8"/>
                </a:solidFill>
                <a:latin typeface="Calibri" pitchFamily="34" charset="0"/>
                <a:ea typeface="Calibri" pitchFamily="34" charset="-122"/>
                <a:cs typeface="Calibri" pitchFamily="34" charset="-120"/>
              </a:rPr>
              <a:t>€2–3  (Cisk Lager, seit 1928)</a:t>
            </a:r>
            <a:endParaRPr lang="en-US" sz="1000" dirty="0"/>
          </a:p>
        </p:txBody>
      </p:sp>
      <p:sp>
        <p:nvSpPr>
          <p:cNvPr id="34" name="Shape 32"/>
          <p:cNvSpPr/>
          <p:nvPr/>
        </p:nvSpPr>
        <p:spPr>
          <a:xfrm>
            <a:off x="274320" y="3154680"/>
            <a:ext cx="3108960" cy="457200"/>
          </a:xfrm>
          <a:prstGeom prst="rect">
            <a:avLst/>
          </a:prstGeom>
          <a:solidFill>
            <a:srgbClr val="16213E"/>
          </a:solidFill>
          <a:ln w="12700">
            <a:solidFill>
              <a:srgbClr val="0F3460"/>
            </a:solidFill>
            <a:prstDash val="solid"/>
          </a:ln>
        </p:spPr>
      </p:sp>
      <p:sp>
        <p:nvSpPr>
          <p:cNvPr id="35" name="Text 33"/>
          <p:cNvSpPr/>
          <p:nvPr/>
        </p:nvSpPr>
        <p:spPr>
          <a:xfrm>
            <a:off x="365760" y="3154680"/>
            <a:ext cx="2971800" cy="457200"/>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 Wetter Ende Okt.</a:t>
            </a:r>
            <a:endParaRPr lang="en-US" sz="1000" dirty="0"/>
          </a:p>
        </p:txBody>
      </p:sp>
      <p:sp>
        <p:nvSpPr>
          <p:cNvPr id="36" name="Shape 34"/>
          <p:cNvSpPr/>
          <p:nvPr/>
        </p:nvSpPr>
        <p:spPr>
          <a:xfrm>
            <a:off x="3429000" y="3154680"/>
            <a:ext cx="4160520" cy="457200"/>
          </a:xfrm>
          <a:prstGeom prst="rect">
            <a:avLst/>
          </a:prstGeom>
          <a:solidFill>
            <a:srgbClr val="16213E"/>
          </a:solidFill>
          <a:ln w="12700">
            <a:solidFill>
              <a:srgbClr val="0F3460"/>
            </a:solidFill>
            <a:prstDash val="solid"/>
          </a:ln>
        </p:spPr>
      </p:sp>
      <p:sp>
        <p:nvSpPr>
          <p:cNvPr id="37" name="Text 35"/>
          <p:cNvSpPr/>
          <p:nvPr/>
        </p:nvSpPr>
        <p:spPr>
          <a:xfrm>
            <a:off x="3520440" y="3154680"/>
            <a:ext cx="3977640" cy="457200"/>
          </a:xfrm>
          <a:prstGeom prst="rect">
            <a:avLst/>
          </a:prstGeom>
          <a:noFill/>
          <a:ln/>
        </p:spPr>
        <p:txBody>
          <a:bodyPr wrap="square" rtlCol="0" anchor="ctr"/>
          <a:lstStyle/>
          <a:p>
            <a:pPr algn="ctr" indent="0" marL="0">
              <a:buNone/>
            </a:pPr>
            <a:r>
              <a:rPr lang="en-US" sz="1000" dirty="0">
                <a:solidFill>
                  <a:srgbClr val="E8E8E8"/>
                </a:solidFill>
                <a:latin typeface="Calibri" pitchFamily="34" charset="0"/>
                <a:ea typeface="Calibri" pitchFamily="34" charset="-122"/>
                <a:cs typeface="Calibri" pitchFamily="34" charset="-120"/>
              </a:rPr>
              <a:t>17–22°C  ☀</a:t>
            </a:r>
            <a:endParaRPr lang="en-US" sz="1000" dirty="0"/>
          </a:p>
        </p:txBody>
      </p:sp>
      <p:sp>
        <p:nvSpPr>
          <p:cNvPr id="38" name="Shape 36"/>
          <p:cNvSpPr/>
          <p:nvPr/>
        </p:nvSpPr>
        <p:spPr>
          <a:xfrm>
            <a:off x="7680960" y="3154680"/>
            <a:ext cx="4160520" cy="457200"/>
          </a:xfrm>
          <a:prstGeom prst="rect">
            <a:avLst/>
          </a:prstGeom>
          <a:solidFill>
            <a:srgbClr val="16213E"/>
          </a:solidFill>
          <a:ln w="12700">
            <a:solidFill>
              <a:srgbClr val="0F3460"/>
            </a:solidFill>
            <a:prstDash val="solid"/>
          </a:ln>
        </p:spPr>
      </p:sp>
      <p:sp>
        <p:nvSpPr>
          <p:cNvPr id="39" name="Text 37"/>
          <p:cNvSpPr/>
          <p:nvPr/>
        </p:nvSpPr>
        <p:spPr>
          <a:xfrm>
            <a:off x="7772400" y="3154680"/>
            <a:ext cx="3977640" cy="457200"/>
          </a:xfrm>
          <a:prstGeom prst="rect">
            <a:avLst/>
          </a:prstGeom>
          <a:noFill/>
          <a:ln/>
        </p:spPr>
        <p:txBody>
          <a:bodyPr wrap="square" rtlCol="0" anchor="ctr"/>
          <a:lstStyle/>
          <a:p>
            <a:pPr algn="ctr" indent="0" marL="0">
              <a:buNone/>
            </a:pPr>
            <a:r>
              <a:rPr lang="en-US" sz="1000" dirty="0">
                <a:solidFill>
                  <a:srgbClr val="E8E8E8"/>
                </a:solidFill>
                <a:latin typeface="Calibri" pitchFamily="34" charset="0"/>
                <a:ea typeface="Calibri" pitchFamily="34" charset="-122"/>
                <a:cs typeface="Calibri" pitchFamily="34" charset="-120"/>
              </a:rPr>
              <a:t>22–24°C  ☀☀  (wärmer!)</a:t>
            </a:r>
            <a:endParaRPr lang="en-US" sz="1000" dirty="0"/>
          </a:p>
        </p:txBody>
      </p:sp>
      <p:sp>
        <p:nvSpPr>
          <p:cNvPr id="40" name="Shape 38"/>
          <p:cNvSpPr/>
          <p:nvPr/>
        </p:nvSpPr>
        <p:spPr>
          <a:xfrm>
            <a:off x="274320" y="3611880"/>
            <a:ext cx="3108960" cy="457200"/>
          </a:xfrm>
          <a:prstGeom prst="rect">
            <a:avLst/>
          </a:prstGeom>
          <a:solidFill>
            <a:srgbClr val="1A1A2E"/>
          </a:solidFill>
          <a:ln w="12700">
            <a:solidFill>
              <a:srgbClr val="0F3460"/>
            </a:solidFill>
            <a:prstDash val="solid"/>
          </a:ln>
        </p:spPr>
      </p:sp>
      <p:sp>
        <p:nvSpPr>
          <p:cNvPr id="41" name="Text 39"/>
          <p:cNvSpPr/>
          <p:nvPr/>
        </p:nvSpPr>
        <p:spPr>
          <a:xfrm>
            <a:off x="365760" y="3611880"/>
            <a:ext cx="2971800" cy="457200"/>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 Halloween</a:t>
            </a:r>
            <a:endParaRPr lang="en-US" sz="1000" dirty="0"/>
          </a:p>
        </p:txBody>
      </p:sp>
      <p:sp>
        <p:nvSpPr>
          <p:cNvPr id="42" name="Shape 40"/>
          <p:cNvSpPr/>
          <p:nvPr/>
        </p:nvSpPr>
        <p:spPr>
          <a:xfrm>
            <a:off x="3429000" y="3611880"/>
            <a:ext cx="4160520" cy="457200"/>
          </a:xfrm>
          <a:prstGeom prst="rect">
            <a:avLst/>
          </a:prstGeom>
          <a:solidFill>
            <a:srgbClr val="1A1A2E"/>
          </a:solidFill>
          <a:ln w="12700">
            <a:solidFill>
              <a:srgbClr val="0F3460"/>
            </a:solidFill>
            <a:prstDash val="solid"/>
          </a:ln>
        </p:spPr>
      </p:sp>
      <p:sp>
        <p:nvSpPr>
          <p:cNvPr id="43" name="Text 41"/>
          <p:cNvSpPr/>
          <p:nvPr/>
        </p:nvSpPr>
        <p:spPr>
          <a:xfrm>
            <a:off x="3520440" y="3611880"/>
            <a:ext cx="3977640" cy="457200"/>
          </a:xfrm>
          <a:prstGeom prst="rect">
            <a:avLst/>
          </a:prstGeom>
          <a:noFill/>
          <a:ln/>
        </p:spPr>
        <p:txBody>
          <a:bodyPr wrap="square" rtlCol="0" anchor="ctr"/>
          <a:lstStyle/>
          <a:p>
            <a:pPr algn="ctr" indent="0" marL="0">
              <a:buNone/>
            </a:pPr>
            <a:r>
              <a:rPr lang="en-US" sz="1000" dirty="0">
                <a:solidFill>
                  <a:srgbClr val="E8E8E8"/>
                </a:solidFill>
                <a:latin typeface="Calibri" pitchFamily="34" charset="0"/>
                <a:ea typeface="Calibri" pitchFamily="34" charset="-122"/>
                <a:cs typeface="Calibri" pitchFamily="34" charset="-120"/>
              </a:rPr>
              <a:t>⭐⭐⭐⭐  Clubs bis 6 Uhr</a:t>
            </a:r>
            <a:endParaRPr lang="en-US" sz="1000" dirty="0"/>
          </a:p>
        </p:txBody>
      </p:sp>
      <p:sp>
        <p:nvSpPr>
          <p:cNvPr id="44" name="Shape 42"/>
          <p:cNvSpPr/>
          <p:nvPr/>
        </p:nvSpPr>
        <p:spPr>
          <a:xfrm>
            <a:off x="7680960" y="3611880"/>
            <a:ext cx="4160520" cy="457200"/>
          </a:xfrm>
          <a:prstGeom prst="rect">
            <a:avLst/>
          </a:prstGeom>
          <a:solidFill>
            <a:srgbClr val="1A1A2E"/>
          </a:solidFill>
          <a:ln w="12700">
            <a:solidFill>
              <a:srgbClr val="0F3460"/>
            </a:solidFill>
            <a:prstDash val="solid"/>
          </a:ln>
        </p:spPr>
      </p:sp>
      <p:sp>
        <p:nvSpPr>
          <p:cNvPr id="45" name="Text 43"/>
          <p:cNvSpPr/>
          <p:nvPr/>
        </p:nvSpPr>
        <p:spPr>
          <a:xfrm>
            <a:off x="7772400" y="3611880"/>
            <a:ext cx="3977640" cy="457200"/>
          </a:xfrm>
          <a:prstGeom prst="rect">
            <a:avLst/>
          </a:prstGeom>
          <a:noFill/>
          <a:ln/>
        </p:spPr>
        <p:txBody>
          <a:bodyPr wrap="square" rtlCol="0" anchor="ctr"/>
          <a:lstStyle/>
          <a:p>
            <a:pPr algn="ctr" indent="0" marL="0">
              <a:buNone/>
            </a:pPr>
            <a:r>
              <a:rPr lang="en-US" sz="1000" dirty="0">
                <a:solidFill>
                  <a:srgbClr val="E8E8E8"/>
                </a:solidFill>
                <a:latin typeface="Calibri" pitchFamily="34" charset="0"/>
                <a:ea typeface="Calibri" pitchFamily="34" charset="-122"/>
                <a:cs typeface="Calibri" pitchFamily="34" charset="-120"/>
              </a:rPr>
              <a:t>⭐⭐⭐⭐  Paceville bis 4 Uhr</a:t>
            </a:r>
            <a:endParaRPr lang="en-US" sz="1000" dirty="0"/>
          </a:p>
        </p:txBody>
      </p:sp>
      <p:sp>
        <p:nvSpPr>
          <p:cNvPr id="46" name="Shape 44"/>
          <p:cNvSpPr/>
          <p:nvPr/>
        </p:nvSpPr>
        <p:spPr>
          <a:xfrm>
            <a:off x="274320" y="4069080"/>
            <a:ext cx="3108960" cy="457200"/>
          </a:xfrm>
          <a:prstGeom prst="rect">
            <a:avLst/>
          </a:prstGeom>
          <a:solidFill>
            <a:srgbClr val="16213E"/>
          </a:solidFill>
          <a:ln w="12700">
            <a:solidFill>
              <a:srgbClr val="0F3460"/>
            </a:solidFill>
            <a:prstDash val="solid"/>
          </a:ln>
        </p:spPr>
      </p:sp>
      <p:sp>
        <p:nvSpPr>
          <p:cNvPr id="47" name="Text 45"/>
          <p:cNvSpPr/>
          <p:nvPr/>
        </p:nvSpPr>
        <p:spPr>
          <a:xfrm>
            <a:off x="365760" y="4069080"/>
            <a:ext cx="2971800" cy="457200"/>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 Viertel</a:t>
            </a:r>
            <a:endParaRPr lang="en-US" sz="1000" dirty="0"/>
          </a:p>
        </p:txBody>
      </p:sp>
      <p:sp>
        <p:nvSpPr>
          <p:cNvPr id="48" name="Shape 46"/>
          <p:cNvSpPr/>
          <p:nvPr/>
        </p:nvSpPr>
        <p:spPr>
          <a:xfrm>
            <a:off x="3429000" y="4069080"/>
            <a:ext cx="4160520" cy="457200"/>
          </a:xfrm>
          <a:prstGeom prst="rect">
            <a:avLst/>
          </a:prstGeom>
          <a:solidFill>
            <a:srgbClr val="16213E"/>
          </a:solidFill>
          <a:ln w="12700">
            <a:solidFill>
              <a:srgbClr val="0F3460"/>
            </a:solidFill>
            <a:prstDash val="solid"/>
          </a:ln>
        </p:spPr>
      </p:sp>
      <p:sp>
        <p:nvSpPr>
          <p:cNvPr id="49" name="Text 47"/>
          <p:cNvSpPr/>
          <p:nvPr/>
        </p:nvSpPr>
        <p:spPr>
          <a:xfrm>
            <a:off x="3520440" y="4069080"/>
            <a:ext cx="3977640" cy="457200"/>
          </a:xfrm>
          <a:prstGeom prst="rect">
            <a:avLst/>
          </a:prstGeom>
          <a:noFill/>
          <a:ln/>
        </p:spPr>
        <p:txBody>
          <a:bodyPr wrap="square" rtlCol="0" anchor="ctr"/>
          <a:lstStyle/>
          <a:p>
            <a:pPr algn="ctr" indent="0" marL="0">
              <a:buNone/>
            </a:pPr>
            <a:r>
              <a:rPr lang="en-US" sz="1000" dirty="0">
                <a:solidFill>
                  <a:srgbClr val="E8E8E8"/>
                </a:solidFill>
                <a:latin typeface="Calibri" pitchFamily="34" charset="0"/>
                <a:ea typeface="Calibri" pitchFamily="34" charset="-122"/>
                <a:cs typeface="Calibri" pitchFamily="34" charset="-120"/>
              </a:rPr>
              <a:t>Bairro Alto · Pink Street</a:t>
            </a:r>
            <a:endParaRPr lang="en-US" sz="1000" dirty="0"/>
          </a:p>
        </p:txBody>
      </p:sp>
      <p:sp>
        <p:nvSpPr>
          <p:cNvPr id="50" name="Shape 48"/>
          <p:cNvSpPr/>
          <p:nvPr/>
        </p:nvSpPr>
        <p:spPr>
          <a:xfrm>
            <a:off x="7680960" y="4069080"/>
            <a:ext cx="4160520" cy="457200"/>
          </a:xfrm>
          <a:prstGeom prst="rect">
            <a:avLst/>
          </a:prstGeom>
          <a:solidFill>
            <a:srgbClr val="16213E"/>
          </a:solidFill>
          <a:ln w="12700">
            <a:solidFill>
              <a:srgbClr val="0F3460"/>
            </a:solidFill>
            <a:prstDash val="solid"/>
          </a:ln>
        </p:spPr>
      </p:sp>
      <p:sp>
        <p:nvSpPr>
          <p:cNvPr id="51" name="Text 49"/>
          <p:cNvSpPr/>
          <p:nvPr/>
        </p:nvSpPr>
        <p:spPr>
          <a:xfrm>
            <a:off x="7772400" y="4069080"/>
            <a:ext cx="3977640" cy="457200"/>
          </a:xfrm>
          <a:prstGeom prst="rect">
            <a:avLst/>
          </a:prstGeom>
          <a:noFill/>
          <a:ln/>
        </p:spPr>
        <p:txBody>
          <a:bodyPr wrap="square" rtlCol="0" anchor="ctr"/>
          <a:lstStyle/>
          <a:p>
            <a:pPr algn="ctr" indent="0" marL="0">
              <a:buNone/>
            </a:pPr>
            <a:r>
              <a:rPr lang="en-US" sz="1000" dirty="0">
                <a:solidFill>
                  <a:srgbClr val="E8E8E8"/>
                </a:solidFill>
                <a:latin typeface="Calibri" pitchFamily="34" charset="0"/>
                <a:ea typeface="Calibri" pitchFamily="34" charset="-122"/>
                <a:cs typeface="Calibri" pitchFamily="34" charset="-120"/>
              </a:rPr>
              <a:t>Paceville · St. Julian's</a:t>
            </a:r>
            <a:endParaRPr lang="en-US" sz="1000" dirty="0"/>
          </a:p>
        </p:txBody>
      </p:sp>
      <p:sp>
        <p:nvSpPr>
          <p:cNvPr id="52" name="Shape 50"/>
          <p:cNvSpPr/>
          <p:nvPr/>
        </p:nvSpPr>
        <p:spPr>
          <a:xfrm>
            <a:off x="274320" y="4526280"/>
            <a:ext cx="3108960" cy="457200"/>
          </a:xfrm>
          <a:prstGeom prst="rect">
            <a:avLst/>
          </a:prstGeom>
          <a:solidFill>
            <a:srgbClr val="1A1A2E"/>
          </a:solidFill>
          <a:ln w="12700">
            <a:solidFill>
              <a:srgbClr val="0F3460"/>
            </a:solidFill>
            <a:prstDash val="solid"/>
          </a:ln>
        </p:spPr>
      </p:sp>
      <p:sp>
        <p:nvSpPr>
          <p:cNvPr id="53" name="Text 51"/>
          <p:cNvSpPr/>
          <p:nvPr/>
        </p:nvSpPr>
        <p:spPr>
          <a:xfrm>
            <a:off x="365760" y="4526280"/>
            <a:ext cx="2971800" cy="457200"/>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 Highlight</a:t>
            </a:r>
            <a:endParaRPr lang="en-US" sz="1000" dirty="0"/>
          </a:p>
        </p:txBody>
      </p:sp>
      <p:sp>
        <p:nvSpPr>
          <p:cNvPr id="54" name="Shape 52"/>
          <p:cNvSpPr/>
          <p:nvPr/>
        </p:nvSpPr>
        <p:spPr>
          <a:xfrm>
            <a:off x="3429000" y="4526280"/>
            <a:ext cx="4160520" cy="457200"/>
          </a:xfrm>
          <a:prstGeom prst="rect">
            <a:avLst/>
          </a:prstGeom>
          <a:solidFill>
            <a:srgbClr val="1A1A2E"/>
          </a:solidFill>
          <a:ln w="12700">
            <a:solidFill>
              <a:srgbClr val="0F3460"/>
            </a:solidFill>
            <a:prstDash val="solid"/>
          </a:ln>
        </p:spPr>
      </p:sp>
      <p:sp>
        <p:nvSpPr>
          <p:cNvPr id="55" name="Text 53"/>
          <p:cNvSpPr/>
          <p:nvPr/>
        </p:nvSpPr>
        <p:spPr>
          <a:xfrm>
            <a:off x="3520440" y="4526280"/>
            <a:ext cx="3977640" cy="457200"/>
          </a:xfrm>
          <a:prstGeom prst="rect">
            <a:avLst/>
          </a:prstGeom>
          <a:noFill/>
          <a:ln/>
        </p:spPr>
        <p:txBody>
          <a:bodyPr wrap="square" rtlCol="0" anchor="ctr"/>
          <a:lstStyle/>
          <a:p>
            <a:pPr algn="ctr" indent="0" marL="0">
              <a:buNone/>
            </a:pPr>
            <a:r>
              <a:rPr lang="en-US" sz="1000" dirty="0">
                <a:solidFill>
                  <a:srgbClr val="E8E8E8"/>
                </a:solidFill>
                <a:latin typeface="Calibri" pitchFamily="34" charset="0"/>
                <a:ea typeface="Calibri" pitchFamily="34" charset="-122"/>
                <a:cs typeface="Calibri" pitchFamily="34" charset="-120"/>
              </a:rPr>
              <a:t>Fado · Atlantik-Charme</a:t>
            </a:r>
            <a:endParaRPr lang="en-US" sz="1000" dirty="0"/>
          </a:p>
        </p:txBody>
      </p:sp>
      <p:sp>
        <p:nvSpPr>
          <p:cNvPr id="56" name="Shape 54"/>
          <p:cNvSpPr/>
          <p:nvPr/>
        </p:nvSpPr>
        <p:spPr>
          <a:xfrm>
            <a:off x="7680960" y="4526280"/>
            <a:ext cx="4160520" cy="457200"/>
          </a:xfrm>
          <a:prstGeom prst="rect">
            <a:avLst/>
          </a:prstGeom>
          <a:solidFill>
            <a:srgbClr val="1A1A2E"/>
          </a:solidFill>
          <a:ln w="12700">
            <a:solidFill>
              <a:srgbClr val="0F3460"/>
            </a:solidFill>
            <a:prstDash val="solid"/>
          </a:ln>
        </p:spPr>
      </p:sp>
      <p:sp>
        <p:nvSpPr>
          <p:cNvPr id="57" name="Text 55"/>
          <p:cNvSpPr/>
          <p:nvPr/>
        </p:nvSpPr>
        <p:spPr>
          <a:xfrm>
            <a:off x="7772400" y="4526280"/>
            <a:ext cx="3977640" cy="457200"/>
          </a:xfrm>
          <a:prstGeom prst="rect">
            <a:avLst/>
          </a:prstGeom>
          <a:noFill/>
          <a:ln/>
        </p:spPr>
        <p:txBody>
          <a:bodyPr wrap="square" rtlCol="0" anchor="ctr"/>
          <a:lstStyle/>
          <a:p>
            <a:pPr algn="ctr" indent="0" marL="0">
              <a:buNone/>
            </a:pPr>
            <a:r>
              <a:rPr lang="en-US" sz="1000" dirty="0">
                <a:solidFill>
                  <a:srgbClr val="E8E8E8"/>
                </a:solidFill>
                <a:latin typeface="Calibri" pitchFamily="34" charset="0"/>
                <a:ea typeface="Calibri" pitchFamily="34" charset="-122"/>
                <a:cs typeface="Calibri" pitchFamily="34" charset="-120"/>
              </a:rPr>
              <a:t>Blaue Lagune · Schwimmen!</a:t>
            </a:r>
            <a:endParaRPr lang="en-US" sz="1000" dirty="0"/>
          </a:p>
        </p:txBody>
      </p:sp>
      <p:sp>
        <p:nvSpPr>
          <p:cNvPr id="58" name="Shape 56"/>
          <p:cNvSpPr/>
          <p:nvPr/>
        </p:nvSpPr>
        <p:spPr>
          <a:xfrm>
            <a:off x="274320" y="4983480"/>
            <a:ext cx="3108960" cy="457200"/>
          </a:xfrm>
          <a:prstGeom prst="rect">
            <a:avLst/>
          </a:prstGeom>
          <a:solidFill>
            <a:srgbClr val="16213E"/>
          </a:solidFill>
          <a:ln w="12700">
            <a:solidFill>
              <a:srgbClr val="0F3460"/>
            </a:solidFill>
            <a:prstDash val="solid"/>
          </a:ln>
        </p:spPr>
      </p:sp>
      <p:sp>
        <p:nvSpPr>
          <p:cNvPr id="59" name="Text 57"/>
          <p:cNvSpPr/>
          <p:nvPr/>
        </p:nvSpPr>
        <p:spPr>
          <a:xfrm>
            <a:off x="365760" y="4983480"/>
            <a:ext cx="2971800" cy="457200"/>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 Kochkurs</a:t>
            </a:r>
            <a:endParaRPr lang="en-US" sz="1000" dirty="0"/>
          </a:p>
        </p:txBody>
      </p:sp>
      <p:sp>
        <p:nvSpPr>
          <p:cNvPr id="60" name="Shape 58"/>
          <p:cNvSpPr/>
          <p:nvPr/>
        </p:nvSpPr>
        <p:spPr>
          <a:xfrm>
            <a:off x="3429000" y="4983480"/>
            <a:ext cx="4160520" cy="457200"/>
          </a:xfrm>
          <a:prstGeom prst="rect">
            <a:avLst/>
          </a:prstGeom>
          <a:solidFill>
            <a:srgbClr val="16213E"/>
          </a:solidFill>
          <a:ln w="12700">
            <a:solidFill>
              <a:srgbClr val="0F3460"/>
            </a:solidFill>
            <a:prstDash val="solid"/>
          </a:ln>
        </p:spPr>
      </p:sp>
      <p:sp>
        <p:nvSpPr>
          <p:cNvPr id="61" name="Text 59"/>
          <p:cNvSpPr/>
          <p:nvPr/>
        </p:nvSpPr>
        <p:spPr>
          <a:xfrm>
            <a:off x="3520440" y="4983480"/>
            <a:ext cx="3977640" cy="457200"/>
          </a:xfrm>
          <a:prstGeom prst="rect">
            <a:avLst/>
          </a:prstGeom>
          <a:noFill/>
          <a:ln/>
        </p:spPr>
        <p:txBody>
          <a:bodyPr wrap="square" rtlCol="0" anchor="ctr"/>
          <a:lstStyle/>
          <a:p>
            <a:pPr algn="ctr" indent="0" marL="0">
              <a:buNone/>
            </a:pPr>
            <a:r>
              <a:rPr lang="en-US" sz="1000" dirty="0">
                <a:solidFill>
                  <a:srgbClr val="E8E8E8"/>
                </a:solidFill>
                <a:latin typeface="Calibri" pitchFamily="34" charset="0"/>
                <a:ea typeface="Calibri" pitchFamily="34" charset="-122"/>
                <a:cs typeface="Calibri" pitchFamily="34" charset="-120"/>
              </a:rPr>
              <a:t>€110 p.P.</a:t>
            </a:r>
            <a:endParaRPr lang="en-US" sz="1000" dirty="0"/>
          </a:p>
        </p:txBody>
      </p:sp>
      <p:sp>
        <p:nvSpPr>
          <p:cNvPr id="62" name="Shape 60"/>
          <p:cNvSpPr/>
          <p:nvPr/>
        </p:nvSpPr>
        <p:spPr>
          <a:xfrm>
            <a:off x="7680960" y="4983480"/>
            <a:ext cx="4160520" cy="457200"/>
          </a:xfrm>
          <a:prstGeom prst="rect">
            <a:avLst/>
          </a:prstGeom>
          <a:solidFill>
            <a:srgbClr val="16213E"/>
          </a:solidFill>
          <a:ln w="12700">
            <a:solidFill>
              <a:srgbClr val="0F3460"/>
            </a:solidFill>
            <a:prstDash val="solid"/>
          </a:ln>
        </p:spPr>
      </p:sp>
      <p:sp>
        <p:nvSpPr>
          <p:cNvPr id="63" name="Text 61"/>
          <p:cNvSpPr/>
          <p:nvPr/>
        </p:nvSpPr>
        <p:spPr>
          <a:xfrm>
            <a:off x="7772400" y="4983480"/>
            <a:ext cx="3977640" cy="457200"/>
          </a:xfrm>
          <a:prstGeom prst="rect">
            <a:avLst/>
          </a:prstGeom>
          <a:noFill/>
          <a:ln/>
        </p:spPr>
        <p:txBody>
          <a:bodyPr wrap="square" rtlCol="0" anchor="ctr"/>
          <a:lstStyle/>
          <a:p>
            <a:pPr algn="ctr" indent="0" marL="0">
              <a:buNone/>
            </a:pPr>
            <a:r>
              <a:rPr lang="en-US" sz="1000" dirty="0">
                <a:solidFill>
                  <a:srgbClr val="E8E8E8"/>
                </a:solidFill>
                <a:latin typeface="Calibri" pitchFamily="34" charset="0"/>
                <a:ea typeface="Calibri" pitchFamily="34" charset="-122"/>
                <a:cs typeface="Calibri" pitchFamily="34" charset="-120"/>
              </a:rPr>
              <a:t>€65 p.P.</a:t>
            </a:r>
            <a:endParaRPr lang="en-US" sz="1000" dirty="0"/>
          </a:p>
        </p:txBody>
      </p:sp>
      <p:sp>
        <p:nvSpPr>
          <p:cNvPr id="64" name="Shape 62"/>
          <p:cNvSpPr/>
          <p:nvPr/>
        </p:nvSpPr>
        <p:spPr>
          <a:xfrm>
            <a:off x="274320" y="5440680"/>
            <a:ext cx="3108960" cy="457200"/>
          </a:xfrm>
          <a:prstGeom prst="rect">
            <a:avLst/>
          </a:prstGeom>
          <a:solidFill>
            <a:srgbClr val="1A1A2E"/>
          </a:solidFill>
          <a:ln w="12700">
            <a:solidFill>
              <a:srgbClr val="0F3460"/>
            </a:solidFill>
            <a:prstDash val="solid"/>
          </a:ln>
        </p:spPr>
      </p:sp>
      <p:sp>
        <p:nvSpPr>
          <p:cNvPr id="65" name="Text 63"/>
          <p:cNvSpPr/>
          <p:nvPr/>
        </p:nvSpPr>
        <p:spPr>
          <a:xfrm>
            <a:off x="365760" y="5440680"/>
            <a:ext cx="2971800" cy="457200"/>
          </a:xfrm>
          <a:prstGeom prst="rect">
            <a:avLst/>
          </a:prstGeom>
          <a:noFill/>
          <a:ln/>
        </p:spPr>
        <p:txBody>
          <a:bodyPr wrap="square" rtlCol="0" anchor="ctr"/>
          <a:lstStyle/>
          <a:p>
            <a:pPr indent="0" marL="0">
              <a:buNone/>
            </a:pPr>
            <a:r>
              <a:rPr lang="en-US" sz="1000" dirty="0">
                <a:solidFill>
                  <a:srgbClr val="9CA3AF"/>
                </a:solidFill>
                <a:latin typeface="Calibri" pitchFamily="34" charset="0"/>
                <a:ea typeface="Calibri" pitchFamily="34" charset="-122"/>
                <a:cs typeface="Calibri" pitchFamily="34" charset="-120"/>
              </a:rPr>
              <a:t>🏠 Unterkunft p.P.</a:t>
            </a:r>
            <a:endParaRPr lang="en-US" sz="1000" dirty="0"/>
          </a:p>
        </p:txBody>
      </p:sp>
      <p:sp>
        <p:nvSpPr>
          <p:cNvPr id="66" name="Shape 64"/>
          <p:cNvSpPr/>
          <p:nvPr/>
        </p:nvSpPr>
        <p:spPr>
          <a:xfrm>
            <a:off x="3429000" y="5440680"/>
            <a:ext cx="4160520" cy="457200"/>
          </a:xfrm>
          <a:prstGeom prst="rect">
            <a:avLst/>
          </a:prstGeom>
          <a:solidFill>
            <a:srgbClr val="1A1A2E"/>
          </a:solidFill>
          <a:ln w="12700">
            <a:solidFill>
              <a:srgbClr val="0F3460"/>
            </a:solidFill>
            <a:prstDash val="solid"/>
          </a:ln>
        </p:spPr>
      </p:sp>
      <p:sp>
        <p:nvSpPr>
          <p:cNvPr id="67" name="Text 65"/>
          <p:cNvSpPr/>
          <p:nvPr/>
        </p:nvSpPr>
        <p:spPr>
          <a:xfrm>
            <a:off x="3520440" y="5440680"/>
            <a:ext cx="3977640" cy="457200"/>
          </a:xfrm>
          <a:prstGeom prst="rect">
            <a:avLst/>
          </a:prstGeom>
          <a:noFill/>
          <a:ln/>
        </p:spPr>
        <p:txBody>
          <a:bodyPr wrap="square" rtlCol="0" anchor="ctr"/>
          <a:lstStyle/>
          <a:p>
            <a:pPr algn="ctr" indent="0" marL="0">
              <a:buNone/>
            </a:pPr>
            <a:r>
              <a:rPr lang="en-US" sz="1000" dirty="0">
                <a:solidFill>
                  <a:srgbClr val="E8E8E8"/>
                </a:solidFill>
                <a:latin typeface="Calibri" pitchFamily="34" charset="0"/>
                <a:ea typeface="Calibri" pitchFamily="34" charset="-122"/>
                <a:cs typeface="Calibri" pitchFamily="34" charset="-120"/>
              </a:rPr>
              <a:t>~€113–120</a:t>
            </a:r>
            <a:endParaRPr lang="en-US" sz="1000" dirty="0"/>
          </a:p>
        </p:txBody>
      </p:sp>
      <p:sp>
        <p:nvSpPr>
          <p:cNvPr id="68" name="Shape 66"/>
          <p:cNvSpPr/>
          <p:nvPr/>
        </p:nvSpPr>
        <p:spPr>
          <a:xfrm>
            <a:off x="7680960" y="5440680"/>
            <a:ext cx="4160520" cy="457200"/>
          </a:xfrm>
          <a:prstGeom prst="rect">
            <a:avLst/>
          </a:prstGeom>
          <a:solidFill>
            <a:srgbClr val="1A1A2E"/>
          </a:solidFill>
          <a:ln w="12700">
            <a:solidFill>
              <a:srgbClr val="0F3460"/>
            </a:solidFill>
            <a:prstDash val="solid"/>
          </a:ln>
        </p:spPr>
      </p:sp>
      <p:sp>
        <p:nvSpPr>
          <p:cNvPr id="69" name="Text 67"/>
          <p:cNvSpPr/>
          <p:nvPr/>
        </p:nvSpPr>
        <p:spPr>
          <a:xfrm>
            <a:off x="7772400" y="5440680"/>
            <a:ext cx="3977640" cy="457200"/>
          </a:xfrm>
          <a:prstGeom prst="rect">
            <a:avLst/>
          </a:prstGeom>
          <a:noFill/>
          <a:ln/>
        </p:spPr>
        <p:txBody>
          <a:bodyPr wrap="square" rtlCol="0" anchor="ctr"/>
          <a:lstStyle/>
          <a:p>
            <a:pPr algn="ctr" indent="0" marL="0">
              <a:buNone/>
            </a:pPr>
            <a:r>
              <a:rPr lang="en-US" sz="1000" dirty="0">
                <a:solidFill>
                  <a:srgbClr val="E8E8E8"/>
                </a:solidFill>
                <a:latin typeface="Calibri" pitchFamily="34" charset="0"/>
                <a:ea typeface="Calibri" pitchFamily="34" charset="-122"/>
                <a:cs typeface="Calibri" pitchFamily="34" charset="-120"/>
              </a:rPr>
              <a:t>~€84–89</a:t>
            </a:r>
            <a:endParaRPr lang="en-US" sz="1000" dirty="0"/>
          </a:p>
        </p:txBody>
      </p:sp>
      <p:sp>
        <p:nvSpPr>
          <p:cNvPr id="70" name="Shape 68"/>
          <p:cNvSpPr/>
          <p:nvPr/>
        </p:nvSpPr>
        <p:spPr>
          <a:xfrm>
            <a:off x="274320" y="5897880"/>
            <a:ext cx="3108960" cy="457200"/>
          </a:xfrm>
          <a:prstGeom prst="rect">
            <a:avLst/>
          </a:prstGeom>
          <a:solidFill>
            <a:srgbClr val="0F3460"/>
          </a:solidFill>
          <a:ln w="12700">
            <a:solidFill>
              <a:srgbClr val="0F3460"/>
            </a:solidFill>
            <a:prstDash val="solid"/>
          </a:ln>
        </p:spPr>
      </p:sp>
      <p:sp>
        <p:nvSpPr>
          <p:cNvPr id="71" name="Text 69"/>
          <p:cNvSpPr/>
          <p:nvPr/>
        </p:nvSpPr>
        <p:spPr>
          <a:xfrm>
            <a:off x="365760" y="5897880"/>
            <a:ext cx="2971800" cy="457200"/>
          </a:xfrm>
          <a:prstGeom prst="rect">
            <a:avLst/>
          </a:prstGeom>
          <a:noFill/>
          <a:ln/>
        </p:spPr>
        <p:txBody>
          <a:bodyPr wrap="square" rtlCol="0" anchor="ctr"/>
          <a:lstStyle/>
          <a:p>
            <a:pPr indent="0" marL="0">
              <a:buNone/>
            </a:pPr>
            <a:r>
              <a:rPr lang="en-US" sz="1100" b="1" dirty="0">
                <a:solidFill>
                  <a:srgbClr val="FFC107"/>
                </a:solidFill>
                <a:latin typeface="Calibri" pitchFamily="34" charset="0"/>
                <a:ea typeface="Calibri" pitchFamily="34" charset="-122"/>
                <a:cs typeface="Calibri" pitchFamily="34" charset="-120"/>
              </a:rPr>
              <a:t>💡 Stärke</a:t>
            </a:r>
            <a:endParaRPr lang="en-US" sz="1100" dirty="0"/>
          </a:p>
        </p:txBody>
      </p:sp>
      <p:sp>
        <p:nvSpPr>
          <p:cNvPr id="72" name="Shape 70"/>
          <p:cNvSpPr/>
          <p:nvPr/>
        </p:nvSpPr>
        <p:spPr>
          <a:xfrm>
            <a:off x="3429000" y="5897880"/>
            <a:ext cx="4160520" cy="457200"/>
          </a:xfrm>
          <a:prstGeom prst="rect">
            <a:avLst/>
          </a:prstGeom>
          <a:solidFill>
            <a:srgbClr val="0F3460"/>
          </a:solidFill>
          <a:ln w="12700">
            <a:solidFill>
              <a:srgbClr val="FF8C00"/>
            </a:solidFill>
            <a:prstDash val="solid"/>
          </a:ln>
        </p:spPr>
      </p:sp>
      <p:sp>
        <p:nvSpPr>
          <p:cNvPr id="73" name="Text 71"/>
          <p:cNvSpPr/>
          <p:nvPr/>
        </p:nvSpPr>
        <p:spPr>
          <a:xfrm>
            <a:off x="3520440" y="5897880"/>
            <a:ext cx="3977640" cy="457200"/>
          </a:xfrm>
          <a:prstGeom prst="rect">
            <a:avLst/>
          </a:prstGeom>
          <a:noFill/>
          <a:ln/>
        </p:spPr>
        <p:txBody>
          <a:bodyPr wrap="square" rtlCol="0" anchor="ctr"/>
          <a:lstStyle/>
          <a:p>
            <a:pPr algn="ctr" indent="0" marL="0">
              <a:buNone/>
            </a:pPr>
            <a:r>
              <a:rPr lang="en-US" sz="1100" b="1" dirty="0">
                <a:solidFill>
                  <a:srgbClr val="FF8C00"/>
                </a:solidFill>
                <a:latin typeface="Trebuchet MS" pitchFamily="34" charset="0"/>
                <a:ea typeface="Trebuchet MS" pitchFamily="34" charset="-122"/>
                <a:cs typeface="Trebuchet MS" pitchFamily="34" charset="-120"/>
              </a:rPr>
              <a:t>Nightlife-Weltklasse</a:t>
            </a:r>
            <a:endParaRPr lang="en-US" sz="1100" dirty="0"/>
          </a:p>
        </p:txBody>
      </p:sp>
      <p:sp>
        <p:nvSpPr>
          <p:cNvPr id="74" name="Shape 72"/>
          <p:cNvSpPr/>
          <p:nvPr/>
        </p:nvSpPr>
        <p:spPr>
          <a:xfrm>
            <a:off x="7680960" y="5897880"/>
            <a:ext cx="4160520" cy="457200"/>
          </a:xfrm>
          <a:prstGeom prst="rect">
            <a:avLst/>
          </a:prstGeom>
          <a:solidFill>
            <a:srgbClr val="0F3460"/>
          </a:solidFill>
          <a:ln w="12700">
            <a:solidFill>
              <a:srgbClr val="1EB4C8"/>
            </a:solidFill>
            <a:prstDash val="solid"/>
          </a:ln>
        </p:spPr>
      </p:sp>
      <p:sp>
        <p:nvSpPr>
          <p:cNvPr id="75" name="Text 73"/>
          <p:cNvSpPr/>
          <p:nvPr/>
        </p:nvSpPr>
        <p:spPr>
          <a:xfrm>
            <a:off x="7772400" y="5897880"/>
            <a:ext cx="3977640" cy="457200"/>
          </a:xfrm>
          <a:prstGeom prst="rect">
            <a:avLst/>
          </a:prstGeom>
          <a:noFill/>
          <a:ln/>
        </p:spPr>
        <p:txBody>
          <a:bodyPr wrap="square" rtlCol="0" anchor="ctr"/>
          <a:lstStyle/>
          <a:p>
            <a:pPr algn="ctr" indent="0" marL="0">
              <a:buNone/>
            </a:pPr>
            <a:r>
              <a:rPr lang="en-US" sz="1100" b="1" dirty="0">
                <a:solidFill>
                  <a:srgbClr val="1EB4C8"/>
                </a:solidFill>
                <a:latin typeface="Trebuchet MS" pitchFamily="34" charset="0"/>
                <a:ea typeface="Trebuchet MS" pitchFamily="34" charset="-122"/>
                <a:cs typeface="Trebuchet MS" pitchFamily="34" charset="-120"/>
              </a:rPr>
              <a:t>Wärme + Meer + Preis</a:t>
            </a:r>
            <a:endParaRPr lang="en-US" sz="1100" dirty="0"/>
          </a:p>
        </p:txBody>
      </p:sp>
      <p:sp>
        <p:nvSpPr>
          <p:cNvPr id="76" name="Shape 74"/>
          <p:cNvSpPr/>
          <p:nvPr/>
        </p:nvSpPr>
        <p:spPr>
          <a:xfrm>
            <a:off x="0" y="6784848"/>
            <a:ext cx="12192000" cy="73152"/>
          </a:xfrm>
          <a:prstGeom prst="rect">
            <a:avLst/>
          </a:prstGeom>
          <a:solidFill>
            <a:srgbClr val="FF8C00"/>
          </a:solidFill>
          <a:ln w="12700">
            <a:solidFill>
              <a:srgbClr val="FF8C00"/>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FF8C00"/>
          </a:solidFill>
          <a:ln w="12700">
            <a:solidFill>
              <a:srgbClr val="FF8C00"/>
            </a:solidFill>
            <a:prstDash val="solid"/>
          </a:ln>
        </p:spPr>
      </p:sp>
      <p:sp>
        <p:nvSpPr>
          <p:cNvPr id="3" name="Shape 1"/>
          <p:cNvSpPr/>
          <p:nvPr/>
        </p:nvSpPr>
        <p:spPr>
          <a:xfrm>
            <a:off x="0" y="73152"/>
            <a:ext cx="12192000" cy="658368"/>
          </a:xfrm>
          <a:prstGeom prst="rect">
            <a:avLst/>
          </a:prstGeom>
          <a:solidFill>
            <a:srgbClr val="16213E"/>
          </a:solidFill>
          <a:ln w="12700">
            <a:solidFill>
              <a:srgbClr val="16213E"/>
            </a:solidFill>
            <a:prstDash val="solid"/>
          </a:ln>
        </p:spPr>
      </p:sp>
      <p:sp>
        <p:nvSpPr>
          <p:cNvPr id="4" name="Text 2"/>
          <p:cNvSpPr/>
          <p:nvPr/>
        </p:nvSpPr>
        <p:spPr>
          <a:xfrm>
            <a:off x="365760" y="73152"/>
            <a:ext cx="11430000" cy="658368"/>
          </a:xfrm>
          <a:prstGeom prst="rect">
            <a:avLst/>
          </a:prstGeom>
          <a:noFill/>
          <a:ln/>
        </p:spPr>
        <p:txBody>
          <a:bodyPr wrap="square"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  TRIP HALL OF FAME — DIE LEGENDE WÄCHST</a:t>
            </a:r>
            <a:endParaRPr lang="en-US" sz="2200" dirty="0"/>
          </a:p>
        </p:txBody>
      </p:sp>
      <p:sp>
        <p:nvSpPr>
          <p:cNvPr id="5" name="Shape 3"/>
          <p:cNvSpPr/>
          <p:nvPr/>
        </p:nvSpPr>
        <p:spPr>
          <a:xfrm>
            <a:off x="0" y="731520"/>
            <a:ext cx="12192000" cy="27432"/>
          </a:xfrm>
          <a:prstGeom prst="rect">
            <a:avLst/>
          </a:prstGeom>
          <a:solidFill>
            <a:srgbClr val="FF8C00"/>
          </a:solidFill>
          <a:ln w="12700">
            <a:solidFill>
              <a:srgbClr val="FF8C00"/>
            </a:solidFill>
            <a:prstDash val="solid"/>
          </a:ln>
        </p:spPr>
      </p:sp>
      <p:sp>
        <p:nvSpPr>
          <p:cNvPr id="6" name="Shape 4"/>
          <p:cNvSpPr/>
          <p:nvPr/>
        </p:nvSpPr>
        <p:spPr>
          <a:xfrm>
            <a:off x="228600" y="932688"/>
            <a:ext cx="3291840" cy="2578608"/>
          </a:xfrm>
          <a:prstGeom prst="rect">
            <a:avLst/>
          </a:prstGeom>
          <a:solidFill>
            <a:srgbClr val="16213E"/>
          </a:solidFill>
          <a:ln w="12700">
            <a:solidFill>
              <a:srgbClr val="E8C85A"/>
            </a:solidFill>
            <a:prstDash val="solid"/>
          </a:ln>
        </p:spPr>
      </p:sp>
      <p:sp>
        <p:nvSpPr>
          <p:cNvPr id="7" name="Shape 5"/>
          <p:cNvSpPr/>
          <p:nvPr/>
        </p:nvSpPr>
        <p:spPr>
          <a:xfrm>
            <a:off x="228600" y="932688"/>
            <a:ext cx="3291840" cy="420624"/>
          </a:xfrm>
          <a:prstGeom prst="rect">
            <a:avLst/>
          </a:prstGeom>
          <a:solidFill>
            <a:srgbClr val="0F3460"/>
          </a:solidFill>
          <a:ln w="12700">
            <a:solidFill>
              <a:srgbClr val="0F3460"/>
            </a:solidFill>
            <a:prstDash val="solid"/>
          </a:ln>
        </p:spPr>
      </p:sp>
      <p:sp>
        <p:nvSpPr>
          <p:cNvPr id="8" name="Text 6"/>
          <p:cNvSpPr/>
          <p:nvPr/>
        </p:nvSpPr>
        <p:spPr>
          <a:xfrm>
            <a:off x="228600" y="932688"/>
            <a:ext cx="3291840" cy="420624"/>
          </a:xfrm>
          <a:prstGeom prst="rect">
            <a:avLst/>
          </a:prstGeom>
          <a:noFill/>
          <a:ln/>
        </p:spPr>
        <p:txBody>
          <a:bodyPr wrap="square" rtlCol="0" anchor="ctr"/>
          <a:lstStyle/>
          <a:p>
            <a:pPr algn="ctr" indent="0" marL="0">
              <a:buNone/>
            </a:pPr>
            <a:r>
              <a:rPr lang="en-US" sz="1700" b="1" dirty="0">
                <a:solidFill>
                  <a:srgbClr val="E8C85A"/>
                </a:solidFill>
                <a:latin typeface="Trebuchet MS" pitchFamily="34" charset="0"/>
                <a:ea typeface="Trebuchet MS" pitchFamily="34" charset="-122"/>
                <a:cs typeface="Trebuchet MS" pitchFamily="34" charset="-120"/>
              </a:rPr>
              <a:t>🇱🇻  2021</a:t>
            </a:r>
            <a:endParaRPr lang="en-US" sz="1700" dirty="0"/>
          </a:p>
        </p:txBody>
      </p:sp>
      <p:sp>
        <p:nvSpPr>
          <p:cNvPr id="9" name="Text 7"/>
          <p:cNvSpPr/>
          <p:nvPr/>
        </p:nvSpPr>
        <p:spPr>
          <a:xfrm>
            <a:off x="228600" y="1389888"/>
            <a:ext cx="3291840" cy="365760"/>
          </a:xfrm>
          <a:prstGeom prst="rect">
            <a:avLst/>
          </a:prstGeom>
          <a:noFill/>
          <a:ln/>
        </p:spPr>
        <p:txBody>
          <a:bodyPr wrap="square"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RIGA</a:t>
            </a:r>
            <a:endParaRPr lang="en-US" sz="1500" dirty="0"/>
          </a:p>
        </p:txBody>
      </p:sp>
      <p:sp>
        <p:nvSpPr>
          <p:cNvPr id="10" name="Shape 8"/>
          <p:cNvSpPr/>
          <p:nvPr/>
        </p:nvSpPr>
        <p:spPr>
          <a:xfrm>
            <a:off x="365760" y="1810512"/>
            <a:ext cx="3017520" cy="22860"/>
          </a:xfrm>
          <a:prstGeom prst="rect">
            <a:avLst/>
          </a:prstGeom>
          <a:solidFill>
            <a:srgbClr val="E8C85A"/>
          </a:solidFill>
          <a:ln w="12700">
            <a:solidFill>
              <a:srgbClr val="E8C85A"/>
            </a:solidFill>
            <a:prstDash val="solid"/>
          </a:ln>
        </p:spPr>
      </p:sp>
      <p:sp>
        <p:nvSpPr>
          <p:cNvPr id="11" name="Text 9"/>
          <p:cNvSpPr/>
          <p:nvPr/>
        </p:nvSpPr>
        <p:spPr>
          <a:xfrm>
            <a:off x="320040" y="1847088"/>
            <a:ext cx="3108960" cy="475488"/>
          </a:xfrm>
          <a:prstGeom prst="rect">
            <a:avLst/>
          </a:prstGeom>
          <a:noFill/>
          <a:ln/>
        </p:spPr>
        <p:txBody>
          <a:bodyPr wrap="square" rtlCol="0" anchor="t"/>
          <a:lstStyle/>
          <a:p>
            <a:pPr indent="0" marL="0">
              <a:buNone/>
            </a:pPr>
            <a:r>
              <a:rPr lang="en-US" sz="950" dirty="0">
                <a:solidFill>
                  <a:srgbClr val="E8E8E8"/>
                </a:solidFill>
                <a:latin typeface="Calibri" pitchFamily="34" charset="0"/>
                <a:ea typeface="Calibri" pitchFamily="34" charset="-122"/>
                <a:cs typeface="Calibri" pitchFamily="34" charset="-120"/>
              </a:rPr>
              <a:t>🍺 Bier: €0,80 — ewiger Rekord</a:t>
            </a:r>
            <a:endParaRPr lang="en-US" sz="950" dirty="0"/>
          </a:p>
        </p:txBody>
      </p:sp>
      <p:sp>
        <p:nvSpPr>
          <p:cNvPr id="12" name="Text 10"/>
          <p:cNvSpPr/>
          <p:nvPr/>
        </p:nvSpPr>
        <p:spPr>
          <a:xfrm>
            <a:off x="320040" y="2359152"/>
            <a:ext cx="3108960" cy="475488"/>
          </a:xfrm>
          <a:prstGeom prst="rect">
            <a:avLst/>
          </a:prstGeom>
          <a:noFill/>
          <a:ln/>
        </p:spPr>
        <p:txBody>
          <a:bodyPr wrap="square" rtlCol="0" anchor="t"/>
          <a:lstStyle/>
          <a:p>
            <a:pPr indent="0" marL="0">
              <a:buNone/>
            </a:pPr>
            <a:r>
              <a:rPr lang="en-US" sz="950" dirty="0">
                <a:solidFill>
                  <a:srgbClr val="E8E8E8"/>
                </a:solidFill>
                <a:latin typeface="Calibri" pitchFamily="34" charset="0"/>
                <a:ea typeface="Calibri" pitchFamily="34" charset="-122"/>
                <a:cs typeface="Calibri" pitchFamily="34" charset="-120"/>
              </a:rPr>
              <a:t>🌃 Clubs bis 7 Uhr morgens</a:t>
            </a:r>
            <a:endParaRPr lang="en-US" sz="950" dirty="0"/>
          </a:p>
        </p:txBody>
      </p:sp>
      <p:sp>
        <p:nvSpPr>
          <p:cNvPr id="13" name="Text 11"/>
          <p:cNvSpPr/>
          <p:nvPr/>
        </p:nvSpPr>
        <p:spPr>
          <a:xfrm>
            <a:off x="320040" y="2871216"/>
            <a:ext cx="3108960" cy="475488"/>
          </a:xfrm>
          <a:prstGeom prst="rect">
            <a:avLst/>
          </a:prstGeom>
          <a:noFill/>
          <a:ln/>
        </p:spPr>
        <p:txBody>
          <a:bodyPr wrap="square" rtlCol="0" anchor="t"/>
          <a:lstStyle/>
          <a:p>
            <a:pPr indent="0" marL="0">
              <a:buNone/>
            </a:pPr>
            <a:r>
              <a:rPr lang="en-US" sz="950" b="1" dirty="0">
                <a:solidFill>
                  <a:srgbClr val="E8C85A"/>
                </a:solidFill>
                <a:latin typeface="Calibri" pitchFamily="34" charset="0"/>
                <a:ea typeface="Calibri" pitchFamily="34" charset="-122"/>
                <a:cs typeface="Calibri" pitchFamily="34" charset="-120"/>
              </a:rPr>
              <a:t>🏆 Günstigster Trip aller Zeiten</a:t>
            </a:r>
            <a:endParaRPr lang="en-US" sz="950" dirty="0"/>
          </a:p>
        </p:txBody>
      </p:sp>
      <p:sp>
        <p:nvSpPr>
          <p:cNvPr id="14" name="Shape 12"/>
          <p:cNvSpPr/>
          <p:nvPr/>
        </p:nvSpPr>
        <p:spPr>
          <a:xfrm>
            <a:off x="3703320" y="932688"/>
            <a:ext cx="3291840" cy="2578608"/>
          </a:xfrm>
          <a:prstGeom prst="rect">
            <a:avLst/>
          </a:prstGeom>
          <a:solidFill>
            <a:srgbClr val="16213E"/>
          </a:solidFill>
          <a:ln w="12700">
            <a:solidFill>
              <a:srgbClr val="5A8FE8"/>
            </a:solidFill>
            <a:prstDash val="solid"/>
          </a:ln>
        </p:spPr>
      </p:sp>
      <p:sp>
        <p:nvSpPr>
          <p:cNvPr id="15" name="Shape 13"/>
          <p:cNvSpPr/>
          <p:nvPr/>
        </p:nvSpPr>
        <p:spPr>
          <a:xfrm>
            <a:off x="3703320" y="932688"/>
            <a:ext cx="3291840" cy="420624"/>
          </a:xfrm>
          <a:prstGeom prst="rect">
            <a:avLst/>
          </a:prstGeom>
          <a:solidFill>
            <a:srgbClr val="0F3460"/>
          </a:solidFill>
          <a:ln w="12700">
            <a:solidFill>
              <a:srgbClr val="0F3460"/>
            </a:solidFill>
            <a:prstDash val="solid"/>
          </a:ln>
        </p:spPr>
      </p:sp>
      <p:sp>
        <p:nvSpPr>
          <p:cNvPr id="16" name="Text 14"/>
          <p:cNvSpPr/>
          <p:nvPr/>
        </p:nvSpPr>
        <p:spPr>
          <a:xfrm>
            <a:off x="3703320" y="932688"/>
            <a:ext cx="3291840" cy="420624"/>
          </a:xfrm>
          <a:prstGeom prst="rect">
            <a:avLst/>
          </a:prstGeom>
          <a:noFill/>
          <a:ln/>
        </p:spPr>
        <p:txBody>
          <a:bodyPr wrap="square" rtlCol="0" anchor="ctr"/>
          <a:lstStyle/>
          <a:p>
            <a:pPr algn="ctr" indent="0" marL="0">
              <a:buNone/>
            </a:pPr>
            <a:r>
              <a:rPr lang="en-US" sz="1700" b="1" dirty="0">
                <a:solidFill>
                  <a:srgbClr val="5A8FE8"/>
                </a:solidFill>
                <a:latin typeface="Trebuchet MS" pitchFamily="34" charset="0"/>
                <a:ea typeface="Trebuchet MS" pitchFamily="34" charset="-122"/>
                <a:cs typeface="Trebuchet MS" pitchFamily="34" charset="-120"/>
              </a:rPr>
              <a:t>🇬🇷  2022</a:t>
            </a:r>
            <a:endParaRPr lang="en-US" sz="1700" dirty="0"/>
          </a:p>
        </p:txBody>
      </p:sp>
      <p:sp>
        <p:nvSpPr>
          <p:cNvPr id="17" name="Text 15"/>
          <p:cNvSpPr/>
          <p:nvPr/>
        </p:nvSpPr>
        <p:spPr>
          <a:xfrm>
            <a:off x="3703320" y="1389888"/>
            <a:ext cx="3291840" cy="365760"/>
          </a:xfrm>
          <a:prstGeom prst="rect">
            <a:avLst/>
          </a:prstGeom>
          <a:noFill/>
          <a:ln/>
        </p:spPr>
        <p:txBody>
          <a:bodyPr wrap="square"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ATHEN</a:t>
            </a:r>
            <a:endParaRPr lang="en-US" sz="1500" dirty="0"/>
          </a:p>
        </p:txBody>
      </p:sp>
      <p:sp>
        <p:nvSpPr>
          <p:cNvPr id="18" name="Shape 16"/>
          <p:cNvSpPr/>
          <p:nvPr/>
        </p:nvSpPr>
        <p:spPr>
          <a:xfrm>
            <a:off x="3840480" y="1810512"/>
            <a:ext cx="3017520" cy="22860"/>
          </a:xfrm>
          <a:prstGeom prst="rect">
            <a:avLst/>
          </a:prstGeom>
          <a:solidFill>
            <a:srgbClr val="5A8FE8"/>
          </a:solidFill>
          <a:ln w="12700">
            <a:solidFill>
              <a:srgbClr val="5A8FE8"/>
            </a:solidFill>
            <a:prstDash val="solid"/>
          </a:ln>
        </p:spPr>
      </p:sp>
      <p:sp>
        <p:nvSpPr>
          <p:cNvPr id="19" name="Text 17"/>
          <p:cNvSpPr/>
          <p:nvPr/>
        </p:nvSpPr>
        <p:spPr>
          <a:xfrm>
            <a:off x="3794760" y="1847088"/>
            <a:ext cx="3108960" cy="475488"/>
          </a:xfrm>
          <a:prstGeom prst="rect">
            <a:avLst/>
          </a:prstGeom>
          <a:noFill/>
          <a:ln/>
        </p:spPr>
        <p:txBody>
          <a:bodyPr wrap="square" rtlCol="0" anchor="t"/>
          <a:lstStyle/>
          <a:p>
            <a:pPr indent="0" marL="0">
              <a:buNone/>
            </a:pPr>
            <a:r>
              <a:rPr lang="en-US" sz="950" dirty="0">
                <a:solidFill>
                  <a:srgbClr val="E8E8E8"/>
                </a:solidFill>
                <a:latin typeface="Calibri" pitchFamily="34" charset="0"/>
                <a:ea typeface="Calibri" pitchFamily="34" charset="-122"/>
                <a:cs typeface="Calibri" pitchFamily="34" charset="-120"/>
              </a:rPr>
              <a:t>🌅 Dachbar mit Akropolis-Blick</a:t>
            </a:r>
            <a:endParaRPr lang="en-US" sz="950" dirty="0"/>
          </a:p>
        </p:txBody>
      </p:sp>
      <p:sp>
        <p:nvSpPr>
          <p:cNvPr id="20" name="Text 18"/>
          <p:cNvSpPr/>
          <p:nvPr/>
        </p:nvSpPr>
        <p:spPr>
          <a:xfrm>
            <a:off x="3794760" y="2359152"/>
            <a:ext cx="3108960" cy="475488"/>
          </a:xfrm>
          <a:prstGeom prst="rect">
            <a:avLst/>
          </a:prstGeom>
          <a:noFill/>
          <a:ln/>
        </p:spPr>
        <p:txBody>
          <a:bodyPr wrap="square" rtlCol="0" anchor="t"/>
          <a:lstStyle/>
          <a:p>
            <a:pPr indent="0" marL="0">
              <a:buNone/>
            </a:pPr>
            <a:r>
              <a:rPr lang="en-US" sz="950" dirty="0">
                <a:solidFill>
                  <a:srgbClr val="E8E8E8"/>
                </a:solidFill>
                <a:latin typeface="Calibri" pitchFamily="34" charset="0"/>
                <a:ea typeface="Calibri" pitchFamily="34" charset="-122"/>
                <a:cs typeface="Calibri" pitchFamily="34" charset="-120"/>
              </a:rPr>
              <a:t>🐟 Ouzo-Entscheidung: bereut</a:t>
            </a:r>
            <a:endParaRPr lang="en-US" sz="950" dirty="0"/>
          </a:p>
        </p:txBody>
      </p:sp>
      <p:sp>
        <p:nvSpPr>
          <p:cNvPr id="21" name="Text 19"/>
          <p:cNvSpPr/>
          <p:nvPr/>
        </p:nvSpPr>
        <p:spPr>
          <a:xfrm>
            <a:off x="3794760" y="2871216"/>
            <a:ext cx="3108960" cy="475488"/>
          </a:xfrm>
          <a:prstGeom prst="rect">
            <a:avLst/>
          </a:prstGeom>
          <a:noFill/>
          <a:ln/>
        </p:spPr>
        <p:txBody>
          <a:bodyPr wrap="square" rtlCol="0" anchor="t"/>
          <a:lstStyle/>
          <a:p>
            <a:pPr indent="0" marL="0">
              <a:buNone/>
            </a:pPr>
            <a:r>
              <a:rPr lang="en-US" sz="950" b="1" dirty="0">
                <a:solidFill>
                  <a:srgbClr val="5A8FE8"/>
                </a:solidFill>
                <a:latin typeface="Calibri" pitchFamily="34" charset="0"/>
                <a:ea typeface="Calibri" pitchFamily="34" charset="-122"/>
                <a:cs typeface="Calibri" pitchFamily="34" charset="-120"/>
              </a:rPr>
              <a:t>🏆 Wärmster Trip bisher</a:t>
            </a:r>
            <a:endParaRPr lang="en-US" sz="950" dirty="0"/>
          </a:p>
        </p:txBody>
      </p:sp>
      <p:sp>
        <p:nvSpPr>
          <p:cNvPr id="22" name="Shape 20"/>
          <p:cNvSpPr/>
          <p:nvPr/>
        </p:nvSpPr>
        <p:spPr>
          <a:xfrm>
            <a:off x="228600" y="3675888"/>
            <a:ext cx="3291840" cy="2578608"/>
          </a:xfrm>
          <a:prstGeom prst="rect">
            <a:avLst/>
          </a:prstGeom>
          <a:solidFill>
            <a:srgbClr val="16213E"/>
          </a:solidFill>
          <a:ln w="12700">
            <a:solidFill>
              <a:srgbClr val="E85A5A"/>
            </a:solidFill>
            <a:prstDash val="solid"/>
          </a:ln>
        </p:spPr>
      </p:sp>
      <p:sp>
        <p:nvSpPr>
          <p:cNvPr id="23" name="Shape 21"/>
          <p:cNvSpPr/>
          <p:nvPr/>
        </p:nvSpPr>
        <p:spPr>
          <a:xfrm>
            <a:off x="228600" y="3675888"/>
            <a:ext cx="3291840" cy="420624"/>
          </a:xfrm>
          <a:prstGeom prst="rect">
            <a:avLst/>
          </a:prstGeom>
          <a:solidFill>
            <a:srgbClr val="0F3460"/>
          </a:solidFill>
          <a:ln w="12700">
            <a:solidFill>
              <a:srgbClr val="0F3460"/>
            </a:solidFill>
            <a:prstDash val="solid"/>
          </a:ln>
        </p:spPr>
      </p:sp>
      <p:sp>
        <p:nvSpPr>
          <p:cNvPr id="24" name="Text 22"/>
          <p:cNvSpPr/>
          <p:nvPr/>
        </p:nvSpPr>
        <p:spPr>
          <a:xfrm>
            <a:off x="228600" y="3675888"/>
            <a:ext cx="3291840" cy="420624"/>
          </a:xfrm>
          <a:prstGeom prst="rect">
            <a:avLst/>
          </a:prstGeom>
          <a:noFill/>
          <a:ln/>
        </p:spPr>
        <p:txBody>
          <a:bodyPr wrap="square" rtlCol="0" anchor="ctr"/>
          <a:lstStyle/>
          <a:p>
            <a:pPr algn="ctr" indent="0" marL="0">
              <a:buNone/>
            </a:pPr>
            <a:r>
              <a:rPr lang="en-US" sz="1700" b="1" dirty="0">
                <a:solidFill>
                  <a:srgbClr val="E85A5A"/>
                </a:solidFill>
                <a:latin typeface="Trebuchet MS" pitchFamily="34" charset="0"/>
                <a:ea typeface="Trebuchet MS" pitchFamily="34" charset="-122"/>
                <a:cs typeface="Trebuchet MS" pitchFamily="34" charset="-120"/>
              </a:rPr>
              <a:t>🇦🇱  2023</a:t>
            </a:r>
            <a:endParaRPr lang="en-US" sz="1700" dirty="0"/>
          </a:p>
        </p:txBody>
      </p:sp>
      <p:sp>
        <p:nvSpPr>
          <p:cNvPr id="25" name="Text 23"/>
          <p:cNvSpPr/>
          <p:nvPr/>
        </p:nvSpPr>
        <p:spPr>
          <a:xfrm>
            <a:off x="228600" y="4133088"/>
            <a:ext cx="3291840" cy="365760"/>
          </a:xfrm>
          <a:prstGeom prst="rect">
            <a:avLst/>
          </a:prstGeom>
          <a:noFill/>
          <a:ln/>
        </p:spPr>
        <p:txBody>
          <a:bodyPr wrap="square"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TIRANA</a:t>
            </a:r>
            <a:endParaRPr lang="en-US" sz="1500" dirty="0"/>
          </a:p>
        </p:txBody>
      </p:sp>
      <p:sp>
        <p:nvSpPr>
          <p:cNvPr id="26" name="Shape 24"/>
          <p:cNvSpPr/>
          <p:nvPr/>
        </p:nvSpPr>
        <p:spPr>
          <a:xfrm>
            <a:off x="365760" y="4553712"/>
            <a:ext cx="3017520" cy="22860"/>
          </a:xfrm>
          <a:prstGeom prst="rect">
            <a:avLst/>
          </a:prstGeom>
          <a:solidFill>
            <a:srgbClr val="E85A5A"/>
          </a:solidFill>
          <a:ln w="12700">
            <a:solidFill>
              <a:srgbClr val="E85A5A"/>
            </a:solidFill>
            <a:prstDash val="solid"/>
          </a:ln>
        </p:spPr>
      </p:sp>
      <p:sp>
        <p:nvSpPr>
          <p:cNvPr id="27" name="Text 25"/>
          <p:cNvSpPr/>
          <p:nvPr/>
        </p:nvSpPr>
        <p:spPr>
          <a:xfrm>
            <a:off x="320040" y="4590288"/>
            <a:ext cx="3108960" cy="475488"/>
          </a:xfrm>
          <a:prstGeom prst="rect">
            <a:avLst/>
          </a:prstGeom>
          <a:noFill/>
          <a:ln/>
        </p:spPr>
        <p:txBody>
          <a:bodyPr wrap="square" rtlCol="0" anchor="t"/>
          <a:lstStyle/>
          <a:p>
            <a:pPr indent="0" marL="0">
              <a:buNone/>
            </a:pPr>
            <a:r>
              <a:rPr lang="en-US" sz="950" dirty="0">
                <a:solidFill>
                  <a:srgbClr val="E8E8E8"/>
                </a:solidFill>
                <a:latin typeface="Calibri" pitchFamily="34" charset="0"/>
                <a:ea typeface="Calibri" pitchFamily="34" charset="-122"/>
                <a:cs typeface="Calibri" pitchFamily="34" charset="-120"/>
              </a:rPr>
              <a:t>🥘 Bestes Essen: unerwartet gut</a:t>
            </a:r>
            <a:endParaRPr lang="en-US" sz="950" dirty="0"/>
          </a:p>
        </p:txBody>
      </p:sp>
      <p:sp>
        <p:nvSpPr>
          <p:cNvPr id="28" name="Text 26"/>
          <p:cNvSpPr/>
          <p:nvPr/>
        </p:nvSpPr>
        <p:spPr>
          <a:xfrm>
            <a:off x="320040" y="5102352"/>
            <a:ext cx="3108960" cy="475488"/>
          </a:xfrm>
          <a:prstGeom prst="rect">
            <a:avLst/>
          </a:prstGeom>
          <a:noFill/>
          <a:ln/>
        </p:spPr>
        <p:txBody>
          <a:bodyPr wrap="square" rtlCol="0" anchor="t"/>
          <a:lstStyle/>
          <a:p>
            <a:pPr indent="0" marL="0">
              <a:buNone/>
            </a:pPr>
            <a:r>
              <a:rPr lang="en-US" sz="950" dirty="0">
                <a:solidFill>
                  <a:srgbClr val="E8E8E8"/>
                </a:solidFill>
                <a:latin typeface="Calibri" pitchFamily="34" charset="0"/>
                <a:ea typeface="Calibri" pitchFamily="34" charset="-122"/>
                <a:cs typeface="Calibri" pitchFamily="34" charset="-120"/>
              </a:rPr>
              <a:t>🎵 Barkeeper wurde Freund</a:t>
            </a:r>
            <a:endParaRPr lang="en-US" sz="950" dirty="0"/>
          </a:p>
        </p:txBody>
      </p:sp>
      <p:sp>
        <p:nvSpPr>
          <p:cNvPr id="29" name="Text 27"/>
          <p:cNvSpPr/>
          <p:nvPr/>
        </p:nvSpPr>
        <p:spPr>
          <a:xfrm>
            <a:off x="320040" y="5614416"/>
            <a:ext cx="3108960" cy="475488"/>
          </a:xfrm>
          <a:prstGeom prst="rect">
            <a:avLst/>
          </a:prstGeom>
          <a:noFill/>
          <a:ln/>
        </p:spPr>
        <p:txBody>
          <a:bodyPr wrap="square" rtlCol="0" anchor="t"/>
          <a:lstStyle/>
          <a:p>
            <a:pPr indent="0" marL="0">
              <a:buNone/>
            </a:pPr>
            <a:r>
              <a:rPr lang="en-US" sz="950" b="1" dirty="0">
                <a:solidFill>
                  <a:srgbClr val="E85A5A"/>
                </a:solidFill>
                <a:latin typeface="Calibri" pitchFamily="34" charset="0"/>
                <a:ea typeface="Calibri" pitchFamily="34" charset="-122"/>
                <a:cs typeface="Calibri" pitchFamily="34" charset="-120"/>
              </a:rPr>
              <a:t>🏆 Geheimtipp des Jahres</a:t>
            </a:r>
            <a:endParaRPr lang="en-US" sz="950" dirty="0"/>
          </a:p>
        </p:txBody>
      </p:sp>
      <p:sp>
        <p:nvSpPr>
          <p:cNvPr id="30" name="Shape 28"/>
          <p:cNvSpPr/>
          <p:nvPr/>
        </p:nvSpPr>
        <p:spPr>
          <a:xfrm>
            <a:off x="3703320" y="3675888"/>
            <a:ext cx="3291840" cy="2578608"/>
          </a:xfrm>
          <a:prstGeom prst="rect">
            <a:avLst/>
          </a:prstGeom>
          <a:solidFill>
            <a:srgbClr val="16213E"/>
          </a:solidFill>
          <a:ln w="12700">
            <a:solidFill>
              <a:srgbClr val="A55AE8"/>
            </a:solidFill>
            <a:prstDash val="solid"/>
          </a:ln>
        </p:spPr>
      </p:sp>
      <p:sp>
        <p:nvSpPr>
          <p:cNvPr id="31" name="Shape 29"/>
          <p:cNvSpPr/>
          <p:nvPr/>
        </p:nvSpPr>
        <p:spPr>
          <a:xfrm>
            <a:off x="3703320" y="3675888"/>
            <a:ext cx="3291840" cy="420624"/>
          </a:xfrm>
          <a:prstGeom prst="rect">
            <a:avLst/>
          </a:prstGeom>
          <a:solidFill>
            <a:srgbClr val="0F3460"/>
          </a:solidFill>
          <a:ln w="12700">
            <a:solidFill>
              <a:srgbClr val="0F3460"/>
            </a:solidFill>
            <a:prstDash val="solid"/>
          </a:ln>
        </p:spPr>
      </p:sp>
      <p:sp>
        <p:nvSpPr>
          <p:cNvPr id="32" name="Text 30"/>
          <p:cNvSpPr/>
          <p:nvPr/>
        </p:nvSpPr>
        <p:spPr>
          <a:xfrm>
            <a:off x="3703320" y="3675888"/>
            <a:ext cx="3291840" cy="420624"/>
          </a:xfrm>
          <a:prstGeom prst="rect">
            <a:avLst/>
          </a:prstGeom>
          <a:noFill/>
          <a:ln/>
        </p:spPr>
        <p:txBody>
          <a:bodyPr wrap="square" rtlCol="0" anchor="ctr"/>
          <a:lstStyle/>
          <a:p>
            <a:pPr algn="ctr" indent="0" marL="0">
              <a:buNone/>
            </a:pPr>
            <a:r>
              <a:rPr lang="en-US" sz="1700" b="1" dirty="0">
                <a:solidFill>
                  <a:srgbClr val="A55AE8"/>
                </a:solidFill>
                <a:latin typeface="Trebuchet MS" pitchFamily="34" charset="0"/>
                <a:ea typeface="Trebuchet MS" pitchFamily="34" charset="-122"/>
                <a:cs typeface="Trebuchet MS" pitchFamily="34" charset="-120"/>
              </a:rPr>
              <a:t>🇷🇸  2024</a:t>
            </a:r>
            <a:endParaRPr lang="en-US" sz="1700" dirty="0"/>
          </a:p>
        </p:txBody>
      </p:sp>
      <p:sp>
        <p:nvSpPr>
          <p:cNvPr id="33" name="Text 31"/>
          <p:cNvSpPr/>
          <p:nvPr/>
        </p:nvSpPr>
        <p:spPr>
          <a:xfrm>
            <a:off x="3703320" y="4133088"/>
            <a:ext cx="3291840" cy="365760"/>
          </a:xfrm>
          <a:prstGeom prst="rect">
            <a:avLst/>
          </a:prstGeom>
          <a:noFill/>
          <a:ln/>
        </p:spPr>
        <p:txBody>
          <a:bodyPr wrap="square"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BELGRAD</a:t>
            </a:r>
            <a:endParaRPr lang="en-US" sz="1500" dirty="0"/>
          </a:p>
        </p:txBody>
      </p:sp>
      <p:sp>
        <p:nvSpPr>
          <p:cNvPr id="34" name="Shape 32"/>
          <p:cNvSpPr/>
          <p:nvPr/>
        </p:nvSpPr>
        <p:spPr>
          <a:xfrm>
            <a:off x="3840480" y="4553712"/>
            <a:ext cx="3017520" cy="22860"/>
          </a:xfrm>
          <a:prstGeom prst="rect">
            <a:avLst/>
          </a:prstGeom>
          <a:solidFill>
            <a:srgbClr val="A55AE8"/>
          </a:solidFill>
          <a:ln w="12700">
            <a:solidFill>
              <a:srgbClr val="A55AE8"/>
            </a:solidFill>
            <a:prstDash val="solid"/>
          </a:ln>
        </p:spPr>
      </p:sp>
      <p:sp>
        <p:nvSpPr>
          <p:cNvPr id="35" name="Text 33"/>
          <p:cNvSpPr/>
          <p:nvPr/>
        </p:nvSpPr>
        <p:spPr>
          <a:xfrm>
            <a:off x="3794760" y="4590288"/>
            <a:ext cx="3108960" cy="475488"/>
          </a:xfrm>
          <a:prstGeom prst="rect">
            <a:avLst/>
          </a:prstGeom>
          <a:noFill/>
          <a:ln/>
        </p:spPr>
        <p:txBody>
          <a:bodyPr wrap="square" rtlCol="0" anchor="t"/>
          <a:lstStyle/>
          <a:p>
            <a:pPr indent="0" marL="0">
              <a:buNone/>
            </a:pPr>
            <a:r>
              <a:rPr lang="en-US" sz="950" dirty="0">
                <a:solidFill>
                  <a:srgbClr val="E8E8E8"/>
                </a:solidFill>
                <a:latin typeface="Calibri" pitchFamily="34" charset="0"/>
                <a:ea typeface="Calibri" pitchFamily="34" charset="-122"/>
                <a:cs typeface="Calibri" pitchFamily="34" charset="-120"/>
              </a:rPr>
              <a:t>⛵ Splavovi-Clubs am Fluss</a:t>
            </a:r>
            <a:endParaRPr lang="en-US" sz="950" dirty="0"/>
          </a:p>
        </p:txBody>
      </p:sp>
      <p:sp>
        <p:nvSpPr>
          <p:cNvPr id="36" name="Text 34"/>
          <p:cNvSpPr/>
          <p:nvPr/>
        </p:nvSpPr>
        <p:spPr>
          <a:xfrm>
            <a:off x="3794760" y="5102352"/>
            <a:ext cx="3108960" cy="475488"/>
          </a:xfrm>
          <a:prstGeom prst="rect">
            <a:avLst/>
          </a:prstGeom>
          <a:noFill/>
          <a:ln/>
        </p:spPr>
        <p:txBody>
          <a:bodyPr wrap="square" rtlCol="0" anchor="t"/>
          <a:lstStyle/>
          <a:p>
            <a:pPr indent="0" marL="0">
              <a:buNone/>
            </a:pPr>
            <a:r>
              <a:rPr lang="en-US" sz="950" dirty="0">
                <a:solidFill>
                  <a:srgbClr val="E8E8E8"/>
                </a:solidFill>
                <a:latin typeface="Calibri" pitchFamily="34" charset="0"/>
                <a:ea typeface="Calibri" pitchFamily="34" charset="-122"/>
                <a:cs typeface="Calibri" pitchFamily="34" charset="-120"/>
              </a:rPr>
              <a:t>🌄 Heimkehr beim Sonnenaufgang</a:t>
            </a:r>
            <a:endParaRPr lang="en-US" sz="950" dirty="0"/>
          </a:p>
        </p:txBody>
      </p:sp>
      <p:sp>
        <p:nvSpPr>
          <p:cNvPr id="37" name="Text 35"/>
          <p:cNvSpPr/>
          <p:nvPr/>
        </p:nvSpPr>
        <p:spPr>
          <a:xfrm>
            <a:off x="3794760" y="5614416"/>
            <a:ext cx="3108960" cy="475488"/>
          </a:xfrm>
          <a:prstGeom prst="rect">
            <a:avLst/>
          </a:prstGeom>
          <a:noFill/>
          <a:ln/>
        </p:spPr>
        <p:txBody>
          <a:bodyPr wrap="square" rtlCol="0" anchor="t"/>
          <a:lstStyle/>
          <a:p>
            <a:pPr indent="0" marL="0">
              <a:buNone/>
            </a:pPr>
            <a:r>
              <a:rPr lang="en-US" sz="950" b="1" dirty="0">
                <a:solidFill>
                  <a:srgbClr val="A55AE8"/>
                </a:solidFill>
                <a:latin typeface="Calibri" pitchFamily="34" charset="0"/>
                <a:ea typeface="Calibri" pitchFamily="34" charset="-122"/>
                <a:cs typeface="Calibri" pitchFamily="34" charset="-120"/>
              </a:rPr>
              <a:t>🏆 Wildeste Nacht aller Zeiten</a:t>
            </a:r>
            <a:endParaRPr lang="en-US" sz="950" dirty="0"/>
          </a:p>
        </p:txBody>
      </p:sp>
      <p:sp>
        <p:nvSpPr>
          <p:cNvPr id="38" name="Shape 36"/>
          <p:cNvSpPr/>
          <p:nvPr/>
        </p:nvSpPr>
        <p:spPr>
          <a:xfrm>
            <a:off x="7223760" y="914400"/>
            <a:ext cx="4709160" cy="5742432"/>
          </a:xfrm>
          <a:prstGeom prst="rect">
            <a:avLst/>
          </a:prstGeom>
          <a:solidFill>
            <a:srgbClr val="0F3460"/>
          </a:solidFill>
          <a:ln w="12700">
            <a:solidFill>
              <a:srgbClr val="FF8C00"/>
            </a:solidFill>
            <a:prstDash val="solid"/>
          </a:ln>
        </p:spPr>
      </p:sp>
      <p:sp>
        <p:nvSpPr>
          <p:cNvPr id="39" name="Shape 37"/>
          <p:cNvSpPr/>
          <p:nvPr/>
        </p:nvSpPr>
        <p:spPr>
          <a:xfrm>
            <a:off x="7223760" y="914400"/>
            <a:ext cx="4709160" cy="548640"/>
          </a:xfrm>
          <a:prstGeom prst="rect">
            <a:avLst/>
          </a:prstGeom>
          <a:solidFill>
            <a:srgbClr val="FF8C00"/>
          </a:solidFill>
          <a:ln w="12700">
            <a:solidFill>
              <a:srgbClr val="FF8C00"/>
            </a:solidFill>
            <a:prstDash val="solid"/>
          </a:ln>
        </p:spPr>
      </p:sp>
      <p:sp>
        <p:nvSpPr>
          <p:cNvPr id="40" name="Text 38"/>
          <p:cNvSpPr/>
          <p:nvPr/>
        </p:nvSpPr>
        <p:spPr>
          <a:xfrm>
            <a:off x="7223760" y="914400"/>
            <a:ext cx="4709160" cy="548640"/>
          </a:xfrm>
          <a:prstGeom prst="rect">
            <a:avLst/>
          </a:prstGeom>
          <a:noFill/>
          <a:ln/>
        </p:spPr>
        <p:txBody>
          <a:bodyPr wrap="square" rtlCol="0" anchor="ctr"/>
          <a:lstStyle/>
          <a:p>
            <a:pPr algn="ctr" indent="0" marL="0">
              <a:buNone/>
            </a:pPr>
            <a:r>
              <a:rPr lang="en-US" sz="1600" b="1" dirty="0">
                <a:solidFill>
                  <a:srgbClr val="1A1A2E"/>
                </a:solidFill>
                <a:latin typeface="Trebuchet MS" pitchFamily="34" charset="0"/>
                <a:ea typeface="Trebuchet MS" pitchFamily="34" charset="-122"/>
                <a:cs typeface="Trebuchet MS" pitchFamily="34" charset="-120"/>
              </a:rPr>
              <a:t>2025  ·  NEXT STOP</a:t>
            </a:r>
            <a:endParaRPr lang="en-US" sz="1600" dirty="0"/>
          </a:p>
        </p:txBody>
      </p:sp>
      <p:sp>
        <p:nvSpPr>
          <p:cNvPr id="41" name="Text 39"/>
          <p:cNvSpPr/>
          <p:nvPr/>
        </p:nvSpPr>
        <p:spPr>
          <a:xfrm>
            <a:off x="7223760" y="1536192"/>
            <a:ext cx="4709160" cy="640080"/>
          </a:xfrm>
          <a:prstGeom prst="rect">
            <a:avLst/>
          </a:prstGeom>
          <a:noFill/>
          <a:ln/>
        </p:spPr>
        <p:txBody>
          <a:bodyPr wrap="square" rtlCol="0" anchor="ctr"/>
          <a:lstStyle/>
          <a:p>
            <a:pPr algn="ctr" indent="0" marL="0">
              <a:buNone/>
            </a:pPr>
            <a:r>
              <a:rPr lang="en-US" sz="4400" dirty="0">
                <a:solidFill>
                  <a:srgbClr val="000000"/>
                </a:solidFill>
                <a:latin typeface="Segoe UI Emoji" pitchFamily="34" charset="0"/>
                <a:ea typeface="Segoe UI Emoji" pitchFamily="34" charset="-122"/>
                <a:cs typeface="Segoe UI Emoji" pitchFamily="34" charset="-120"/>
              </a:rPr>
              <a:t>🎃</a:t>
            </a:r>
            <a:endParaRPr lang="en-US" sz="4400" dirty="0"/>
          </a:p>
        </p:txBody>
      </p:sp>
      <p:sp>
        <p:nvSpPr>
          <p:cNvPr id="42" name="Text 40"/>
          <p:cNvSpPr/>
          <p:nvPr/>
        </p:nvSpPr>
        <p:spPr>
          <a:xfrm>
            <a:off x="7360920" y="2249424"/>
            <a:ext cx="4434840" cy="402336"/>
          </a:xfrm>
          <a:prstGeom prst="rect">
            <a:avLst/>
          </a:prstGeom>
          <a:noFill/>
          <a:ln/>
        </p:spPr>
        <p:txBody>
          <a:bodyPr wrap="square" rtlCol="0" anchor="ctr"/>
          <a:lstStyle/>
          <a:p>
            <a:pPr algn="ctr" indent="0" marL="0">
              <a:buNone/>
            </a:pPr>
            <a:r>
              <a:rPr lang="en-US" sz="1200" b="1" dirty="0">
                <a:solidFill>
                  <a:srgbClr val="FFC107"/>
                </a:solidFill>
                <a:latin typeface="Trebuchet MS" pitchFamily="34" charset="0"/>
                <a:ea typeface="Trebuchet MS" pitchFamily="34" charset="-122"/>
                <a:cs typeface="Trebuchet MS" pitchFamily="34" charset="-120"/>
              </a:rPr>
              <a:t>TRIP #5 — DIE WAHL IST GEFALLEN</a:t>
            </a:r>
            <a:endParaRPr lang="en-US" sz="1200" dirty="0"/>
          </a:p>
        </p:txBody>
      </p:sp>
      <p:sp>
        <p:nvSpPr>
          <p:cNvPr id="43" name="Shape 41"/>
          <p:cNvSpPr/>
          <p:nvPr/>
        </p:nvSpPr>
        <p:spPr>
          <a:xfrm>
            <a:off x="7406640" y="2761488"/>
            <a:ext cx="4343400" cy="530352"/>
          </a:xfrm>
          <a:prstGeom prst="rect">
            <a:avLst/>
          </a:prstGeom>
          <a:solidFill>
            <a:srgbClr val="16213E"/>
          </a:solidFill>
          <a:ln w="12700">
            <a:solidFill>
              <a:srgbClr val="FF8C00"/>
            </a:solidFill>
            <a:prstDash val="solid"/>
          </a:ln>
        </p:spPr>
      </p:sp>
      <p:sp>
        <p:nvSpPr>
          <p:cNvPr id="44" name="Text 42"/>
          <p:cNvSpPr/>
          <p:nvPr/>
        </p:nvSpPr>
        <p:spPr>
          <a:xfrm>
            <a:off x="7406640" y="2761488"/>
            <a:ext cx="4343400" cy="530352"/>
          </a:xfrm>
          <a:prstGeom prst="rect">
            <a:avLst/>
          </a:prstGeom>
          <a:noFill/>
          <a:ln/>
        </p:spPr>
        <p:txBody>
          <a:bodyPr wrap="square" rtlCol="0" anchor="ctr"/>
          <a:lstStyle/>
          <a:p>
            <a:pPr algn="ctr" indent="0" marL="0">
              <a:buNone/>
            </a:pPr>
            <a:r>
              <a:rPr lang="en-US" sz="1800" b="1" dirty="0">
                <a:solidFill>
                  <a:srgbClr val="FF8C00"/>
                </a:solidFill>
                <a:latin typeface="Trebuchet MS" pitchFamily="34" charset="0"/>
                <a:ea typeface="Trebuchet MS" pitchFamily="34" charset="-122"/>
                <a:cs typeface="Trebuchet MS" pitchFamily="34" charset="-120"/>
              </a:rPr>
              <a:t>🇵🇹  LISSABON</a:t>
            </a:r>
            <a:endParaRPr lang="en-US" sz="1800" dirty="0"/>
          </a:p>
        </p:txBody>
      </p:sp>
      <p:sp>
        <p:nvSpPr>
          <p:cNvPr id="45" name="Text 43"/>
          <p:cNvSpPr/>
          <p:nvPr/>
        </p:nvSpPr>
        <p:spPr>
          <a:xfrm>
            <a:off x="7406640" y="3328416"/>
            <a:ext cx="4343400" cy="566928"/>
          </a:xfrm>
          <a:prstGeom prst="rect">
            <a:avLst/>
          </a:prstGeom>
          <a:noFill/>
          <a:ln/>
        </p:spPr>
        <p:txBody>
          <a:bodyPr wrap="square" rtlCol="0" anchor="t"/>
          <a:lstStyle/>
          <a:p>
            <a:pPr algn="ctr" indent="0" marL="0">
              <a:buNone/>
            </a:pPr>
            <a:r>
              <a:rPr lang="en-US" sz="950" dirty="0">
                <a:solidFill>
                  <a:srgbClr val="9CA3AF"/>
                </a:solidFill>
                <a:latin typeface="Calibri" pitchFamily="34" charset="0"/>
                <a:ea typeface="Calibri" pitchFamily="34" charset="-122"/>
                <a:cs typeface="Calibri" pitchFamily="34" charset="-120"/>
              </a:rPr>
              <a:t>Nightlife-Hauptstadt</a:t>
            </a:r>
            <a:endParaRPr lang="en-US" sz="950" dirty="0"/>
          </a:p>
          <a:p>
            <a:pPr algn="ctr" indent="0" marL="0">
              <a:buNone/>
            </a:pPr>
            <a:r>
              <a:rPr lang="en-US" sz="950" dirty="0">
                <a:solidFill>
                  <a:srgbClr val="9CA3AF"/>
                </a:solidFill>
                <a:latin typeface="Calibri" pitchFamily="34" charset="0"/>
                <a:ea typeface="Calibri" pitchFamily="34" charset="-122"/>
                <a:cs typeface="Calibri" pitchFamily="34" charset="-120"/>
              </a:rPr>
              <a:t>des Atlantiks · 17–22°C</a:t>
            </a:r>
            <a:endParaRPr lang="en-US" sz="950" dirty="0"/>
          </a:p>
        </p:txBody>
      </p:sp>
      <p:sp>
        <p:nvSpPr>
          <p:cNvPr id="46" name="Shape 44"/>
          <p:cNvSpPr/>
          <p:nvPr/>
        </p:nvSpPr>
        <p:spPr>
          <a:xfrm>
            <a:off x="7406640" y="4023360"/>
            <a:ext cx="4343400" cy="530352"/>
          </a:xfrm>
          <a:prstGeom prst="rect">
            <a:avLst/>
          </a:prstGeom>
          <a:solidFill>
            <a:srgbClr val="16213E"/>
          </a:solidFill>
          <a:ln w="12700">
            <a:solidFill>
              <a:srgbClr val="1EB4C8"/>
            </a:solidFill>
            <a:prstDash val="solid"/>
          </a:ln>
        </p:spPr>
      </p:sp>
      <p:sp>
        <p:nvSpPr>
          <p:cNvPr id="47" name="Text 45"/>
          <p:cNvSpPr/>
          <p:nvPr/>
        </p:nvSpPr>
        <p:spPr>
          <a:xfrm>
            <a:off x="7406640" y="4023360"/>
            <a:ext cx="4343400" cy="530352"/>
          </a:xfrm>
          <a:prstGeom prst="rect">
            <a:avLst/>
          </a:prstGeom>
          <a:noFill/>
          <a:ln/>
        </p:spPr>
        <p:txBody>
          <a:bodyPr wrap="square" rtlCol="0" anchor="ctr"/>
          <a:lstStyle/>
          <a:p>
            <a:pPr algn="ctr" indent="0" marL="0">
              <a:buNone/>
            </a:pPr>
            <a:r>
              <a:rPr lang="en-US" sz="1800" b="1" dirty="0">
                <a:solidFill>
                  <a:srgbClr val="1EB4C8"/>
                </a:solidFill>
                <a:latin typeface="Trebuchet MS" pitchFamily="34" charset="0"/>
                <a:ea typeface="Trebuchet MS" pitchFamily="34" charset="-122"/>
                <a:cs typeface="Trebuchet MS" pitchFamily="34" charset="-120"/>
              </a:rPr>
              <a:t>🇲🇹  MALTA</a:t>
            </a:r>
            <a:endParaRPr lang="en-US" sz="1800" dirty="0"/>
          </a:p>
        </p:txBody>
      </p:sp>
      <p:sp>
        <p:nvSpPr>
          <p:cNvPr id="48" name="Text 46"/>
          <p:cNvSpPr/>
          <p:nvPr/>
        </p:nvSpPr>
        <p:spPr>
          <a:xfrm>
            <a:off x="7406640" y="4590288"/>
            <a:ext cx="4343400" cy="566928"/>
          </a:xfrm>
          <a:prstGeom prst="rect">
            <a:avLst/>
          </a:prstGeom>
          <a:noFill/>
          <a:ln/>
        </p:spPr>
        <p:txBody>
          <a:bodyPr wrap="square" rtlCol="0" anchor="t"/>
          <a:lstStyle/>
          <a:p>
            <a:pPr algn="ctr" indent="0" marL="0">
              <a:buNone/>
            </a:pPr>
            <a:r>
              <a:rPr lang="en-US" sz="950" dirty="0">
                <a:solidFill>
                  <a:srgbClr val="9CA3AF"/>
                </a:solidFill>
                <a:latin typeface="Calibri" pitchFamily="34" charset="0"/>
                <a:ea typeface="Calibri" pitchFamily="34" charset="-122"/>
                <a:cs typeface="Calibri" pitchFamily="34" charset="-120"/>
              </a:rPr>
              <a:t>Wärmstes Ziel · Blaue</a:t>
            </a:r>
            <a:endParaRPr lang="en-US" sz="950" dirty="0"/>
          </a:p>
          <a:p>
            <a:pPr algn="ctr" indent="0" marL="0">
              <a:buNone/>
            </a:pPr>
            <a:r>
              <a:rPr lang="en-US" sz="950" dirty="0">
                <a:solidFill>
                  <a:srgbClr val="9CA3AF"/>
                </a:solidFill>
                <a:latin typeface="Calibri" pitchFamily="34" charset="0"/>
                <a:ea typeface="Calibri" pitchFamily="34" charset="-122"/>
                <a:cs typeface="Calibri" pitchFamily="34" charset="-120"/>
              </a:rPr>
              <a:t>Lagune · 22–24°C</a:t>
            </a:r>
            <a:endParaRPr lang="en-US" sz="950" dirty="0"/>
          </a:p>
        </p:txBody>
      </p:sp>
      <p:sp>
        <p:nvSpPr>
          <p:cNvPr id="49" name="Shape 47"/>
          <p:cNvSpPr/>
          <p:nvPr/>
        </p:nvSpPr>
        <p:spPr>
          <a:xfrm>
            <a:off x="7360920" y="5431536"/>
            <a:ext cx="4434840" cy="22860"/>
          </a:xfrm>
          <a:prstGeom prst="rect">
            <a:avLst/>
          </a:prstGeom>
          <a:solidFill>
            <a:srgbClr val="FF8C00"/>
          </a:solidFill>
          <a:ln w="12700">
            <a:solidFill>
              <a:srgbClr val="FF8C00"/>
            </a:solidFill>
            <a:prstDash val="solid"/>
          </a:ln>
        </p:spPr>
      </p:sp>
      <p:sp>
        <p:nvSpPr>
          <p:cNvPr id="50" name="Text 48"/>
          <p:cNvSpPr/>
          <p:nvPr/>
        </p:nvSpPr>
        <p:spPr>
          <a:xfrm>
            <a:off x="7315200" y="5486400"/>
            <a:ext cx="4526280" cy="438912"/>
          </a:xfrm>
          <a:prstGeom prst="rect">
            <a:avLst/>
          </a:prstGeom>
          <a:noFill/>
          <a:ln/>
        </p:spPr>
        <p:txBody>
          <a:bodyPr wrap="square" rtlCol="0" anchor="ctr"/>
          <a:lstStyle/>
          <a:p>
            <a:pPr algn="ctr" indent="0" marL="0">
              <a:buNone/>
            </a:pPr>
            <a:r>
              <a:rPr lang="en-US" sz="950" b="1" dirty="0">
                <a:solidFill>
                  <a:srgbClr val="FF8C00"/>
                </a:solidFill>
                <a:latin typeface="Calibri" pitchFamily="34" charset="0"/>
                <a:ea typeface="Calibri" pitchFamily="34" charset="-122"/>
                <a:cs typeface="Calibri" pitchFamily="34" charset="-120"/>
              </a:rPr>
              <a:t>🎃  31. Oktober 2025 = FREITAG</a:t>
            </a:r>
            <a:endParaRPr lang="en-US" sz="950" dirty="0"/>
          </a:p>
        </p:txBody>
      </p:sp>
      <p:sp>
        <p:nvSpPr>
          <p:cNvPr id="51" name="Text 49"/>
          <p:cNvSpPr/>
          <p:nvPr/>
        </p:nvSpPr>
        <p:spPr>
          <a:xfrm>
            <a:off x="7315200" y="5961888"/>
            <a:ext cx="4526280" cy="438912"/>
          </a:xfrm>
          <a:prstGeom prst="rect">
            <a:avLst/>
          </a:prstGeom>
          <a:noFill/>
          <a:ln/>
        </p:spPr>
        <p:txBody>
          <a:bodyPr wrap="square" rtlCol="0" anchor="ctr"/>
          <a:lstStyle/>
          <a:p>
            <a:pPr algn="ctr" indent="0" marL="0">
              <a:buNone/>
            </a:pPr>
            <a:r>
              <a:rPr lang="en-US" sz="950" i="1" dirty="0">
                <a:solidFill>
                  <a:srgbClr val="9CA3AF"/>
                </a:solidFill>
                <a:latin typeface="Calibri" pitchFamily="34" charset="0"/>
                <a:ea typeface="Calibri" pitchFamily="34" charset="-122"/>
                <a:cs typeface="Calibri" pitchFamily="34" charset="-120"/>
              </a:rPr>
              <a:t>Jeder Trip unvergessen — Trip 5 wird der Beste</a:t>
            </a:r>
            <a:endParaRPr lang="en-US" sz="950" dirty="0"/>
          </a:p>
        </p:txBody>
      </p:sp>
      <p:sp>
        <p:nvSpPr>
          <p:cNvPr id="52" name="Shape 50"/>
          <p:cNvSpPr/>
          <p:nvPr/>
        </p:nvSpPr>
        <p:spPr>
          <a:xfrm>
            <a:off x="0" y="6784848"/>
            <a:ext cx="12192000" cy="73152"/>
          </a:xfrm>
          <a:prstGeom prst="rect">
            <a:avLst/>
          </a:prstGeom>
          <a:solidFill>
            <a:srgbClr val="FF8C00"/>
          </a:solidFill>
          <a:ln w="12700">
            <a:solidFill>
              <a:srgbClr val="FF8C00"/>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Halloween-Trip 2025 – Lissabon vs Madrid vs Rom vs Malta</dc:title>
  <dc:subject>PptxGenJS Presentation</dc:subject>
  <dc:creator>Halloween-Trip 2025</dc:creator>
  <cp:lastModifiedBy>Halloween-Trip 2025</cp:lastModifiedBy>
  <cp:revision>1</cp:revision>
  <dcterms:created xsi:type="dcterms:W3CDTF">2026-05-28T19:58:16Z</dcterms:created>
  <dcterms:modified xsi:type="dcterms:W3CDTF">2026-05-28T19:58:16Z</dcterms:modified>
</cp:coreProperties>
</file>