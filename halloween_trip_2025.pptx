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pic>
        <p:nvPicPr>
          <p:cNvPr id="2" name="Image 0" descr="/home/user/Excelhaus/halloween_trip/title_bg.png">    </p:cNvPr>
          <p:cNvPicPr>
            <a:picLocks noChangeAspect="1"/>
          </p:cNvPicPr>
          <p:nvPr/>
        </p:nvPicPr>
        <p:blipFill>
          <a:blip r:embed="rId1"/>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000000">
              <a:alpha val="58000"/>
            </a:srgbClr>
          </a:solidFill>
          <a:ln w="12700">
            <a:solidFill>
              <a:srgbClr val="000000"/>
            </a:solidFill>
            <a:prstDash val="solid"/>
          </a:ln>
        </p:spPr>
      </p:sp>
      <p:sp>
        <p:nvSpPr>
          <p:cNvPr id="4" name="Shape 1"/>
          <p:cNvSpPr/>
          <p:nvPr/>
        </p:nvSpPr>
        <p:spPr>
          <a:xfrm>
            <a:off x="0" y="0"/>
            <a:ext cx="12192000" cy="91440"/>
          </a:xfrm>
          <a:prstGeom prst="rect">
            <a:avLst/>
          </a:prstGeom>
          <a:solidFill>
            <a:srgbClr val="FF8C00"/>
          </a:solidFill>
          <a:ln w="12700">
            <a:solidFill>
              <a:srgbClr val="FF8C00"/>
            </a:solidFill>
            <a:prstDash val="solid"/>
          </a:ln>
        </p:spPr>
      </p:sp>
      <p:sp>
        <p:nvSpPr>
          <p:cNvPr id="5" name="Text 2"/>
          <p:cNvSpPr/>
          <p:nvPr/>
        </p:nvSpPr>
        <p:spPr>
          <a:xfrm>
            <a:off x="0" y="594360"/>
            <a:ext cx="12192000" cy="914400"/>
          </a:xfrm>
          <a:prstGeom prst="rect">
            <a:avLst/>
          </a:prstGeom>
          <a:noFill/>
          <a:ln/>
        </p:spPr>
        <p:txBody>
          <a:bodyPr wrap="square" rtlCol="0" anchor="ctr"/>
          <a:lstStyle/>
          <a:p>
            <a:pPr algn="ctr" indent="0" marL="0">
              <a:buNone/>
            </a:pPr>
            <a:r>
              <a:rPr lang="en-US" sz="7200" dirty="0">
                <a:solidFill>
                  <a:srgbClr val="000000"/>
                </a:solidFill>
                <a:latin typeface="Segoe UI Emoji" pitchFamily="34" charset="0"/>
                <a:ea typeface="Segoe UI Emoji" pitchFamily="34" charset="-122"/>
                <a:cs typeface="Segoe UI Emoji" pitchFamily="34" charset="-120"/>
              </a:rPr>
              <a:t>🎃</a:t>
            </a:r>
            <a:endParaRPr lang="en-US" sz="7200" dirty="0"/>
          </a:p>
        </p:txBody>
      </p:sp>
      <p:sp>
        <p:nvSpPr>
          <p:cNvPr id="6" name="Text 3"/>
          <p:cNvSpPr/>
          <p:nvPr/>
        </p:nvSpPr>
        <p:spPr>
          <a:xfrm>
            <a:off x="457200" y="1371600"/>
            <a:ext cx="11274552" cy="1097280"/>
          </a:xfrm>
          <a:prstGeom prst="rect">
            <a:avLst/>
          </a:prstGeom>
          <a:noFill/>
          <a:ln/>
        </p:spPr>
        <p:txBody>
          <a:bodyPr wrap="square" rtlCol="0" anchor="ctr"/>
          <a:lstStyle/>
          <a:p>
            <a:pPr algn="ctr" indent="0" marL="0">
              <a:buNone/>
            </a:pPr>
            <a:r>
              <a:rPr lang="en-US" sz="6000" b="1" dirty="0">
                <a:solidFill>
                  <a:srgbClr val="FF8C00"/>
                </a:solidFill>
                <a:latin typeface="Trebuchet MS" pitchFamily="34" charset="0"/>
                <a:ea typeface="Trebuchet MS" pitchFamily="34" charset="-122"/>
                <a:cs typeface="Trebuchet MS" pitchFamily="34" charset="-120"/>
              </a:rPr>
              <a:t>HALLOWEEN-TRIP 2025</a:t>
            </a:r>
            <a:endParaRPr lang="en-US" sz="6000" dirty="0"/>
          </a:p>
        </p:txBody>
      </p:sp>
      <p:sp>
        <p:nvSpPr>
          <p:cNvPr id="7" name="Text 4"/>
          <p:cNvSpPr/>
          <p:nvPr/>
        </p:nvSpPr>
        <p:spPr>
          <a:xfrm>
            <a:off x="457200" y="2542032"/>
            <a:ext cx="11274552" cy="502920"/>
          </a:xfrm>
          <a:prstGeom prst="rect">
            <a:avLst/>
          </a:prstGeom>
          <a:noFill/>
          <a:ln/>
        </p:spPr>
        <p:txBody>
          <a:bodyPr wrap="square" rtlCol="0" anchor="ctr"/>
          <a:lstStyle/>
          <a:p>
            <a:pPr algn="ctr" indent="0" marL="0">
              <a:buNone/>
            </a:pPr>
            <a:r>
              <a:rPr lang="en-US" sz="1900" dirty="0">
                <a:solidFill>
                  <a:srgbClr val="E8E8E8"/>
                </a:solidFill>
                <a:latin typeface="Trebuchet MS" pitchFamily="34" charset="0"/>
                <a:ea typeface="Trebuchet MS" pitchFamily="34" charset="-122"/>
                <a:cs typeface="Trebuchet MS" pitchFamily="34" charset="-120"/>
              </a:rPr>
              <a:t>30. Okt. – 2. Nov.  ·  4 Jungs  ·  Europäische Hauptstadt  ·  Halloween-Nacht</a:t>
            </a:r>
            <a:endParaRPr lang="en-US" sz="1900" dirty="0"/>
          </a:p>
        </p:txBody>
      </p:sp>
      <p:sp>
        <p:nvSpPr>
          <p:cNvPr id="8" name="Shape 5"/>
          <p:cNvSpPr/>
          <p:nvPr/>
        </p:nvSpPr>
        <p:spPr>
          <a:xfrm>
            <a:off x="1828800" y="3246120"/>
            <a:ext cx="8531352" cy="548640"/>
          </a:xfrm>
          <a:prstGeom prst="rect">
            <a:avLst/>
          </a:prstGeom>
          <a:solidFill>
            <a:srgbClr val="16213E">
              <a:alpha val="80000"/>
            </a:srgbClr>
          </a:solidFill>
          <a:ln w="12700">
            <a:solidFill>
              <a:srgbClr val="FF8C00"/>
            </a:solidFill>
            <a:prstDash val="solid"/>
          </a:ln>
        </p:spPr>
      </p:sp>
      <p:sp>
        <p:nvSpPr>
          <p:cNvPr id="9" name="Text 6"/>
          <p:cNvSpPr/>
          <p:nvPr/>
        </p:nvSpPr>
        <p:spPr>
          <a:xfrm>
            <a:off x="1828800" y="3246120"/>
            <a:ext cx="8531352" cy="548640"/>
          </a:xfrm>
          <a:prstGeom prst="rect">
            <a:avLst/>
          </a:prstGeom>
          <a:noFill/>
          <a:ln/>
        </p:spPr>
        <p:txBody>
          <a:bodyPr wrap="square" rtlCol="0" anchor="ctr"/>
          <a:lstStyle/>
          <a:p>
            <a:pPr algn="ctr" indent="0" marL="0">
              <a:buNone/>
            </a:pPr>
            <a:r>
              <a:rPr lang="en-US" sz="1500" dirty="0">
                <a:solidFill>
                  <a:srgbClr val="9CA3AF"/>
                </a:solidFill>
                <a:latin typeface="Calibri" pitchFamily="34" charset="0"/>
                <a:ea typeface="Calibri" pitchFamily="34" charset="-122"/>
                <a:cs typeface="Calibri" pitchFamily="34" charset="-120"/>
              </a:rPr>
              <a:t>Bereits bereist:   ✓ Riga   ✓ Athen   ✓ Tirana   ✓ Belgrad</a:t>
            </a:r>
            <a:endParaRPr lang="en-US" sz="1500" dirty="0"/>
          </a:p>
        </p:txBody>
      </p:sp>
      <p:sp>
        <p:nvSpPr>
          <p:cNvPr id="10" name="Text 7"/>
          <p:cNvSpPr/>
          <p:nvPr/>
        </p:nvSpPr>
        <p:spPr>
          <a:xfrm>
            <a:off x="457200" y="3977640"/>
            <a:ext cx="11274552" cy="594360"/>
          </a:xfrm>
          <a:prstGeom prst="rect">
            <a:avLst/>
          </a:prstGeom>
          <a:noFill/>
          <a:ln/>
        </p:spPr>
        <p:txBody>
          <a:bodyPr wrap="square" rtlCol="0" anchor="ctr"/>
          <a:lstStyle/>
          <a:p>
            <a:pPr algn="ctr" indent="0" marL="0">
              <a:buNone/>
            </a:pPr>
            <a:r>
              <a:rPr lang="en-US" sz="2600" b="1" dirty="0">
                <a:solidFill>
                  <a:srgbClr val="F96167"/>
                </a:solidFill>
                <a:latin typeface="Trebuchet MS" pitchFamily="34" charset="0"/>
                <a:ea typeface="Trebuchet MS" pitchFamily="34" charset="-122"/>
                <a:cs typeface="Trebuchet MS" pitchFamily="34" charset="-120"/>
              </a:rPr>
              <a:t>VIER NEUE ZIELE — JETZT ABSTIMMEN!</a:t>
            </a:r>
            <a:endParaRPr lang="en-US" sz="2600" dirty="0"/>
          </a:p>
        </p:txBody>
      </p:sp>
      <p:sp>
        <p:nvSpPr>
          <p:cNvPr id="11" name="Shape 8"/>
          <p:cNvSpPr/>
          <p:nvPr/>
        </p:nvSpPr>
        <p:spPr>
          <a:xfrm>
            <a:off x="457200" y="4709160"/>
            <a:ext cx="2743200" cy="594360"/>
          </a:xfrm>
          <a:prstGeom prst="rect">
            <a:avLst/>
          </a:prstGeom>
          <a:solidFill>
            <a:srgbClr val="0F3460"/>
          </a:solidFill>
          <a:ln w="12700">
            <a:solidFill>
              <a:srgbClr val="FF8C00"/>
            </a:solidFill>
            <a:prstDash val="solid"/>
          </a:ln>
        </p:spPr>
      </p:sp>
      <p:sp>
        <p:nvSpPr>
          <p:cNvPr id="12" name="Text 9"/>
          <p:cNvSpPr/>
          <p:nvPr/>
        </p:nvSpPr>
        <p:spPr>
          <a:xfrm>
            <a:off x="457200" y="4709160"/>
            <a:ext cx="2743200" cy="594360"/>
          </a:xfrm>
          <a:prstGeom prst="rect">
            <a:avLst/>
          </a:prstGeom>
          <a:noFill/>
          <a:ln/>
        </p:spPr>
        <p:txBody>
          <a:bodyPr wrap="square"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 LISSABON</a:t>
            </a:r>
            <a:endParaRPr lang="en-US" sz="1800" dirty="0"/>
          </a:p>
        </p:txBody>
      </p:sp>
      <p:sp>
        <p:nvSpPr>
          <p:cNvPr id="13" name="Shape 10"/>
          <p:cNvSpPr/>
          <p:nvPr/>
        </p:nvSpPr>
        <p:spPr>
          <a:xfrm>
            <a:off x="3383280" y="4709160"/>
            <a:ext cx="2743200" cy="594360"/>
          </a:xfrm>
          <a:prstGeom prst="rect">
            <a:avLst/>
          </a:prstGeom>
          <a:solidFill>
            <a:srgbClr val="0F3460"/>
          </a:solidFill>
          <a:ln w="12700">
            <a:solidFill>
              <a:srgbClr val="E6321E"/>
            </a:solidFill>
            <a:prstDash val="solid"/>
          </a:ln>
        </p:spPr>
      </p:sp>
      <p:sp>
        <p:nvSpPr>
          <p:cNvPr id="14" name="Text 11"/>
          <p:cNvSpPr/>
          <p:nvPr/>
        </p:nvSpPr>
        <p:spPr>
          <a:xfrm>
            <a:off x="3383280" y="4709160"/>
            <a:ext cx="2743200" cy="594360"/>
          </a:xfrm>
          <a:prstGeom prst="rect">
            <a:avLst/>
          </a:prstGeom>
          <a:noFill/>
          <a:ln/>
        </p:spPr>
        <p:txBody>
          <a:bodyPr wrap="square"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 MADRID</a:t>
            </a:r>
            <a:endParaRPr lang="en-US" sz="1800" dirty="0"/>
          </a:p>
        </p:txBody>
      </p:sp>
      <p:sp>
        <p:nvSpPr>
          <p:cNvPr id="15" name="Shape 12"/>
          <p:cNvSpPr/>
          <p:nvPr/>
        </p:nvSpPr>
        <p:spPr>
          <a:xfrm>
            <a:off x="6309360" y="4709160"/>
            <a:ext cx="2743200" cy="594360"/>
          </a:xfrm>
          <a:prstGeom prst="rect">
            <a:avLst/>
          </a:prstGeom>
          <a:solidFill>
            <a:srgbClr val="0F3460"/>
          </a:solidFill>
          <a:ln w="12700">
            <a:solidFill>
              <a:srgbClr val="D4783A"/>
            </a:solidFill>
            <a:prstDash val="solid"/>
          </a:ln>
        </p:spPr>
      </p:sp>
      <p:sp>
        <p:nvSpPr>
          <p:cNvPr id="16" name="Text 13"/>
          <p:cNvSpPr/>
          <p:nvPr/>
        </p:nvSpPr>
        <p:spPr>
          <a:xfrm>
            <a:off x="6309360" y="4709160"/>
            <a:ext cx="2743200" cy="594360"/>
          </a:xfrm>
          <a:prstGeom prst="rect">
            <a:avLst/>
          </a:prstGeom>
          <a:noFill/>
          <a:ln/>
        </p:spPr>
        <p:txBody>
          <a:bodyPr wrap="square"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 ROM</a:t>
            </a:r>
            <a:endParaRPr lang="en-US" sz="1800" dirty="0"/>
          </a:p>
        </p:txBody>
      </p:sp>
      <p:sp>
        <p:nvSpPr>
          <p:cNvPr id="17" name="Shape 14"/>
          <p:cNvSpPr/>
          <p:nvPr/>
        </p:nvSpPr>
        <p:spPr>
          <a:xfrm>
            <a:off x="9235440" y="4709160"/>
            <a:ext cx="2743200" cy="594360"/>
          </a:xfrm>
          <a:prstGeom prst="rect">
            <a:avLst/>
          </a:prstGeom>
          <a:solidFill>
            <a:srgbClr val="0F3460"/>
          </a:solidFill>
          <a:ln w="12700">
            <a:solidFill>
              <a:srgbClr val="1EB4C8"/>
            </a:solidFill>
            <a:prstDash val="solid"/>
          </a:ln>
        </p:spPr>
      </p:sp>
      <p:sp>
        <p:nvSpPr>
          <p:cNvPr id="18" name="Text 15"/>
          <p:cNvSpPr/>
          <p:nvPr/>
        </p:nvSpPr>
        <p:spPr>
          <a:xfrm>
            <a:off x="9235440" y="4709160"/>
            <a:ext cx="2743200" cy="594360"/>
          </a:xfrm>
          <a:prstGeom prst="rect">
            <a:avLst/>
          </a:prstGeom>
          <a:noFill/>
          <a:ln/>
        </p:spPr>
        <p:txBody>
          <a:bodyPr wrap="square"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 MALTA</a:t>
            </a:r>
            <a:endParaRPr lang="en-US" sz="1800" dirty="0"/>
          </a:p>
        </p:txBody>
      </p:sp>
      <p:sp>
        <p:nvSpPr>
          <p:cNvPr id="19" name="Text 16"/>
          <p:cNvSpPr/>
          <p:nvPr/>
        </p:nvSpPr>
        <p:spPr>
          <a:xfrm>
            <a:off x="0" y="5715000"/>
            <a:ext cx="12192000" cy="365760"/>
          </a:xfrm>
          <a:prstGeom prst="rect">
            <a:avLst/>
          </a:prstGeom>
          <a:noFill/>
          <a:ln/>
        </p:spPr>
        <p:txBody>
          <a:bodyPr wrap="square" rtlCol="0" anchor="ctr"/>
          <a:lstStyle/>
          <a:p>
            <a:pPr algn="ctr" indent="0" marL="0">
              <a:buNone/>
            </a:pPr>
            <a:r>
              <a:rPr lang="en-US" sz="1300" i="1" dirty="0">
                <a:solidFill>
                  <a:srgbClr val="6B7280"/>
                </a:solidFill>
                <a:latin typeface="Calibri" pitchFamily="34" charset="0"/>
                <a:ea typeface="Calibri" pitchFamily="34" charset="-122"/>
                <a:cs typeface="Calibri" pitchFamily="34" charset="-120"/>
              </a:rPr>
              <a:t>Flüge ab DUS · FMO · DTM  ·  Alle Ziele: Ende Oktober 16–24°C</a:t>
            </a:r>
            <a:endParaRPr lang="en-US" sz="1300" dirty="0"/>
          </a:p>
        </p:txBody>
      </p:sp>
      <p:sp>
        <p:nvSpPr>
          <p:cNvPr id="20" name="Shape 1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1 — LISSABON, PORTUGAL</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pic>
        <p:nvPicPr>
          <p:cNvPr id="6" name="Image 0" descr="/home/user/Excelhaus/halloween_trip/lisbon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FF8C00"/>
                </a:solidFill>
                <a:latin typeface="Trebuchet MS" pitchFamily="34" charset="0"/>
                <a:ea typeface="Trebuchet MS" pitchFamily="34" charset="-122"/>
                <a:cs typeface="Trebuchet MS" pitchFamily="34" charset="-120"/>
              </a:rPr>
              <a:t>Nachtleben-Hauptstadt des Atlantiks</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Bairro Alto · Pink Street · Alfama Fado · Castelo de São Jorge</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FF8C00"/>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3h 10m</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FF8C00"/>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€2 – €3</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pro Pint</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FF8C00"/>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17–22°C ☀</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Ende Oktober</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FF8C00"/>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~€735</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FF8C00"/>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Weltklasse</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FF8C00"/>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Nur DUS</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(Eurowings/TAP)</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Lissabon punktet mit warmem Atlantik-Charme und einer der günstigsten, lebendigsten Nachtlebensszenen Europas. Bairro Alto explodiert ab Mitternacht mit 200+ Bars. Pink-Street-Clubs laufen bis in den Morgen. Die Stadt feiert Halloween ausgiebig — Kneipentour, Kostümparties und Mega-Club-Events. Ende Oktober: T-Shirt-Wetter garantiert.</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FLÜGE</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FF8C00"/>
                </a:solidFill>
                <a:latin typeface="Trebuchet MS" pitchFamily="34" charset="0"/>
                <a:ea typeface="Trebuchet MS" pitchFamily="34" charset="-122"/>
                <a:cs typeface="Trebuchet MS" pitchFamily="34" charset="-120"/>
              </a:rPr>
              <a:t>HINFLUG: Deutschland → LIS (Lissabon)</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EW9602</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morgens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10:15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12:20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Frühabflug</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EW9602</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06:20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08:25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EW9604</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~20:30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Premium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TP541</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TAP Portugal</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10m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€150–180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€600–720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bl>
          </a:graphicData>
        </a:graphic>
      </p:graphicFrame>
      <p:sp>
        <p:nvSpPr>
          <p:cNvPr id="8" name="Text 5"/>
          <p:cNvSpPr/>
          <p:nvPr/>
        </p:nvSpPr>
        <p:spPr>
          <a:xfrm>
            <a:off x="365760" y="3712464"/>
            <a:ext cx="11430000" cy="320040"/>
          </a:xfrm>
          <a:prstGeom prst="rect">
            <a:avLst/>
          </a:prstGeom>
          <a:noFill/>
          <a:ln/>
        </p:spPr>
        <p:txBody>
          <a:bodyPr wrap="square" rtlCol="0" anchor="ctr"/>
          <a:lstStyle/>
          <a:p>
            <a:pPr indent="0" marL="0">
              <a:buNone/>
            </a:pPr>
            <a:r>
              <a:rPr lang="en-US" sz="1300" b="1" dirty="0">
                <a:solidFill>
                  <a:srgbClr val="FF8C00"/>
                </a:solidFill>
                <a:latin typeface="Trebuchet MS" pitchFamily="34" charset="0"/>
                <a:ea typeface="Trebuchet MS" pitchFamily="34" charset="-122"/>
                <a:cs typeface="Trebuchet MS" pitchFamily="34" charset="-120"/>
              </a:rPr>
              <a:t>RÜCKFLUG: LIS (Lissabon) → Deutschland (2. Nov.)</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365760" y="4050792"/>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EW9603 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LIS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21:50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50m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5010912"/>
            <a:ext cx="11430000" cy="658368"/>
          </a:xfrm>
          <a:prstGeom prst="rect">
            <a:avLst/>
          </a:prstGeom>
          <a:solidFill>
            <a:srgbClr val="16213E"/>
          </a:solidFill>
          <a:ln w="12700">
            <a:solidFill>
              <a:srgbClr val="0F3460"/>
            </a:solidFill>
            <a:prstDash val="solid"/>
          </a:ln>
        </p:spPr>
      </p:sp>
      <p:sp>
        <p:nvSpPr>
          <p:cNvPr id="11" name="Text 7"/>
          <p:cNvSpPr/>
          <p:nvPr/>
        </p:nvSpPr>
        <p:spPr>
          <a:xfrm>
            <a:off x="502920" y="5056632"/>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DUS (Düsseldorf) ist der EINZIGE Flughafen mit Direktverbindung nach Lissabon — Eurowings &amp; TAP Air Portugal fliegen täglich non-stop.  DTM &amp; FMO erfordern Umsteigen (8h+ Gesamtreisezeit).  Buchen: eurowings.com · kayak.com · Hin &amp; Zurück Ø ~€170–190 p.P.</a:t>
            </a:r>
            <a:endParaRPr lang="en-US" sz="1000" dirty="0"/>
          </a:p>
        </p:txBody>
      </p:sp>
      <p:sp>
        <p:nvSpPr>
          <p:cNvPr id="12" name="Shape 8"/>
          <p:cNvSpPr/>
          <p:nvPr/>
        </p:nvSpPr>
        <p:spPr>
          <a:xfrm>
            <a:off x="8046720" y="5788152"/>
            <a:ext cx="3749040" cy="777240"/>
          </a:xfrm>
          <a:prstGeom prst="rect">
            <a:avLst/>
          </a:prstGeom>
          <a:solidFill>
            <a:srgbClr val="0F3460"/>
          </a:solidFill>
          <a:ln w="12700">
            <a:solidFill>
              <a:srgbClr val="FF8C00"/>
            </a:solidFill>
            <a:prstDash val="solid"/>
          </a:ln>
        </p:spPr>
      </p:sp>
      <p:sp>
        <p:nvSpPr>
          <p:cNvPr id="13" name="Text 9"/>
          <p:cNvSpPr/>
          <p:nvPr/>
        </p:nvSpPr>
        <p:spPr>
          <a:xfrm>
            <a:off x="8046720" y="5806440"/>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6080760"/>
            <a:ext cx="3749040" cy="438912"/>
          </a:xfrm>
          <a:prstGeom prst="rect">
            <a:avLst/>
          </a:prstGeom>
          <a:noFill/>
          <a:ln/>
        </p:spPr>
        <p:txBody>
          <a:bodyPr wrap="square" rtlCol="0" anchor="ctr"/>
          <a:lstStyle/>
          <a:p>
            <a:pPr algn="ctr" indent="0" marL="0">
              <a:buNone/>
            </a:pPr>
            <a:r>
              <a:rPr lang="en-US" sz="2000" b="1" dirty="0">
                <a:solidFill>
                  <a:srgbClr val="FF8C00"/>
                </a:solidFill>
                <a:latin typeface="Trebuchet MS" pitchFamily="34" charset="0"/>
                <a:ea typeface="Trebuchet MS" pitchFamily="34" charset="-122"/>
                <a:cs typeface="Trebuchet MS" pitchFamily="34" charset="-120"/>
              </a:rPr>
              <a:t>€640 – €760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UNTERKUNFT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pic>
        <p:nvPicPr>
          <p:cNvPr id="6" name="Image 0" descr="/home/user/Excelhaus/halloween_trip/lisbon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lisbon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FF8C00"/>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Bairro Alto / São Roque — 2-Zimmer-Wohnung</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FF8C00"/>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FF8C00"/>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Balkon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FF8C00"/>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FF8C00"/>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Zentrallage</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FF8C00"/>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Klimaanlage ✓</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Bairro Alto — direkt im Herz der 200+ Bars, Pink Street 10 Fußminuten entfernt</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FF8C00"/>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~€130</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~€390</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~€60–80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FF8C00"/>
                </a:solidFill>
                <a:latin typeface="Trebuchet MS" pitchFamily="34" charset="0"/>
                <a:ea typeface="Trebuchet MS" pitchFamily="34" charset="-122"/>
                <a:cs typeface="Trebuchet MS" pitchFamily="34" charset="-120"/>
              </a:rPr>
              <a:t>~€450–480</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~€113–120</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FF8C00"/>
                </a:solidFill>
                <a:latin typeface="Calibri" pitchFamily="34" charset="0"/>
                <a:ea typeface="Calibri" pitchFamily="34" charset="-122"/>
                <a:cs typeface="Calibri" pitchFamily="34" charset="-120"/>
              </a:rPr>
              <a:t>airbnb.com/rooms/26081783  (Bairro Alto / São Roque — Verfügbarkeit prüfen)</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Alternative: "Garrett 48" in Chiado — Terrasse, 2 SZ, ~€100–130/Nacht → airbnb.com/rooms/1016061</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TAGESPROGRAMM</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274320" y="896112"/>
            <a:ext cx="5669280" cy="2743200"/>
          </a:xfrm>
          <a:prstGeom prst="rect">
            <a:avLst/>
          </a:prstGeom>
          <a:solidFill>
            <a:srgbClr val="16213E"/>
          </a:solidFill>
          <a:ln w="12700">
            <a:solidFill>
              <a:srgbClr val="FF8C00"/>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EW9602 landet LIS 12:20 · Einchecken in Bairro Alto</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SANDEMANs Stadtführung 15:30 @ Praça do Comércio</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(2,5h, Trinkgeld €10–15 · Baixa, Alfama, Aussichtspunkte)</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Abendessen: Petiscos bei Tasca do Chico ab 20 Uhr</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Bairro Alto Kneipenbummel: 200+ Bars, €2–3 Bier</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Start @ Park Bar (Dachterrasse) → Pavilhão Chinês</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FF8C00"/>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Kochkurs Cooking Lisbon ab 9:30 Uhr (4h, €110 p.P.)</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Mercado 31 de Janeiro · 3-Gang-Menü + Wein inklusive</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Buchung: cookinglisbon.com/market-tour</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Halloween-Kneipentour 22 Uhr · €28 p.P.</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Treffpkt.: Praça Luís de Camões · 3 Bars · 1h offene Bar</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Shots · Kostüm-Wettbewerb · VIP-Clubeintritt</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 1 Uhr: Brunch Electronik Halloween Special</a:t>
            </a:r>
            <a:endParaRPr lang="en-US" sz="900" dirty="0"/>
          </a:p>
        </p:txBody>
      </p:sp>
      <p:sp>
        <p:nvSpPr>
          <p:cNvPr id="27" name="Text 25"/>
          <p:cNvSpPr/>
          <p:nvPr/>
        </p:nvSpPr>
        <p:spPr>
          <a:xfrm>
            <a:off x="6309360" y="319125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Pavilhão Carlos Lopes · Chris Liebing B2B Luke Slater</a:t>
            </a:r>
            <a:endParaRPr lang="en-US" sz="900" dirty="0"/>
          </a:p>
        </p:txBody>
      </p:sp>
      <p:sp>
        <p:nvSpPr>
          <p:cNvPr id="28" name="Shape 26"/>
          <p:cNvSpPr/>
          <p:nvPr/>
        </p:nvSpPr>
        <p:spPr>
          <a:xfrm>
            <a:off x="274320" y="3776472"/>
            <a:ext cx="5669280" cy="2743200"/>
          </a:xfrm>
          <a:prstGeom prst="rect">
            <a:avLst/>
          </a:prstGeom>
          <a:solidFill>
            <a:srgbClr val="16213E"/>
          </a:solidFill>
          <a:ln w="12700">
            <a:solidFill>
              <a:srgbClr val="FF8C00"/>
            </a:solidFill>
            <a:prstDash val="solid"/>
          </a:ln>
        </p:spPr>
      </p:sp>
      <p:sp>
        <p:nvSpPr>
          <p:cNvPr id="29" name="Shape 27"/>
          <p:cNvSpPr/>
          <p:nvPr/>
        </p:nvSpPr>
        <p:spPr>
          <a:xfrm>
            <a:off x="274320" y="3776472"/>
            <a:ext cx="5669280" cy="384048"/>
          </a:xfrm>
          <a:prstGeom prst="rect">
            <a:avLst/>
          </a:prstGeom>
          <a:solidFill>
            <a:srgbClr val="0F3460"/>
          </a:solidFill>
          <a:ln w="12700">
            <a:solidFill>
              <a:srgbClr val="0F3460"/>
            </a:solidFill>
            <a:prstDash val="solid"/>
          </a:ln>
        </p:spPr>
      </p:sp>
      <p:sp>
        <p:nvSpPr>
          <p:cNvPr id="30" name="Text 28"/>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3 — SA., 1. NOV.</a:t>
            </a:r>
            <a:endParaRPr lang="en-US" sz="1100" dirty="0"/>
          </a:p>
        </p:txBody>
      </p:sp>
      <p:sp>
        <p:nvSpPr>
          <p:cNvPr id="31" name="Text 29"/>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Erkunden &amp; Entspannen</a:t>
            </a:r>
            <a:endParaRPr lang="en-US" sz="900" dirty="0"/>
          </a:p>
        </p:txBody>
      </p:sp>
      <p:sp>
        <p:nvSpPr>
          <p:cNvPr id="32" name="Text 30"/>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Ausschlafen — Pastéis de Nata bei Pasteis de Belém</a:t>
            </a:r>
            <a:endParaRPr lang="en-US" sz="900" dirty="0"/>
          </a:p>
        </p:txBody>
      </p:sp>
      <p:sp>
        <p:nvSpPr>
          <p:cNvPr id="33" name="Text 31"/>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Straßenbahn 28: malerische Fahrt durch Alfama</a:t>
            </a:r>
            <a:endParaRPr lang="en-US" sz="900" dirty="0"/>
          </a:p>
        </p:txBody>
      </p:sp>
      <p:sp>
        <p:nvSpPr>
          <p:cNvPr id="34" name="Text 32"/>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Cerveja Musa Craft-Brauerei, Mouraria (lokale IPAs)</a:t>
            </a:r>
            <a:endParaRPr lang="en-US" sz="900" dirty="0"/>
          </a:p>
        </p:txBody>
      </p:sp>
      <p:sp>
        <p:nvSpPr>
          <p:cNvPr id="35" name="Text 33"/>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Miradouro da Graça: bester Sonnenuntergangs-Aussichtsp.</a:t>
            </a:r>
            <a:endParaRPr lang="en-US" sz="900" dirty="0"/>
          </a:p>
        </p:txBody>
      </p:sp>
      <p:sp>
        <p:nvSpPr>
          <p:cNvPr id="36" name="Text 34"/>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Fado-Abend: Tasca do Chico oder Zé da Viola</a:t>
            </a:r>
            <a:endParaRPr lang="en-US" sz="900" dirty="0"/>
          </a:p>
        </p:txBody>
      </p:sp>
      <p:sp>
        <p:nvSpPr>
          <p:cNvPr id="37" name="Text 35"/>
          <p:cNvSpPr/>
          <p:nvPr/>
        </p:nvSpPr>
        <p:spPr>
          <a:xfrm>
            <a:off x="365760" y="554126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Pink Street Nacht: Pensão Amor + Music Box · Lux Frágil</a:t>
            </a:r>
            <a:endParaRPr lang="en-US" sz="900" dirty="0"/>
          </a:p>
        </p:txBody>
      </p:sp>
      <p:sp>
        <p:nvSpPr>
          <p:cNvPr id="38" name="Shape 36"/>
          <p:cNvSpPr/>
          <p:nvPr/>
        </p:nvSpPr>
        <p:spPr>
          <a:xfrm>
            <a:off x="6217920" y="3776472"/>
            <a:ext cx="5669280" cy="2743200"/>
          </a:xfrm>
          <a:prstGeom prst="rect">
            <a:avLst/>
          </a:prstGeom>
          <a:solidFill>
            <a:srgbClr val="16213E"/>
          </a:solidFill>
          <a:ln w="12700">
            <a:solidFill>
              <a:srgbClr val="FF8C00"/>
            </a:solidFill>
            <a:prstDash val="solid"/>
          </a:ln>
        </p:spPr>
      </p:sp>
      <p:sp>
        <p:nvSpPr>
          <p:cNvPr id="39" name="Shape 37"/>
          <p:cNvSpPr/>
          <p:nvPr/>
        </p:nvSpPr>
        <p:spPr>
          <a:xfrm>
            <a:off x="6217920" y="3776472"/>
            <a:ext cx="5669280" cy="384048"/>
          </a:xfrm>
          <a:prstGeom prst="rect">
            <a:avLst/>
          </a:prstGeom>
          <a:solidFill>
            <a:srgbClr val="0F3460"/>
          </a:solidFill>
          <a:ln w="12700">
            <a:solidFill>
              <a:srgbClr val="0F3460"/>
            </a:solidFill>
            <a:prstDash val="solid"/>
          </a:ln>
        </p:spPr>
      </p:sp>
      <p:sp>
        <p:nvSpPr>
          <p:cNvPr id="40" name="Text 38"/>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4 — SO., 2. NOV.</a:t>
            </a:r>
            <a:endParaRPr lang="en-US" sz="1100" dirty="0"/>
          </a:p>
        </p:txBody>
      </p:sp>
      <p:sp>
        <p:nvSpPr>
          <p:cNvPr id="41" name="Text 39"/>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2" name="Text 40"/>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Morgen-Kaffee @ A Brasileira, Chiado</a:t>
            </a:r>
            <a:endParaRPr lang="en-US" sz="900" dirty="0"/>
          </a:p>
        </p:txBody>
      </p:sp>
      <p:sp>
        <p:nvSpPr>
          <p:cNvPr id="43" name="Text 41"/>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Kurzer Besuch Castelo de São Jorge (optional)</a:t>
            </a:r>
            <a:endParaRPr lang="en-US" sz="900" dirty="0"/>
          </a:p>
        </p:txBody>
      </p:sp>
      <p:sp>
        <p:nvSpPr>
          <p:cNvPr id="44" name="Text 42"/>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Ginjinha-Likör, Sardinenkonserven</a:t>
            </a:r>
            <a:endParaRPr lang="en-US" sz="900" dirty="0"/>
          </a:p>
        </p:txBody>
      </p:sp>
      <p:sp>
        <p:nvSpPr>
          <p:cNvPr id="45" name="Text 43"/>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Transfer zum Flughafen (45 Min. einplanen)</a:t>
            </a:r>
            <a:endParaRPr lang="en-US" sz="900" dirty="0"/>
          </a:p>
        </p:txBody>
      </p:sp>
      <p:sp>
        <p:nvSpPr>
          <p:cNvPr id="46" name="Text 44"/>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EW9603  18:00 LIS → 21:50 DUS</a:t>
            </a:r>
            <a:endParaRPr lang="en-US" sz="900" dirty="0"/>
          </a:p>
        </p:txBody>
      </p:sp>
      <p:sp>
        <p:nvSpPr>
          <p:cNvPr id="47" name="Shape 45"/>
          <p:cNvSpPr/>
          <p:nvPr/>
        </p:nvSpPr>
        <p:spPr>
          <a:xfrm>
            <a:off x="274320" y="6510528"/>
            <a:ext cx="11612880" cy="201168"/>
          </a:xfrm>
          <a:prstGeom prst="rect">
            <a:avLst/>
          </a:prstGeom>
          <a:solidFill>
            <a:srgbClr val="16213E"/>
          </a:solidFill>
          <a:ln w="12700">
            <a:solidFill>
              <a:srgbClr val="0F3460"/>
            </a:solidFill>
            <a:prstDash val="solid"/>
          </a:ln>
        </p:spPr>
      </p:sp>
      <p:sp>
        <p:nvSpPr>
          <p:cNvPr id="48" name="Text 46"/>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Kneipentour: eventbrite.co.uk/e/1981093800888  ·  Kochkurs: cookinglisbon.com/booking  ·  Stadtführung: neweuropetours.eu/lisbon  ·  Lux Frágil: luxfragil.com</a:t>
            </a:r>
            <a:endParaRPr lang="en-US" sz="800" dirty="0"/>
          </a:p>
        </p:txBody>
      </p:sp>
      <p:sp>
        <p:nvSpPr>
          <p:cNvPr id="49" name="Shape 4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KOSTENÜBERSICHT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Eurowings EW9602/9603  DUS ↔ LIS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~€170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Bairro Alto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Halloween-Kneipentour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 Haunts — Chiado (31. Okt.)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Cooking Lisbon — Markt + 3-Gang-Menü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SANDEMANs — Praça do Comércio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Mahlzeiten, Petiscos, Pastéis — Ø €15–25/Mahlzeit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Bairro Alto + Pink Street + Clubs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Bolt/Uber, Trinkgelder,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Lissabon,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~€735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~€2.940</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257800"/>
            <a:ext cx="11247120" cy="594360"/>
          </a:xfrm>
          <a:prstGeom prst="rect">
            <a:avLst/>
          </a:prstGeom>
          <a:solidFill>
            <a:srgbClr val="16213E"/>
          </a:solidFill>
          <a:ln w="12700">
            <a:solidFill>
              <a:srgbClr val="FF8C00"/>
            </a:solidFill>
            <a:prstDash val="solid"/>
          </a:ln>
        </p:spPr>
      </p:sp>
      <p:sp>
        <p:nvSpPr>
          <p:cNvPr id="8" name="Text 5"/>
          <p:cNvSpPr/>
          <p:nvPr/>
        </p:nvSpPr>
        <p:spPr>
          <a:xfrm>
            <a:off x="594360" y="5303520"/>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Budgetrahmen: €600–900 p.P. je nach Partylust.  Bier ab €2–3, Supermarkt-Runs helfen sparen.  Clubs (Lux Frágil, Brunch Electronik) kosten je ~€20–30 extra.  Leitungswasser in Restaurants gratis.</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E6321E"/>
          </a:solidFill>
          <a:ln w="12700">
            <a:solidFill>
              <a:srgbClr val="E6321E"/>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2 — MADRID, SPANIEN</a:t>
            </a:r>
            <a:endParaRPr lang="en-US" sz="2200" dirty="0"/>
          </a:p>
        </p:txBody>
      </p:sp>
      <p:sp>
        <p:nvSpPr>
          <p:cNvPr id="5" name="Shape 3"/>
          <p:cNvSpPr/>
          <p:nvPr/>
        </p:nvSpPr>
        <p:spPr>
          <a:xfrm>
            <a:off x="0" y="731520"/>
            <a:ext cx="12192000" cy="27432"/>
          </a:xfrm>
          <a:prstGeom prst="rect">
            <a:avLst/>
          </a:prstGeom>
          <a:solidFill>
            <a:srgbClr val="E6321E"/>
          </a:solidFill>
          <a:ln w="12700">
            <a:solidFill>
              <a:srgbClr val="E6321E"/>
            </a:solidFill>
            <a:prstDash val="solid"/>
          </a:ln>
        </p:spPr>
      </p:sp>
      <p:pic>
        <p:nvPicPr>
          <p:cNvPr id="6" name="Image 0" descr="/home/user/Excelhaus/halloween_trip/madrid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E6321E"/>
                </a:solidFill>
                <a:latin typeface="Trebuchet MS" pitchFamily="34" charset="0"/>
                <a:ea typeface="Trebuchet MS" pitchFamily="34" charset="-122"/>
                <a:cs typeface="Trebuchet MS" pitchFamily="34" charset="-120"/>
              </a:rPr>
              <a:t>Die Stadt, die niemals schläft — buchstäblich</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Malasaña · Chueca · Gran Vía · La Latina · Clubs bis 7 Uhr morgens</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E6321E"/>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E6321E"/>
                </a:solidFill>
                <a:latin typeface="Trebuchet MS" pitchFamily="34" charset="0"/>
                <a:ea typeface="Trebuchet MS" pitchFamily="34" charset="-122"/>
                <a:cs typeface="Trebuchet MS" pitchFamily="34" charset="-120"/>
              </a:rPr>
              <a:t>2h 30m</a:t>
            </a:r>
            <a:endParaRPr lang="en-US" sz="1600" dirty="0"/>
          </a:p>
          <a:p>
            <a:pPr algn="ctr" indent="0" marL="0">
              <a:buNone/>
            </a:pPr>
            <a:r>
              <a:rPr lang="en-US" sz="1600" b="1" dirty="0">
                <a:solidFill>
                  <a:srgbClr val="E6321E"/>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E6321E"/>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E6321E"/>
                </a:solidFill>
                <a:latin typeface="Trebuchet MS" pitchFamily="34" charset="0"/>
                <a:ea typeface="Trebuchet MS" pitchFamily="34" charset="-122"/>
                <a:cs typeface="Trebuchet MS" pitchFamily="34" charset="-120"/>
              </a:rPr>
              <a:t>€2 – €4</a:t>
            </a:r>
            <a:endParaRPr lang="en-US" sz="1600" dirty="0"/>
          </a:p>
          <a:p>
            <a:pPr algn="ctr" indent="0" marL="0">
              <a:buNone/>
            </a:pPr>
            <a:r>
              <a:rPr lang="en-US" sz="1600" b="1" dirty="0">
                <a:solidFill>
                  <a:srgbClr val="E6321E"/>
                </a:solidFill>
                <a:latin typeface="Trebuchet MS" pitchFamily="34" charset="0"/>
                <a:ea typeface="Trebuchet MS" pitchFamily="34" charset="-122"/>
                <a:cs typeface="Trebuchet MS" pitchFamily="34" charset="-120"/>
              </a:rPr>
              <a:t>(Caña/Tubo)</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E6321E"/>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E6321E"/>
                </a:solidFill>
                <a:latin typeface="Trebuchet MS" pitchFamily="34" charset="0"/>
                <a:ea typeface="Trebuchet MS" pitchFamily="34" charset="-122"/>
                <a:cs typeface="Trebuchet MS" pitchFamily="34" charset="-120"/>
              </a:rPr>
              <a:t>18–20°C ☀</a:t>
            </a:r>
            <a:endParaRPr lang="en-US" sz="1600" dirty="0"/>
          </a:p>
          <a:p>
            <a:pPr algn="ctr" indent="0" marL="0">
              <a:buNone/>
            </a:pPr>
            <a:r>
              <a:rPr lang="en-US" sz="1600" b="1" dirty="0">
                <a:solidFill>
                  <a:srgbClr val="E6321E"/>
                </a:solidFill>
                <a:latin typeface="Trebuchet MS" pitchFamily="34" charset="0"/>
                <a:ea typeface="Trebuchet MS" pitchFamily="34" charset="-122"/>
                <a:cs typeface="Trebuchet MS" pitchFamily="34" charset="-120"/>
              </a:rPr>
              <a:t>Ende Oktober</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E6321E"/>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E6321E"/>
                </a:solidFill>
                <a:latin typeface="Trebuchet MS" pitchFamily="34" charset="0"/>
                <a:ea typeface="Trebuchet MS" pitchFamily="34" charset="-122"/>
                <a:cs typeface="Trebuchet MS" pitchFamily="34" charset="-120"/>
              </a:rPr>
              <a:t>~€712</a:t>
            </a:r>
            <a:endParaRPr lang="en-US" sz="1600" dirty="0"/>
          </a:p>
          <a:p>
            <a:pPr algn="ctr" indent="0" marL="0">
              <a:buNone/>
            </a:pPr>
            <a:r>
              <a:rPr lang="en-US" sz="1600" b="1" dirty="0">
                <a:solidFill>
                  <a:srgbClr val="E6321E"/>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E6321E"/>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E6321E"/>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E6321E"/>
                </a:solidFill>
                <a:latin typeface="Trebuchet MS" pitchFamily="34" charset="0"/>
                <a:ea typeface="Trebuchet MS" pitchFamily="34" charset="-122"/>
                <a:cs typeface="Trebuchet MS" pitchFamily="34" charset="-120"/>
              </a:rPr>
              <a:t>Clubs bis 7 Uhr</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E6321E"/>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E6321E"/>
                </a:solidFill>
                <a:latin typeface="Trebuchet MS" pitchFamily="34" charset="0"/>
                <a:ea typeface="Trebuchet MS" pitchFamily="34" charset="-122"/>
                <a:cs typeface="Trebuchet MS" pitchFamily="34" charset="-120"/>
              </a:rPr>
              <a:t>Nur DUS</a:t>
            </a:r>
            <a:endParaRPr lang="en-US" sz="1600" dirty="0"/>
          </a:p>
          <a:p>
            <a:pPr algn="ctr" indent="0" marL="0">
              <a:buNone/>
            </a:pPr>
            <a:r>
              <a:rPr lang="en-US" sz="1600" b="1" dirty="0">
                <a:solidFill>
                  <a:srgbClr val="E6321E"/>
                </a:solidFill>
                <a:latin typeface="Trebuchet MS" pitchFamily="34" charset="0"/>
                <a:ea typeface="Trebuchet MS" pitchFamily="34" charset="-122"/>
                <a:cs typeface="Trebuchet MS" pitchFamily="34" charset="-120"/>
              </a:rPr>
              <a:t>(Iberia/Eurowings)</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Madrid ist das wärmste Halloween Europas. Der 31. Oktober ist ein Freitag UND der 1. November ist Allerheiligen — gesetzlicher Feiertag in Spanien. Heißt: alle sind aus, Clubs offen bis 7 Uhr morgens. Malasañas Boheme-Bar-Szene, kostenlose Tapas bei El Tigre, Vermouth vom Fass in 150 Jahre alten Bodegas, und 7-stöckiger Teatro Kapital Club.</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E6321E"/>
          </a:solidFill>
          <a:ln w="12700">
            <a:solidFill>
              <a:srgbClr val="E6321E"/>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MADRID — FLÜGE</a:t>
            </a:r>
            <a:endParaRPr lang="en-US" sz="2200" dirty="0"/>
          </a:p>
        </p:txBody>
      </p:sp>
      <p:sp>
        <p:nvSpPr>
          <p:cNvPr id="5" name="Shape 3"/>
          <p:cNvSpPr/>
          <p:nvPr/>
        </p:nvSpPr>
        <p:spPr>
          <a:xfrm>
            <a:off x="0" y="731520"/>
            <a:ext cx="12192000" cy="27432"/>
          </a:xfrm>
          <a:prstGeom prst="rect">
            <a:avLst/>
          </a:prstGeom>
          <a:solidFill>
            <a:srgbClr val="E6321E"/>
          </a:solidFill>
          <a:ln w="12700">
            <a:solidFill>
              <a:srgbClr val="E6321E"/>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E6321E"/>
                </a:solidFill>
                <a:latin typeface="Trebuchet MS" pitchFamily="34" charset="0"/>
                <a:ea typeface="Trebuchet MS" pitchFamily="34" charset="-122"/>
                <a:cs typeface="Trebuchet MS" pitchFamily="34" charset="-120"/>
              </a:rPr>
              <a:t>HINFLUG: Deutschland → MAD (Madrid)</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Vorabend</a:t>
                      </a:r>
                      <a:endParaRPr lang="en-US" sz="1000" dirty="0">
                        <a:latin typeface="Calibri" charset="0"/>
                        <a:ea typeface="Calibri" charset="0"/>
                        <a:cs typeface="Calibri" charset="0"/>
                      </a:endParaRPr>
                    </a:p>
                    <a:p>
                      <a:pPr algn="ctr" indent="0" marL="0">
                        <a:buNone/>
                      </a:pPr>
                      <a:r>
                        <a:rPr lang="en-US" sz="1000" b="1" dirty="0">
                          <a:solidFill>
                            <a:srgbClr val="22C55E"/>
                          </a:solidFill>
                          <a:latin typeface="Calibri" pitchFamily="34" charset="0"/>
                          <a:ea typeface="Calibri" pitchFamily="34" charset="-122"/>
                          <a:cs typeface="Calibri" pitchFamily="34" charset="-120"/>
                        </a:rPr>
                        <a:t>29.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Iberia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(IB3166)</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MAD</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~19:55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~22:35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30m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~€380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Frühabflug</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Iberia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(IB3162)</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MAD</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morgens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~06:20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~08:50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30m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~€75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Mittag</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(EW)</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MAD</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mittags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~13:xx</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~15:30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30m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Premium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Vueling</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(VY)</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MAD</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30m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€100–130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€400–520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bl>
          </a:graphicData>
        </a:graphic>
      </p:graphicFrame>
      <p:sp>
        <p:nvSpPr>
          <p:cNvPr id="8" name="Text 5"/>
          <p:cNvSpPr/>
          <p:nvPr/>
        </p:nvSpPr>
        <p:spPr>
          <a:xfrm>
            <a:off x="365760" y="3712464"/>
            <a:ext cx="11430000" cy="320040"/>
          </a:xfrm>
          <a:prstGeom prst="rect">
            <a:avLst/>
          </a:prstGeom>
          <a:noFill/>
          <a:ln/>
        </p:spPr>
        <p:txBody>
          <a:bodyPr wrap="square" rtlCol="0" anchor="ctr"/>
          <a:lstStyle/>
          <a:p>
            <a:pPr indent="0" marL="0">
              <a:buNone/>
            </a:pPr>
            <a:r>
              <a:rPr lang="en-US" sz="1300" b="1" dirty="0">
                <a:solidFill>
                  <a:srgbClr val="E6321E"/>
                </a:solidFill>
                <a:latin typeface="Trebuchet MS" pitchFamily="34" charset="0"/>
                <a:ea typeface="Trebuchet MS" pitchFamily="34" charset="-122"/>
                <a:cs typeface="Trebuchet MS" pitchFamily="34" charset="-120"/>
              </a:rPr>
              <a:t>RÜCKFLUG: MAD (Madrid) → Deutschland (2. Nov.)</a:t>
            </a:r>
            <a:endParaRPr lang="en-US" sz="13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365760" y="4050792"/>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E6321E"/>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Iberia / Eurowings  (MAD→DUS)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MAD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40m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~€70–90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~€280–360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5010912"/>
            <a:ext cx="11430000" cy="658368"/>
          </a:xfrm>
          <a:prstGeom prst="rect">
            <a:avLst/>
          </a:prstGeom>
          <a:solidFill>
            <a:srgbClr val="16213E"/>
          </a:solidFill>
          <a:ln w="12700">
            <a:solidFill>
              <a:srgbClr val="0F3460"/>
            </a:solidFill>
            <a:prstDash val="solid"/>
          </a:ln>
        </p:spPr>
      </p:sp>
      <p:sp>
        <p:nvSpPr>
          <p:cNvPr id="11" name="Text 7"/>
          <p:cNvSpPr/>
          <p:nvPr/>
        </p:nvSpPr>
        <p:spPr>
          <a:xfrm>
            <a:off x="502920" y="5056632"/>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ℹ  DUS (Düsseldorf) ist der empfohlene Abflughafen — Direktflüge mit Iberia (3×/Tag), Eurowings &amp; Vueling.  DTM hat keine Direktverbindung nach Madrid.  FMO erfordert Umstieg.  Flughafen zum Stadtzentrum: Metro Linie 8 (€5) oder Taxi (~€35 Festpreis).</a:t>
            </a:r>
            <a:endParaRPr lang="en-US" sz="1000" dirty="0"/>
          </a:p>
        </p:txBody>
      </p:sp>
      <p:sp>
        <p:nvSpPr>
          <p:cNvPr id="12" name="Shape 8"/>
          <p:cNvSpPr/>
          <p:nvPr/>
        </p:nvSpPr>
        <p:spPr>
          <a:xfrm>
            <a:off x="8046720" y="5788152"/>
            <a:ext cx="3749040" cy="777240"/>
          </a:xfrm>
          <a:prstGeom prst="rect">
            <a:avLst/>
          </a:prstGeom>
          <a:solidFill>
            <a:srgbClr val="0F3460"/>
          </a:solidFill>
          <a:ln w="12700">
            <a:solidFill>
              <a:srgbClr val="E6321E"/>
            </a:solidFill>
            <a:prstDash val="solid"/>
          </a:ln>
        </p:spPr>
      </p:sp>
      <p:sp>
        <p:nvSpPr>
          <p:cNvPr id="13" name="Text 9"/>
          <p:cNvSpPr/>
          <p:nvPr/>
        </p:nvSpPr>
        <p:spPr>
          <a:xfrm>
            <a:off x="8046720" y="5806440"/>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6080760"/>
            <a:ext cx="3749040" cy="438912"/>
          </a:xfrm>
          <a:prstGeom prst="rect">
            <a:avLst/>
          </a:prstGeom>
          <a:noFill/>
          <a:ln/>
        </p:spPr>
        <p:txBody>
          <a:bodyPr wrap="square" rtlCol="0" anchor="ctr"/>
          <a:lstStyle/>
          <a:p>
            <a:pPr algn="ctr" indent="0" marL="0">
              <a:buNone/>
            </a:pPr>
            <a:r>
              <a:rPr lang="en-US" sz="2000" b="1" dirty="0">
                <a:solidFill>
                  <a:srgbClr val="E6321E"/>
                </a:solidFill>
                <a:latin typeface="Trebuchet MS" pitchFamily="34" charset="0"/>
                <a:ea typeface="Trebuchet MS" pitchFamily="34" charset="-122"/>
                <a:cs typeface="Trebuchet MS" pitchFamily="34" charset="-120"/>
              </a:rPr>
              <a:t>€580 – €740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E6321E"/>
          </a:solidFill>
          <a:ln w="12700">
            <a:solidFill>
              <a:srgbClr val="E6321E"/>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MADRID — UNTERKUNFT</a:t>
            </a:r>
            <a:endParaRPr lang="en-US" sz="2200" dirty="0"/>
          </a:p>
        </p:txBody>
      </p:sp>
      <p:sp>
        <p:nvSpPr>
          <p:cNvPr id="5" name="Shape 3"/>
          <p:cNvSpPr/>
          <p:nvPr/>
        </p:nvSpPr>
        <p:spPr>
          <a:xfrm>
            <a:off x="0" y="731520"/>
            <a:ext cx="12192000" cy="27432"/>
          </a:xfrm>
          <a:prstGeom prst="rect">
            <a:avLst/>
          </a:prstGeom>
          <a:solidFill>
            <a:srgbClr val="E6321E"/>
          </a:solidFill>
          <a:ln w="12700">
            <a:solidFill>
              <a:srgbClr val="E6321E"/>
            </a:solidFill>
            <a:prstDash val="solid"/>
          </a:ln>
        </p:spPr>
      </p:sp>
      <p:pic>
        <p:nvPicPr>
          <p:cNvPr id="6" name="Image 0" descr="/home/user/Excelhaus/halloween_trip/madrid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madrid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E6321E"/>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Sonder Malasaña — 2 SZ · Balkon · Bars vor der Haustür</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E6321E"/>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E6321E"/>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E6321E"/>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E6321E"/>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Balkon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E6321E"/>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E6321E"/>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E6321E"/>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E6321E"/>
                </a:solidFill>
                <a:latin typeface="Calibri" pitchFamily="34" charset="0"/>
                <a:ea typeface="Calibri" pitchFamily="34" charset="-122"/>
                <a:cs typeface="Calibri" pitchFamily="34" charset="-120"/>
              </a:rPr>
              <a:t>❄ Klimaanlage ✓</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E6321E"/>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E6321E"/>
                </a:solidFill>
                <a:latin typeface="Calibri" pitchFamily="34" charset="0"/>
                <a:ea typeface="Calibri" pitchFamily="34" charset="-122"/>
                <a:cs typeface="Calibri" pitchFamily="34" charset="-120"/>
              </a:rPr>
              <a:t>🎸 Malasaña-Bars 1 Min</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Malasaña — 1 Min zu Calle de la Palma, 5 Min zur Gran Vía, 10 Min zur Puerta del Sol</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E6321E"/>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E6321E"/>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 (Sonder-verwaltet)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~€150</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~€450</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~€60–80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E6321E"/>
                </a:solidFill>
                <a:latin typeface="Trebuchet MS" pitchFamily="34" charset="0"/>
                <a:ea typeface="Trebuchet MS" pitchFamily="34" charset="-122"/>
                <a:cs typeface="Trebuchet MS" pitchFamily="34" charset="-120"/>
              </a:rPr>
              <a:t>~€510–530</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~€128–133</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E6321E"/>
                </a:solidFill>
                <a:latin typeface="Calibri" pitchFamily="34" charset="0"/>
                <a:ea typeface="Calibri" pitchFamily="34" charset="-122"/>
                <a:cs typeface="Calibri" pitchFamily="34" charset="-120"/>
              </a:rPr>
              <a:t>airbnb.com/rooms/47308216  (Sonder Malasaña — professionell verwaltet, 24/7-Support)</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Budget-Alternative: 2-Zi. zentral Madrid ~€80–110/Nacht → ~€310 Gesamt → ~€78 p.P.</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E6321E"/>
          </a:solidFill>
          <a:ln w="12700">
            <a:solidFill>
              <a:srgbClr val="E6321E"/>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MADRID — TAGESPROGRAMM</a:t>
            </a:r>
            <a:endParaRPr lang="en-US" sz="2200" dirty="0"/>
          </a:p>
        </p:txBody>
      </p:sp>
      <p:sp>
        <p:nvSpPr>
          <p:cNvPr id="5" name="Shape 3"/>
          <p:cNvSpPr/>
          <p:nvPr/>
        </p:nvSpPr>
        <p:spPr>
          <a:xfrm>
            <a:off x="0" y="731520"/>
            <a:ext cx="12192000" cy="27432"/>
          </a:xfrm>
          <a:prstGeom prst="rect">
            <a:avLst/>
          </a:prstGeom>
          <a:solidFill>
            <a:srgbClr val="E6321E"/>
          </a:solidFill>
          <a:ln w="12700">
            <a:solidFill>
              <a:srgbClr val="E6321E"/>
            </a:solidFill>
            <a:prstDash val="solid"/>
          </a:ln>
        </p:spPr>
      </p:sp>
      <p:sp>
        <p:nvSpPr>
          <p:cNvPr id="6" name="Shape 4"/>
          <p:cNvSpPr/>
          <p:nvPr/>
        </p:nvSpPr>
        <p:spPr>
          <a:xfrm>
            <a:off x="274320" y="896112"/>
            <a:ext cx="5669280" cy="2743200"/>
          </a:xfrm>
          <a:prstGeom prst="rect">
            <a:avLst/>
          </a:prstGeom>
          <a:solidFill>
            <a:srgbClr val="16213E"/>
          </a:solidFill>
          <a:ln w="12700">
            <a:solidFill>
              <a:srgbClr val="E6321E"/>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E6321E"/>
                </a:solidFill>
                <a:latin typeface="Trebuchet MS" pitchFamily="34" charset="0"/>
                <a:ea typeface="Trebuchet MS" pitchFamily="34" charset="-122"/>
                <a:cs typeface="Trebuchet MS" pitchFamily="34" charset="-120"/>
              </a:rPr>
              <a:t>TAG 1 — MI., 29.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 (Abends)</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Iberia landet MAD ~22:35 ab DUS</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Metro Linie 8 ins Zentrum (~€5, 20 Min.)</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Einchecken in Malasaña</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Bodega de la Ardosa: Vermouth vom Fass seit 1892</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Malasaña Kneipenbummel: Calle de la Palma, Tupperware</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Bier: Mahou 5 Estrellas ~€3 · La Vía Láctea bis 3 Uhr</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E6321E"/>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E6321E"/>
                </a:solidFill>
                <a:latin typeface="Trebuchet MS" pitchFamily="34" charset="0"/>
                <a:ea typeface="Trebuchet MS" pitchFamily="34" charset="-122"/>
                <a:cs typeface="Trebuchet MS" pitchFamily="34" charset="-120"/>
              </a:rPr>
              <a:t>TAG 2 — DO., 30. OKT.</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Stadtführung &amp; Kochkurs</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SANDEMANs Stadtführung 11:30 Uhr @ Plaza Mayor (2,5h)</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Königspalast, Sol, La Latina, historisches Madrid</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Mittagessen Tapas in der Calle de la Cava Baja</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Kochkurs Cooking Point 17:30–21:30 Uhr (€85 p.P.)</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7 Tapas-Rezepte + Sangría · Calle de Moratín, 11</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Buchung: cookingpoint.es</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Danach: Chueca-Bar-Szene + El Tigre (kostenlose Tapas!)</a:t>
            </a:r>
            <a:endParaRPr lang="en-US" sz="900" dirty="0"/>
          </a:p>
        </p:txBody>
      </p:sp>
      <p:sp>
        <p:nvSpPr>
          <p:cNvPr id="27" name="Shape 25"/>
          <p:cNvSpPr/>
          <p:nvPr/>
        </p:nvSpPr>
        <p:spPr>
          <a:xfrm>
            <a:off x="274320" y="3776472"/>
            <a:ext cx="5669280" cy="2743200"/>
          </a:xfrm>
          <a:prstGeom prst="rect">
            <a:avLst/>
          </a:prstGeom>
          <a:solidFill>
            <a:srgbClr val="16213E"/>
          </a:solidFill>
          <a:ln w="12700">
            <a:solidFill>
              <a:srgbClr val="E6321E"/>
            </a:solidFill>
            <a:prstDash val="solid"/>
          </a:ln>
        </p:spPr>
      </p:sp>
      <p:sp>
        <p:nvSpPr>
          <p:cNvPr id="28" name="Shape 26"/>
          <p:cNvSpPr/>
          <p:nvPr/>
        </p:nvSpPr>
        <p:spPr>
          <a:xfrm>
            <a:off x="274320" y="3776472"/>
            <a:ext cx="5669280" cy="384048"/>
          </a:xfrm>
          <a:prstGeom prst="rect">
            <a:avLst/>
          </a:prstGeom>
          <a:solidFill>
            <a:srgbClr val="0F3460"/>
          </a:solidFill>
          <a:ln w="12700">
            <a:solidFill>
              <a:srgbClr val="0F3460"/>
            </a:solidFill>
            <a:prstDash val="solid"/>
          </a:ln>
        </p:spPr>
      </p:sp>
      <p:sp>
        <p:nvSpPr>
          <p:cNvPr id="29" name="Text 27"/>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E6321E"/>
                </a:solidFill>
                <a:latin typeface="Trebuchet MS" pitchFamily="34" charset="0"/>
                <a:ea typeface="Trebuchet MS" pitchFamily="34" charset="-122"/>
                <a:cs typeface="Trebuchet MS" pitchFamily="34" charset="-120"/>
              </a:rPr>
              <a:t>TAG 3 — FR., 31. OKT. 🎃</a:t>
            </a:r>
            <a:endParaRPr lang="en-US" sz="1100" dirty="0"/>
          </a:p>
        </p:txBody>
      </p:sp>
      <p:sp>
        <p:nvSpPr>
          <p:cNvPr id="30" name="Text 28"/>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31" name="Text 29"/>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Ausschlafen — Madrider Nächte gehen bis 7 Uhr</a:t>
            </a:r>
            <a:endParaRPr lang="en-US" sz="900" dirty="0"/>
          </a:p>
        </p:txBody>
      </p:sp>
      <p:sp>
        <p:nvSpPr>
          <p:cNvPr id="32" name="Text 30"/>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Nachmittags: Prado-Museum oder Retiro-Park</a:t>
            </a:r>
            <a:endParaRPr lang="en-US" sz="900" dirty="0"/>
          </a:p>
        </p:txBody>
      </p:sp>
      <p:sp>
        <p:nvSpPr>
          <p:cNvPr id="33" name="Text 31"/>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Halloween-Kneipentour 22 Uhr · €20 p.P.</a:t>
            </a:r>
            <a:endParaRPr lang="en-US" sz="900" dirty="0"/>
          </a:p>
        </p:txBody>
      </p:sp>
      <p:sp>
        <p:nvSpPr>
          <p:cNvPr id="34" name="Text 32"/>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Treffpkt.: Mulberry's Bar, Calle de Núñez de Arce 9</a:t>
            </a:r>
            <a:endParaRPr lang="en-US" sz="900" dirty="0"/>
          </a:p>
        </p:txBody>
      </p:sp>
      <p:sp>
        <p:nvSpPr>
          <p:cNvPr id="35" name="Text 33"/>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4 Bars · Tequila-Shots · €100 Kostüm-Wettbewerb</a:t>
            </a:r>
            <a:endParaRPr lang="en-US" sz="900" dirty="0"/>
          </a:p>
        </p:txBody>
      </p:sp>
      <p:sp>
        <p:nvSpPr>
          <p:cNvPr id="36" name="Text 34"/>
          <p:cNvSpPr/>
          <p:nvPr/>
        </p:nvSpPr>
        <p:spPr>
          <a:xfrm>
            <a:off x="365760" y="554126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 1 Uhr: Teatro Kapital — 7 Etagen, offen bis 6 Uhr</a:t>
            </a:r>
            <a:endParaRPr lang="en-US" sz="900" dirty="0"/>
          </a:p>
        </p:txBody>
      </p:sp>
      <p:sp>
        <p:nvSpPr>
          <p:cNvPr id="37" name="Text 35"/>
          <p:cNvSpPr/>
          <p:nvPr/>
        </p:nvSpPr>
        <p:spPr>
          <a:xfrm>
            <a:off x="365760" y="580644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Calle Atocha 125 · ~€21 Eintritt · zentralster Club</a:t>
            </a:r>
            <a:endParaRPr lang="en-US" sz="900" dirty="0"/>
          </a:p>
        </p:txBody>
      </p:sp>
      <p:sp>
        <p:nvSpPr>
          <p:cNvPr id="38" name="Shape 36"/>
          <p:cNvSpPr/>
          <p:nvPr/>
        </p:nvSpPr>
        <p:spPr>
          <a:xfrm>
            <a:off x="6217920" y="3776472"/>
            <a:ext cx="5669280" cy="2743200"/>
          </a:xfrm>
          <a:prstGeom prst="rect">
            <a:avLst/>
          </a:prstGeom>
          <a:solidFill>
            <a:srgbClr val="16213E"/>
          </a:solidFill>
          <a:ln w="12700">
            <a:solidFill>
              <a:srgbClr val="E6321E"/>
            </a:solidFill>
            <a:prstDash val="solid"/>
          </a:ln>
        </p:spPr>
      </p:sp>
      <p:sp>
        <p:nvSpPr>
          <p:cNvPr id="39" name="Shape 37"/>
          <p:cNvSpPr/>
          <p:nvPr/>
        </p:nvSpPr>
        <p:spPr>
          <a:xfrm>
            <a:off x="6217920" y="3776472"/>
            <a:ext cx="5669280" cy="384048"/>
          </a:xfrm>
          <a:prstGeom prst="rect">
            <a:avLst/>
          </a:prstGeom>
          <a:solidFill>
            <a:srgbClr val="0F3460"/>
          </a:solidFill>
          <a:ln w="12700">
            <a:solidFill>
              <a:srgbClr val="0F3460"/>
            </a:solidFill>
            <a:prstDash val="solid"/>
          </a:ln>
        </p:spPr>
      </p:sp>
      <p:sp>
        <p:nvSpPr>
          <p:cNvPr id="40" name="Text 38"/>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E6321E"/>
                </a:solidFill>
                <a:latin typeface="Trebuchet MS" pitchFamily="34" charset="0"/>
                <a:ea typeface="Trebuchet MS" pitchFamily="34" charset="-122"/>
                <a:cs typeface="Trebuchet MS" pitchFamily="34" charset="-120"/>
              </a:rPr>
              <a:t>TAG 4 — SA., 1. NOV. 🎉 + SO., 2. NOV.</a:t>
            </a:r>
            <a:endParaRPr lang="en-US" sz="1100" dirty="0"/>
          </a:p>
        </p:txBody>
      </p:sp>
      <p:sp>
        <p:nvSpPr>
          <p:cNvPr id="41" name="Text 39"/>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Feiertag + Abreise</a:t>
            </a:r>
            <a:endParaRPr lang="en-US" sz="900" dirty="0"/>
          </a:p>
        </p:txBody>
      </p:sp>
      <p:sp>
        <p:nvSpPr>
          <p:cNvPr id="42" name="Text 40"/>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1. Nov. = ALLERHEILIGEN (gesetzl. Feiertag in Spanien)</a:t>
            </a:r>
            <a:endParaRPr lang="en-US" sz="900" dirty="0"/>
          </a:p>
        </p:txBody>
      </p:sp>
      <p:sp>
        <p:nvSpPr>
          <p:cNvPr id="43" name="Text 41"/>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Brunch: Churros con Chocolate bei Chocolatería San Ginés</a:t>
            </a:r>
            <a:endParaRPr lang="en-US" sz="900" dirty="0"/>
          </a:p>
        </p:txBody>
      </p:sp>
      <p:sp>
        <p:nvSpPr>
          <p:cNvPr id="44" name="Text 42"/>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Mercado de San Miguel: Pintxos + lokale Weine</a:t>
            </a:r>
            <a:endParaRPr lang="en-US" sz="900" dirty="0"/>
          </a:p>
        </p:txBody>
      </p:sp>
      <p:sp>
        <p:nvSpPr>
          <p:cNvPr id="45" name="Text 43"/>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La Hora del Vermut (~12–15 Uhr) in Malasaña</a:t>
            </a:r>
            <a:endParaRPr lang="en-US" sz="900" dirty="0"/>
          </a:p>
        </p:txBody>
      </p:sp>
      <p:sp>
        <p:nvSpPr>
          <p:cNvPr id="46" name="Text 44"/>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Nacht: Malasaña oder Lavapiés Spät-Bars</a:t>
            </a:r>
            <a:endParaRPr lang="en-US" sz="900" dirty="0"/>
          </a:p>
        </p:txBody>
      </p:sp>
      <p:sp>
        <p:nvSpPr>
          <p:cNvPr id="47" name="Text 45"/>
          <p:cNvSpPr/>
          <p:nvPr/>
        </p:nvSpPr>
        <p:spPr>
          <a:xfrm>
            <a:off x="6309360" y="5541264"/>
            <a:ext cx="5486400" cy="256032"/>
          </a:xfrm>
          <a:prstGeom prst="rect">
            <a:avLst/>
          </a:prstGeom>
          <a:noFill/>
          <a:ln/>
        </p:spPr>
        <p:txBody>
          <a:bodyPr wrap="square" rtlCol="0" anchor="t"/>
          <a:lstStyle/>
          <a:p>
            <a:pPr indent="0" marL="0">
              <a:buNone/>
            </a:pPr>
            <a:endParaRPr lang="en-US" sz="900" dirty="0"/>
          </a:p>
        </p:txBody>
      </p:sp>
      <p:sp>
        <p:nvSpPr>
          <p:cNvPr id="48" name="Text 46"/>
          <p:cNvSpPr/>
          <p:nvPr/>
        </p:nvSpPr>
        <p:spPr>
          <a:xfrm>
            <a:off x="6309360" y="580644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2. NOV.: Rückflug DUS (Iberia/Eurowings)</a:t>
            </a:r>
            <a:endParaRPr lang="en-US" sz="900" dirty="0"/>
          </a:p>
        </p:txBody>
      </p:sp>
      <p:sp>
        <p:nvSpPr>
          <p:cNvPr id="49" name="Text 47"/>
          <p:cNvSpPr/>
          <p:nvPr/>
        </p:nvSpPr>
        <p:spPr>
          <a:xfrm>
            <a:off x="6309360" y="607161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Metro Linie 8 zum Flughafen (~€5, 45 Min. einplanen)</a:t>
            </a:r>
            <a:endParaRPr lang="en-US" sz="900" dirty="0"/>
          </a:p>
        </p:txBody>
      </p:sp>
      <p:sp>
        <p:nvSpPr>
          <p:cNvPr id="50" name="Shape 48"/>
          <p:cNvSpPr/>
          <p:nvPr/>
        </p:nvSpPr>
        <p:spPr>
          <a:xfrm>
            <a:off x="274320" y="6510528"/>
            <a:ext cx="11612880" cy="201168"/>
          </a:xfrm>
          <a:prstGeom prst="rect">
            <a:avLst/>
          </a:prstGeom>
          <a:solidFill>
            <a:srgbClr val="16213E"/>
          </a:solidFill>
          <a:ln w="12700">
            <a:solidFill>
              <a:srgbClr val="0F3460"/>
            </a:solidFill>
            <a:prstDash val="solid"/>
          </a:ln>
        </p:spPr>
      </p:sp>
      <p:sp>
        <p:nvSpPr>
          <p:cNvPr id="51" name="Text 49"/>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Halloween-Kneipentour: eventbrite.es/e/1037812363717  ·  Kochkurs: cookingpoint.es  ·  Stadtführung: neweuropetours.eu/madrid  ·  Teatro Kapital: teatrokapital.com</a:t>
            </a:r>
            <a:endParaRPr lang="en-US" sz="800" dirty="0"/>
          </a:p>
        </p:txBody>
      </p:sp>
      <p:sp>
        <p:nvSpPr>
          <p:cNvPr id="52" name="Shape 50"/>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E6321E"/>
          </a:solidFill>
          <a:ln w="12700">
            <a:solidFill>
              <a:srgbClr val="E6321E"/>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MADRID — KOSTENÜBERSICHT</a:t>
            </a:r>
            <a:endParaRPr lang="en-US" sz="2200" dirty="0"/>
          </a:p>
        </p:txBody>
      </p:sp>
      <p:sp>
        <p:nvSpPr>
          <p:cNvPr id="5" name="Shape 3"/>
          <p:cNvSpPr/>
          <p:nvPr/>
        </p:nvSpPr>
        <p:spPr>
          <a:xfrm>
            <a:off x="0" y="731520"/>
            <a:ext cx="12192000" cy="27432"/>
          </a:xfrm>
          <a:prstGeom prst="rect">
            <a:avLst/>
          </a:prstGeom>
          <a:solidFill>
            <a:srgbClr val="E6321E"/>
          </a:solidFill>
          <a:ln w="12700">
            <a:solidFill>
              <a:srgbClr val="E6321E"/>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E6321E"/>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E6321E"/>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E6321E"/>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Iberia / Eurowings  DUS ↔ MAD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Malasaña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~€130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~€520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Halloween-Kneipentour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Bar Crawl Madrid — Puerta del Sol (31. Okt.)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Cooking Point — 7 Tapas + Sangría (4h)</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SANDEMANs — Plaza Mayor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Tapas, Churros, Markt — Ø €15–20/Mahlzeit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Malasaña + Chueca + Halloween-Club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~€560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Metro, Uber, Souvenirs, Flughafen-Taxi</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Madrid, 29./30.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E6321E"/>
                          </a:solidFill>
                          <a:latin typeface="Trebuchet MS" pitchFamily="34" charset="0"/>
                          <a:ea typeface="Trebuchet MS" pitchFamily="34" charset="-122"/>
                          <a:cs typeface="Trebuchet MS" pitchFamily="34" charset="-120"/>
                        </a:rPr>
                        <a:t>~€712</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~€2.848</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257800"/>
            <a:ext cx="11247120" cy="594360"/>
          </a:xfrm>
          <a:prstGeom prst="rect">
            <a:avLst/>
          </a:prstGeom>
          <a:solidFill>
            <a:srgbClr val="16213E"/>
          </a:solidFill>
          <a:ln w="12700">
            <a:solidFill>
              <a:srgbClr val="E6321E"/>
            </a:solidFill>
            <a:prstDash val="solid"/>
          </a:ln>
        </p:spPr>
      </p:sp>
      <p:sp>
        <p:nvSpPr>
          <p:cNvPr id="8" name="Text 5"/>
          <p:cNvSpPr/>
          <p:nvPr/>
        </p:nvSpPr>
        <p:spPr>
          <a:xfrm>
            <a:off x="594360" y="5303520"/>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Budgetrahmen: €600–900 p.P.  El Tigre Bar: RIESIGE kostenlose Tapas-Teller zum €3-Bier — unbedingt nutzen!  31. Okt. ist Freitag + 1. Nov. Nationalfeiertag = bestes Halloween Europas 2025.</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D4783A"/>
          </a:solidFill>
          <a:ln w="12700">
            <a:solidFill>
              <a:srgbClr val="D4783A"/>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3 — ROM, ITALIEN</a:t>
            </a:r>
            <a:endParaRPr lang="en-US" sz="2200" dirty="0"/>
          </a:p>
        </p:txBody>
      </p:sp>
      <p:sp>
        <p:nvSpPr>
          <p:cNvPr id="5" name="Shape 3"/>
          <p:cNvSpPr/>
          <p:nvPr/>
        </p:nvSpPr>
        <p:spPr>
          <a:xfrm>
            <a:off x="0" y="731520"/>
            <a:ext cx="12192000" cy="27432"/>
          </a:xfrm>
          <a:prstGeom prst="rect">
            <a:avLst/>
          </a:prstGeom>
          <a:solidFill>
            <a:srgbClr val="D4783A"/>
          </a:solidFill>
          <a:ln w="12700">
            <a:solidFill>
              <a:srgbClr val="D4783A"/>
            </a:solidFill>
            <a:prstDash val="solid"/>
          </a:ln>
        </p:spPr>
      </p:sp>
      <p:pic>
        <p:nvPicPr>
          <p:cNvPr id="6" name="Image 0" descr="/home/user/Excelhaus/halloween_trip/rome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D4783A"/>
                </a:solidFill>
                <a:latin typeface="Trebuchet MS" pitchFamily="34" charset="0"/>
                <a:ea typeface="Trebuchet MS" pitchFamily="34" charset="-122"/>
                <a:cs typeface="Trebuchet MS" pitchFamily="34" charset="-120"/>
              </a:rPr>
              <a:t>Die Ewige Stadt — auf die partyfähige Art</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Trastevere · Testaccio · Pigneto · Campo de'Fiori · Clubs bis 5 Uhr</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D4783A"/>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D4783A"/>
                </a:solidFill>
                <a:latin typeface="Trebuchet MS" pitchFamily="34" charset="0"/>
                <a:ea typeface="Trebuchet MS" pitchFamily="34" charset="-122"/>
                <a:cs typeface="Trebuchet MS" pitchFamily="34" charset="-120"/>
              </a:rPr>
              <a:t>2h 15m</a:t>
            </a:r>
            <a:endParaRPr lang="en-US" sz="1600" dirty="0"/>
          </a:p>
          <a:p>
            <a:pPr algn="ctr" indent="0" marL="0">
              <a:buNone/>
            </a:pPr>
            <a:r>
              <a:rPr lang="en-US" sz="1600" b="1" dirty="0">
                <a:solidFill>
                  <a:srgbClr val="D4783A"/>
                </a:solidFill>
                <a:latin typeface="Trebuchet MS" pitchFamily="34" charset="0"/>
                <a:ea typeface="Trebuchet MS" pitchFamily="34" charset="-122"/>
                <a:cs typeface="Trebuchet MS" pitchFamily="34" charset="-120"/>
              </a:rPr>
              <a:t>ab DTM</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D4783A"/>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D4783A"/>
                </a:solidFill>
                <a:latin typeface="Trebuchet MS" pitchFamily="34" charset="0"/>
                <a:ea typeface="Trebuchet MS" pitchFamily="34" charset="-122"/>
                <a:cs typeface="Trebuchet MS" pitchFamily="34" charset="-120"/>
              </a:rPr>
              <a:t>€4 – €6</a:t>
            </a:r>
            <a:endParaRPr lang="en-US" sz="1600" dirty="0"/>
          </a:p>
          <a:p>
            <a:pPr algn="ctr" indent="0" marL="0">
              <a:buNone/>
            </a:pPr>
            <a:r>
              <a:rPr lang="en-US" sz="1600" b="1" dirty="0">
                <a:solidFill>
                  <a:srgbClr val="D4783A"/>
                </a:solidFill>
                <a:latin typeface="Trebuchet MS" pitchFamily="34" charset="0"/>
                <a:ea typeface="Trebuchet MS" pitchFamily="34" charset="-122"/>
                <a:cs typeface="Trebuchet MS" pitchFamily="34" charset="-120"/>
              </a:rPr>
              <a:t>(Peroni/Moretti)</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D4783A"/>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D4783A"/>
                </a:solidFill>
                <a:latin typeface="Trebuchet MS" pitchFamily="34" charset="0"/>
                <a:ea typeface="Trebuchet MS" pitchFamily="34" charset="-122"/>
                <a:cs typeface="Trebuchet MS" pitchFamily="34" charset="-120"/>
              </a:rPr>
              <a:t>16–19°C</a:t>
            </a:r>
            <a:endParaRPr lang="en-US" sz="1600" dirty="0"/>
          </a:p>
          <a:p>
            <a:pPr algn="ctr" indent="0" marL="0">
              <a:buNone/>
            </a:pPr>
            <a:r>
              <a:rPr lang="en-US" sz="1600" b="1" dirty="0">
                <a:solidFill>
                  <a:srgbClr val="D4783A"/>
                </a:solidFill>
                <a:latin typeface="Trebuchet MS" pitchFamily="34" charset="0"/>
                <a:ea typeface="Trebuchet MS" pitchFamily="34" charset="-122"/>
                <a:cs typeface="Trebuchet MS" pitchFamily="34" charset="-120"/>
              </a:rPr>
              <a:t>Ende Oktober</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D4783A"/>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D4783A"/>
                </a:solidFill>
                <a:latin typeface="Trebuchet MS" pitchFamily="34" charset="0"/>
                <a:ea typeface="Trebuchet MS" pitchFamily="34" charset="-122"/>
                <a:cs typeface="Trebuchet MS" pitchFamily="34" charset="-120"/>
              </a:rPr>
              <a:t>~€597</a:t>
            </a:r>
            <a:endParaRPr lang="en-US" sz="1600" dirty="0"/>
          </a:p>
          <a:p>
            <a:pPr algn="ctr" indent="0" marL="0">
              <a:buNone/>
            </a:pPr>
            <a:r>
              <a:rPr lang="en-US" sz="1600" b="1" dirty="0">
                <a:solidFill>
                  <a:srgbClr val="D4783A"/>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D4783A"/>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D4783A"/>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D4783A"/>
                </a:solidFill>
                <a:latin typeface="Trebuchet MS" pitchFamily="34" charset="0"/>
                <a:ea typeface="Trebuchet MS" pitchFamily="34" charset="-122"/>
                <a:cs typeface="Trebuchet MS" pitchFamily="34" charset="-120"/>
              </a:rPr>
              <a:t>Testaccio &amp; Pigneto</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D4783A"/>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D4783A"/>
                </a:solidFill>
                <a:latin typeface="Trebuchet MS" pitchFamily="34" charset="0"/>
                <a:ea typeface="Trebuchet MS" pitchFamily="34" charset="-122"/>
                <a:cs typeface="Trebuchet MS" pitchFamily="34" charset="-120"/>
              </a:rPr>
              <a:t>DTM (Ryanair)</a:t>
            </a:r>
            <a:endParaRPr lang="en-US" sz="1600" dirty="0"/>
          </a:p>
          <a:p>
            <a:pPr algn="ctr" indent="0" marL="0">
              <a:buNone/>
            </a:pPr>
            <a:r>
              <a:rPr lang="en-US" sz="1600" b="1" dirty="0">
                <a:solidFill>
                  <a:srgbClr val="D4783A"/>
                </a:solidFill>
                <a:latin typeface="Trebuchet MS" pitchFamily="34" charset="0"/>
                <a:ea typeface="Trebuchet MS" pitchFamily="34" charset="-122"/>
                <a:cs typeface="Trebuchet MS" pitchFamily="34" charset="-120"/>
              </a:rPr>
              <a:t>oder DUS (Eurowings)</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Rom ist das günstigste Ziel — dank Ryanair direkt ab DTM (Dortmund) zum Flughafen Ciampino. Trastevere ist eines der schönsten Ausgehviertel Europas: enges Kopfsteinpflaster, authentische Ristoranti, Bars bis 2 Uhr. Clubs in Testaccio und Pigneto gehen bis 5 Uhr. Kolosseum und Forum Romanum sind von außen kostenlos. Aperitivo-Zeit (ab 18 Uhr): kostenlose Snacks zum €5-Drink.</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D4783A"/>
          </a:solidFill>
          <a:ln w="12700">
            <a:solidFill>
              <a:srgbClr val="D4783A"/>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ROM — FLÜGE</a:t>
            </a:r>
            <a:endParaRPr lang="en-US" sz="2200" dirty="0"/>
          </a:p>
        </p:txBody>
      </p:sp>
      <p:sp>
        <p:nvSpPr>
          <p:cNvPr id="5" name="Shape 3"/>
          <p:cNvSpPr/>
          <p:nvPr/>
        </p:nvSpPr>
        <p:spPr>
          <a:xfrm>
            <a:off x="0" y="731520"/>
            <a:ext cx="12192000" cy="27432"/>
          </a:xfrm>
          <a:prstGeom prst="rect">
            <a:avLst/>
          </a:prstGeom>
          <a:solidFill>
            <a:srgbClr val="D4783A"/>
          </a:solidFill>
          <a:ln w="12700">
            <a:solidFill>
              <a:srgbClr val="D4783A"/>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D4783A"/>
                </a:solidFill>
                <a:latin typeface="Trebuchet MS" pitchFamily="34" charset="0"/>
                <a:ea typeface="Trebuchet MS" pitchFamily="34" charset="-122"/>
                <a:cs typeface="Trebuchet MS" pitchFamily="34" charset="-120"/>
              </a:rPr>
              <a:t>HINFLUG: Deutschland → CIA/FCO (Rom)</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 (Ryanair)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DTM → CIA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morgens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~08:30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~10:45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15m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 29.10.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 (Ryanair)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DTM → CIA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~18:xx</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~20:xx</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15m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~€65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 DUS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FCO</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20m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~€75–90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~€300–360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Premium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ITA Airways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FCO</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20m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€90–130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€360–520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bl>
          </a:graphicData>
        </a:graphic>
      </p:graphicFrame>
      <p:sp>
        <p:nvSpPr>
          <p:cNvPr id="8" name="Text 5"/>
          <p:cNvSpPr/>
          <p:nvPr/>
        </p:nvSpPr>
        <p:spPr>
          <a:xfrm>
            <a:off x="365760" y="3712464"/>
            <a:ext cx="11430000" cy="320040"/>
          </a:xfrm>
          <a:prstGeom prst="rect">
            <a:avLst/>
          </a:prstGeom>
          <a:noFill/>
          <a:ln/>
        </p:spPr>
        <p:txBody>
          <a:bodyPr wrap="square" rtlCol="0" anchor="ctr"/>
          <a:lstStyle/>
          <a:p>
            <a:pPr indent="0" marL="0">
              <a:buNone/>
            </a:pPr>
            <a:r>
              <a:rPr lang="en-US" sz="1300" b="1" dirty="0">
                <a:solidFill>
                  <a:srgbClr val="D4783A"/>
                </a:solidFill>
                <a:latin typeface="Trebuchet MS" pitchFamily="34" charset="0"/>
                <a:ea typeface="Trebuchet MS" pitchFamily="34" charset="-122"/>
                <a:cs typeface="Trebuchet MS" pitchFamily="34" charset="-120"/>
              </a:rPr>
              <a:t>RÜCKFLUG: CIA/FCO (Rom) → Deutschland (2. Nov.)</a:t>
            </a:r>
            <a:endParaRPr lang="en-US" sz="13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365760" y="4050792"/>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D4783A"/>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FR (Ryanair)  CIA → DTM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CIA → DTM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15m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~€45–65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~€180–260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5010912"/>
            <a:ext cx="11430000" cy="658368"/>
          </a:xfrm>
          <a:prstGeom prst="rect">
            <a:avLst/>
          </a:prstGeom>
          <a:solidFill>
            <a:srgbClr val="16213E"/>
          </a:solidFill>
          <a:ln w="12700">
            <a:solidFill>
              <a:srgbClr val="0F3460"/>
            </a:solidFill>
            <a:prstDash val="solid"/>
          </a:ln>
        </p:spPr>
      </p:sp>
      <p:sp>
        <p:nvSpPr>
          <p:cNvPr id="11" name="Text 7"/>
          <p:cNvSpPr/>
          <p:nvPr/>
        </p:nvSpPr>
        <p:spPr>
          <a:xfrm>
            <a:off x="502920" y="5056632"/>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DTM (Dortmund) → CIA (Ciampino): günstigste Option via Ryanair! Ciampino liegt 12 km südlich von Rom (Bus/Metro ~40 Min., ~€7).  DUS → Fiumicino (FCO) mit Eurowings — 30 Min. per Expresszug ins Zentrum (~€14).  Buchen: ryanair.com · skyscanner.de</a:t>
            </a:r>
            <a:endParaRPr lang="en-US" sz="1000" dirty="0"/>
          </a:p>
        </p:txBody>
      </p:sp>
      <p:sp>
        <p:nvSpPr>
          <p:cNvPr id="12" name="Shape 8"/>
          <p:cNvSpPr/>
          <p:nvPr/>
        </p:nvSpPr>
        <p:spPr>
          <a:xfrm>
            <a:off x="8046720" y="5788152"/>
            <a:ext cx="3749040" cy="777240"/>
          </a:xfrm>
          <a:prstGeom prst="rect">
            <a:avLst/>
          </a:prstGeom>
          <a:solidFill>
            <a:srgbClr val="0F3460"/>
          </a:solidFill>
          <a:ln w="12700">
            <a:solidFill>
              <a:srgbClr val="D4783A"/>
            </a:solidFill>
            <a:prstDash val="solid"/>
          </a:ln>
        </p:spPr>
      </p:sp>
      <p:sp>
        <p:nvSpPr>
          <p:cNvPr id="13" name="Text 9"/>
          <p:cNvSpPr/>
          <p:nvPr/>
        </p:nvSpPr>
        <p:spPr>
          <a:xfrm>
            <a:off x="8046720" y="5806440"/>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6080760"/>
            <a:ext cx="3749040" cy="438912"/>
          </a:xfrm>
          <a:prstGeom prst="rect">
            <a:avLst/>
          </a:prstGeom>
          <a:noFill/>
          <a:ln/>
        </p:spPr>
        <p:txBody>
          <a:bodyPr wrap="square" rtlCol="0" anchor="ctr"/>
          <a:lstStyle/>
          <a:p>
            <a:pPr algn="ctr" indent="0" marL="0">
              <a:buNone/>
            </a:pPr>
            <a:r>
              <a:rPr lang="en-US" sz="2000" b="1" dirty="0">
                <a:solidFill>
                  <a:srgbClr val="D4783A"/>
                </a:solidFill>
                <a:latin typeface="Trebuchet MS" pitchFamily="34" charset="0"/>
                <a:ea typeface="Trebuchet MS" pitchFamily="34" charset="-122"/>
                <a:cs typeface="Trebuchet MS" pitchFamily="34" charset="-120"/>
              </a:rPr>
              <a:t>€400 – €520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D4783A"/>
          </a:solidFill>
          <a:ln w="12700">
            <a:solidFill>
              <a:srgbClr val="D4783A"/>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ROM — UNTERKUNFT</a:t>
            </a:r>
            <a:endParaRPr lang="en-US" sz="2200" dirty="0"/>
          </a:p>
        </p:txBody>
      </p:sp>
      <p:sp>
        <p:nvSpPr>
          <p:cNvPr id="5" name="Shape 3"/>
          <p:cNvSpPr/>
          <p:nvPr/>
        </p:nvSpPr>
        <p:spPr>
          <a:xfrm>
            <a:off x="0" y="731520"/>
            <a:ext cx="12192000" cy="27432"/>
          </a:xfrm>
          <a:prstGeom prst="rect">
            <a:avLst/>
          </a:prstGeom>
          <a:solidFill>
            <a:srgbClr val="D4783A"/>
          </a:solidFill>
          <a:ln w="12700">
            <a:solidFill>
              <a:srgbClr val="D4783A"/>
            </a:solidFill>
            <a:prstDash val="solid"/>
          </a:ln>
        </p:spPr>
      </p:sp>
      <p:pic>
        <p:nvPicPr>
          <p:cNvPr id="6" name="Image 0" descr="/home/user/Excelhaus/halloween_trip/rome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rome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D4783A"/>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Trastevere / Centro Storico — 2-Zi.-Wohnung mit Terrasse</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D4783A"/>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D4783A"/>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D4783A"/>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D4783A"/>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Terrasse/Dachterrasse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D4783A"/>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D4783A"/>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D4783A"/>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D4783A"/>
                </a:solidFill>
                <a:latin typeface="Calibri" pitchFamily="34" charset="0"/>
                <a:ea typeface="Calibri" pitchFamily="34" charset="-122"/>
                <a:cs typeface="Calibri" pitchFamily="34" charset="-120"/>
              </a:rPr>
              <a:t>❄ Klimaanlage ✓</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D4783A"/>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D4783A"/>
                </a:solidFill>
                <a:latin typeface="Calibri" pitchFamily="34" charset="0"/>
                <a:ea typeface="Calibri" pitchFamily="34" charset="-122"/>
                <a:cs typeface="Calibri" pitchFamily="34" charset="-120"/>
              </a:rPr>
              <a:t>🍕 Trastevere-Lage</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Trastevere — Roms schönstes Ausgehviertel, 5 Min. zum Tiber, 10 Min. zum Campo de'Fiori</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D4783A"/>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D4783A"/>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~€120</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~€360</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~€60–80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D4783A"/>
                </a:solidFill>
                <a:latin typeface="Trebuchet MS" pitchFamily="34" charset="0"/>
                <a:ea typeface="Trebuchet MS" pitchFamily="34" charset="-122"/>
                <a:cs typeface="Trebuchet MS" pitchFamily="34" charset="-120"/>
              </a:rPr>
              <a:t>~€420–440</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~€105–110</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D4783A"/>
                </a:solidFill>
                <a:latin typeface="Calibri" pitchFamily="34" charset="0"/>
                <a:ea typeface="Calibri" pitchFamily="34" charset="-122"/>
                <a:cs typeface="Calibri" pitchFamily="34" charset="-120"/>
              </a:rPr>
              <a:t>airbnb.com → Suche: Trastevere, 4 Gäste, 2 SZ, Terrasse/Balkon, 30. Okt.–2. Nov.</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Alternativ: Prati (nahe Vatikan), Pigneto (angesagt) oder Testaccio (Clubs vor der Tür)</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D4783A"/>
          </a:solidFill>
          <a:ln w="12700">
            <a:solidFill>
              <a:srgbClr val="D4783A"/>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ROM — TAGESPROGRAMM</a:t>
            </a:r>
            <a:endParaRPr lang="en-US" sz="2200" dirty="0"/>
          </a:p>
        </p:txBody>
      </p:sp>
      <p:sp>
        <p:nvSpPr>
          <p:cNvPr id="5" name="Shape 3"/>
          <p:cNvSpPr/>
          <p:nvPr/>
        </p:nvSpPr>
        <p:spPr>
          <a:xfrm>
            <a:off x="0" y="731520"/>
            <a:ext cx="12192000" cy="27432"/>
          </a:xfrm>
          <a:prstGeom prst="rect">
            <a:avLst/>
          </a:prstGeom>
          <a:solidFill>
            <a:srgbClr val="D4783A"/>
          </a:solidFill>
          <a:ln w="12700">
            <a:solidFill>
              <a:srgbClr val="D4783A"/>
            </a:solidFill>
            <a:prstDash val="solid"/>
          </a:ln>
        </p:spPr>
      </p:sp>
      <p:sp>
        <p:nvSpPr>
          <p:cNvPr id="6" name="Shape 4"/>
          <p:cNvSpPr/>
          <p:nvPr/>
        </p:nvSpPr>
        <p:spPr>
          <a:xfrm>
            <a:off x="274320" y="896112"/>
            <a:ext cx="5669280" cy="2743200"/>
          </a:xfrm>
          <a:prstGeom prst="rect">
            <a:avLst/>
          </a:prstGeom>
          <a:solidFill>
            <a:srgbClr val="16213E"/>
          </a:solidFill>
          <a:ln w="12700">
            <a:solidFill>
              <a:srgbClr val="D4783A"/>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D4783A"/>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Ryanair landet CIA ~10:45 · Bus/Metro ins Zentrum (~40 Min.)</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Einchecken in Trastevere</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Kolosseum-Außenansicht &amp; Forum Romanum (kostenlos!)</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Aperol Spritz am Campo de'Fiori zum Sonnenuntergang</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Abendessen Trastevere: Pasta Cacio e Pepe ~€15</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Erste Bar-Nacht: Trastevere-Gassen, Peroni €4–5</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D4783A"/>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D4783A"/>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Pasta-Kochkurs 10:00 Uhr (3h, €65 p.P., Testaccio)</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Frische Pasta + Cacio e Pepe + Tiramisu + Wein</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SANDEMANs Free Tour 15:30 @ Piazza Venezia (2,5h)</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Halloween-Kneipentour 21 Uhr · ~€20 p.P.</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Treffpunkt: Nähe Trevi-Brunnen · 4 Bars · Shots</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Kostüm-Wettbewerb · VIP-Clubeintritt</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Danach: Testaccio Clubs bis 5 Uhr (Rashomon, Goa Club)</a:t>
            </a:r>
            <a:endParaRPr lang="en-US" sz="900" dirty="0"/>
          </a:p>
        </p:txBody>
      </p:sp>
      <p:sp>
        <p:nvSpPr>
          <p:cNvPr id="27" name="Shape 25"/>
          <p:cNvSpPr/>
          <p:nvPr/>
        </p:nvSpPr>
        <p:spPr>
          <a:xfrm>
            <a:off x="274320" y="3776472"/>
            <a:ext cx="5669280" cy="2743200"/>
          </a:xfrm>
          <a:prstGeom prst="rect">
            <a:avLst/>
          </a:prstGeom>
          <a:solidFill>
            <a:srgbClr val="16213E"/>
          </a:solidFill>
          <a:ln w="12700">
            <a:solidFill>
              <a:srgbClr val="D4783A"/>
            </a:solidFill>
            <a:prstDash val="solid"/>
          </a:ln>
        </p:spPr>
      </p:sp>
      <p:sp>
        <p:nvSpPr>
          <p:cNvPr id="28" name="Shape 26"/>
          <p:cNvSpPr/>
          <p:nvPr/>
        </p:nvSpPr>
        <p:spPr>
          <a:xfrm>
            <a:off x="274320" y="3776472"/>
            <a:ext cx="5669280" cy="384048"/>
          </a:xfrm>
          <a:prstGeom prst="rect">
            <a:avLst/>
          </a:prstGeom>
          <a:solidFill>
            <a:srgbClr val="0F3460"/>
          </a:solidFill>
          <a:ln w="12700">
            <a:solidFill>
              <a:srgbClr val="0F3460"/>
            </a:solidFill>
            <a:prstDash val="solid"/>
          </a:ln>
        </p:spPr>
      </p:sp>
      <p:sp>
        <p:nvSpPr>
          <p:cNvPr id="29" name="Text 27"/>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D4783A"/>
                </a:solidFill>
                <a:latin typeface="Trebuchet MS" pitchFamily="34" charset="0"/>
                <a:ea typeface="Trebuchet MS" pitchFamily="34" charset="-122"/>
                <a:cs typeface="Trebuchet MS" pitchFamily="34" charset="-120"/>
              </a:rPr>
              <a:t>TAG 3 — SA., 1. NOV.</a:t>
            </a:r>
            <a:endParaRPr lang="en-US" sz="1100" dirty="0"/>
          </a:p>
        </p:txBody>
      </p:sp>
      <p:sp>
        <p:nvSpPr>
          <p:cNvPr id="30" name="Text 28"/>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Sightseeing &amp; Ausgehen</a:t>
            </a:r>
            <a:endParaRPr lang="en-US" sz="900" dirty="0"/>
          </a:p>
        </p:txBody>
      </p:sp>
      <p:sp>
        <p:nvSpPr>
          <p:cNvPr id="31" name="Text 29"/>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Vatikan &amp; Piazza Navona (früh, vor den Massen)</a:t>
            </a:r>
            <a:endParaRPr lang="en-US" sz="900" dirty="0"/>
          </a:p>
        </p:txBody>
      </p:sp>
      <p:sp>
        <p:nvSpPr>
          <p:cNvPr id="32" name="Text 30"/>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Mittag: Original Pizza al Taglio €3–5 pro Stück</a:t>
            </a:r>
            <a:endParaRPr lang="en-US" sz="900" dirty="0"/>
          </a:p>
        </p:txBody>
      </p:sp>
      <p:sp>
        <p:nvSpPr>
          <p:cNvPr id="33" name="Text 31"/>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Aperitivo-Zeit ab 18 Uhr am Campo de'Fiori</a:t>
            </a:r>
            <a:endParaRPr lang="en-US" sz="900" dirty="0"/>
          </a:p>
        </p:txBody>
      </p:sp>
      <p:sp>
        <p:nvSpPr>
          <p:cNvPr id="34" name="Text 32"/>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Spritz + kostenlose Snacks in vielen Bars</a:t>
            </a:r>
            <a:endParaRPr lang="en-US" sz="900" dirty="0"/>
          </a:p>
        </p:txBody>
      </p:sp>
      <p:sp>
        <p:nvSpPr>
          <p:cNvPr id="35" name="Text 33"/>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Testaccio Clubs: Rashomon, Goa Club (ab 1 Uhr)</a:t>
            </a:r>
            <a:endParaRPr lang="en-US" sz="900" dirty="0"/>
          </a:p>
        </p:txBody>
      </p:sp>
      <p:sp>
        <p:nvSpPr>
          <p:cNvPr id="36" name="Text 34"/>
          <p:cNvSpPr/>
          <p:nvPr/>
        </p:nvSpPr>
        <p:spPr>
          <a:xfrm>
            <a:off x="365760" y="554126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Oder Pigneto-Bars: angesagtes Künstler-Viertel</a:t>
            </a:r>
            <a:endParaRPr lang="en-US" sz="900" dirty="0"/>
          </a:p>
        </p:txBody>
      </p:sp>
      <p:sp>
        <p:nvSpPr>
          <p:cNvPr id="37" name="Shape 35"/>
          <p:cNvSpPr/>
          <p:nvPr/>
        </p:nvSpPr>
        <p:spPr>
          <a:xfrm>
            <a:off x="6217920" y="3776472"/>
            <a:ext cx="5669280" cy="2743200"/>
          </a:xfrm>
          <a:prstGeom prst="rect">
            <a:avLst/>
          </a:prstGeom>
          <a:solidFill>
            <a:srgbClr val="16213E"/>
          </a:solidFill>
          <a:ln w="12700">
            <a:solidFill>
              <a:srgbClr val="D4783A"/>
            </a:solidFill>
            <a:prstDash val="solid"/>
          </a:ln>
        </p:spPr>
      </p:sp>
      <p:sp>
        <p:nvSpPr>
          <p:cNvPr id="38" name="Shape 36"/>
          <p:cNvSpPr/>
          <p:nvPr/>
        </p:nvSpPr>
        <p:spPr>
          <a:xfrm>
            <a:off x="6217920" y="3776472"/>
            <a:ext cx="5669280" cy="384048"/>
          </a:xfrm>
          <a:prstGeom prst="rect">
            <a:avLst/>
          </a:prstGeom>
          <a:solidFill>
            <a:srgbClr val="0F3460"/>
          </a:solidFill>
          <a:ln w="12700">
            <a:solidFill>
              <a:srgbClr val="0F3460"/>
            </a:solidFill>
            <a:prstDash val="solid"/>
          </a:ln>
        </p:spPr>
      </p:sp>
      <p:sp>
        <p:nvSpPr>
          <p:cNvPr id="39" name="Text 37"/>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D4783A"/>
                </a:solidFill>
                <a:latin typeface="Trebuchet MS" pitchFamily="34" charset="0"/>
                <a:ea typeface="Trebuchet MS" pitchFamily="34" charset="-122"/>
                <a:cs typeface="Trebuchet MS" pitchFamily="34" charset="-120"/>
              </a:rPr>
              <a:t>TAG 4 — SO., 2. NOV.</a:t>
            </a:r>
            <a:endParaRPr lang="en-US" sz="1100" dirty="0"/>
          </a:p>
        </p:txBody>
      </p:sp>
      <p:sp>
        <p:nvSpPr>
          <p:cNvPr id="40" name="Text 38"/>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1" name="Text 39"/>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Espresso &amp; Cornetto (€2 an der Bar stehend — echt so!)</a:t>
            </a:r>
            <a:endParaRPr lang="en-US" sz="900" dirty="0"/>
          </a:p>
        </p:txBody>
      </p:sp>
      <p:sp>
        <p:nvSpPr>
          <p:cNvPr id="42" name="Text 40"/>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Campo de'Fiori Markt</a:t>
            </a:r>
            <a:endParaRPr lang="en-US" sz="900" dirty="0"/>
          </a:p>
        </p:txBody>
      </p:sp>
      <p:sp>
        <p:nvSpPr>
          <p:cNvPr id="43" name="Text 41"/>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Bus CIA (Ryanair) oder Zug FCO (Eurowings)</a:t>
            </a:r>
            <a:endParaRPr lang="en-US" sz="900" dirty="0"/>
          </a:p>
        </p:txBody>
      </p:sp>
      <p:sp>
        <p:nvSpPr>
          <p:cNvPr id="44" name="Text 42"/>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Ryanair CIA → DTM (Mittag/Abend)</a:t>
            </a:r>
            <a:endParaRPr lang="en-US" sz="900" dirty="0"/>
          </a:p>
        </p:txBody>
      </p:sp>
      <p:sp>
        <p:nvSpPr>
          <p:cNvPr id="45" name="Shape 43"/>
          <p:cNvSpPr/>
          <p:nvPr/>
        </p:nvSpPr>
        <p:spPr>
          <a:xfrm>
            <a:off x="274320" y="6510528"/>
            <a:ext cx="11612880" cy="201168"/>
          </a:xfrm>
          <a:prstGeom prst="rect">
            <a:avLst/>
          </a:prstGeom>
          <a:solidFill>
            <a:srgbClr val="16213E"/>
          </a:solidFill>
          <a:ln w="12700">
            <a:solidFill>
              <a:srgbClr val="0F3460"/>
            </a:solidFill>
            <a:prstDash val="solid"/>
          </a:ln>
        </p:spPr>
      </p:sp>
      <p:sp>
        <p:nvSpPr>
          <p:cNvPr id="46" name="Text 44"/>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Kneipentour: viator.com → "Rome Halloween Pub Crawl"  ·  Kochkurs: cookly.app → "Rome Pasta Class"  ·  Stadtführung: neweuropetours.eu/rome  ·  Ryanair: ryanair.com</a:t>
            </a:r>
            <a:endParaRPr lang="en-US" sz="800" dirty="0"/>
          </a:p>
        </p:txBody>
      </p:sp>
      <p:sp>
        <p:nvSpPr>
          <p:cNvPr id="47" name="Shape 45"/>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D4783A"/>
          </a:solidFill>
          <a:ln w="12700">
            <a:solidFill>
              <a:srgbClr val="D4783A"/>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ROM — KOSTENÜBERSICHT</a:t>
            </a:r>
            <a:endParaRPr lang="en-US" sz="2200" dirty="0"/>
          </a:p>
        </p:txBody>
      </p:sp>
      <p:sp>
        <p:nvSpPr>
          <p:cNvPr id="5" name="Shape 3"/>
          <p:cNvSpPr/>
          <p:nvPr/>
        </p:nvSpPr>
        <p:spPr>
          <a:xfrm>
            <a:off x="0" y="731520"/>
            <a:ext cx="12192000" cy="27432"/>
          </a:xfrm>
          <a:prstGeom prst="rect">
            <a:avLst/>
          </a:prstGeom>
          <a:solidFill>
            <a:srgbClr val="D4783A"/>
          </a:solidFill>
          <a:ln w="12700">
            <a:solidFill>
              <a:srgbClr val="D4783A"/>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D4783A"/>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D4783A"/>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D4783A"/>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Ryanair FR  DTM ↔ CIA (Ciampino)</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Trastevere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Halloween-Kneipentour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 Pub Crawl Rom (31. Okt.)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Pasta-Kochkurs Testaccio — Pasta + Tiramisu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SANDEMANs — Piazza Venezia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Pasta, Pizza al Taglio, Aperitivo — Ø €15–20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Trastevere + Testaccio + Pigneto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~€130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~€520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Bus CIA, Metro,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Rom,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D4783A"/>
                          </a:solidFill>
                          <a:latin typeface="Trebuchet MS" pitchFamily="34" charset="0"/>
                          <a:ea typeface="Trebuchet MS" pitchFamily="34" charset="-122"/>
                          <a:cs typeface="Trebuchet MS" pitchFamily="34" charset="-120"/>
                        </a:rPr>
                        <a:t>~€597</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~€2.388</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257800"/>
            <a:ext cx="11247120" cy="594360"/>
          </a:xfrm>
          <a:prstGeom prst="rect">
            <a:avLst/>
          </a:prstGeom>
          <a:solidFill>
            <a:srgbClr val="16213E"/>
          </a:solidFill>
          <a:ln w="12700">
            <a:solidFill>
              <a:srgbClr val="D4783A"/>
            </a:solidFill>
            <a:prstDash val="solid"/>
          </a:ln>
        </p:spPr>
      </p:sp>
      <p:sp>
        <p:nvSpPr>
          <p:cNvPr id="8" name="Text 5"/>
          <p:cNvSpPr/>
          <p:nvPr/>
        </p:nvSpPr>
        <p:spPr>
          <a:xfrm>
            <a:off x="594360" y="5303520"/>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Günstigstes Ziel dank Ryanair ab DTM!  Aperitivo-Zeit (18–20 Uhr): kostenlose Snacks zum €5-Drink in vielen Bars.  Kolosseum + Forum Romanum Außenansicht = kostenlos.  Budgetrahmen: €500–700 p.P.</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4 — MALTA, VALLETTA</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pic>
        <p:nvPicPr>
          <p:cNvPr id="6" name="Image 0" descr="/home/user/Excelhaus/halloween_trip/malta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1EB4C8"/>
                </a:solidFill>
                <a:latin typeface="Trebuchet MS" pitchFamily="34" charset="0"/>
                <a:ea typeface="Trebuchet MS" pitchFamily="34" charset="-122"/>
                <a:cs typeface="Trebuchet MS" pitchFamily="34" charset="-120"/>
              </a:rPr>
              <a:t>Wärmstes Ziel — Mittelmeer im Oktober</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Paceville · Sliema · Valletta · Blaue Lagune · Cisk Lager</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1EB4C8"/>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~3h 00m</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1EB4C8"/>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€2 – €3</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(Cisk Lager)</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1EB4C8"/>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22–24°C ☀☀</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Wärmstes Ziel!</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1EB4C8"/>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~€580</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1EB4C8"/>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Paceville Clubs</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1EB4C8"/>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DUS</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(Eurowings/Ryanair)</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Malta ist mit 22–24°C das WÄRMSTE europäische Ziel dieser Auswahl — und Ende Oktober noch Badesaison! Die Insel bietet UNESCO-Welterbe Valletta, das mittelalterliche Mdina und das Nachtleben von Paceville (St. Julian's). Halloween in den Clubs von Paceville ist eine eigene Kategorie. Und das Cisk Lager gehört zu den günstigsten Bieren Europas.</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FLÜGE</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1EB4C8"/>
                </a:solidFill>
                <a:latin typeface="Trebuchet MS" pitchFamily="34" charset="0"/>
                <a:ea typeface="Trebuchet MS" pitchFamily="34" charset="-122"/>
                <a:cs typeface="Trebuchet MS" pitchFamily="34" charset="-120"/>
              </a:rPr>
              <a:t>HINFLUG: Deutschland → MLA (Malta)</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früh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~07:xx</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55m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 29.10.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 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Budget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~€70–90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~€280–360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8" name="Text 5"/>
          <p:cNvSpPr/>
          <p:nvPr/>
        </p:nvSpPr>
        <p:spPr>
          <a:xfrm>
            <a:off x="365760" y="3236976"/>
            <a:ext cx="11430000" cy="320040"/>
          </a:xfrm>
          <a:prstGeom prst="rect">
            <a:avLst/>
          </a:prstGeom>
          <a:noFill/>
          <a:ln/>
        </p:spPr>
        <p:txBody>
          <a:bodyPr wrap="square" rtlCol="0" anchor="ctr"/>
          <a:lstStyle/>
          <a:p>
            <a:pPr indent="0" marL="0">
              <a:buNone/>
            </a:pPr>
            <a:r>
              <a:rPr lang="en-US" sz="1300" b="1" dirty="0">
                <a:solidFill>
                  <a:srgbClr val="1EB4C8"/>
                </a:solidFill>
                <a:latin typeface="Trebuchet MS" pitchFamily="34" charset="0"/>
                <a:ea typeface="Trebuchet MS" pitchFamily="34" charset="-122"/>
                <a:cs typeface="Trebuchet MS" pitchFamily="34" charset="-120"/>
              </a:rPr>
              <a:t>RÜCKFLUG: MLA (Malta) → Deutschland (2. Nov.)</a:t>
            </a:r>
            <a:endParaRPr lang="en-US" sz="13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365760" y="3575304"/>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Eurowings/Ryanair  (MLA→DUS)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MLA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~€80–100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~€320–400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4535424"/>
            <a:ext cx="11430000" cy="658368"/>
          </a:xfrm>
          <a:prstGeom prst="rect">
            <a:avLst/>
          </a:prstGeom>
          <a:solidFill>
            <a:srgbClr val="16213E"/>
          </a:solidFill>
          <a:ln w="12700">
            <a:solidFill>
              <a:srgbClr val="0F3460"/>
            </a:solidFill>
            <a:prstDash val="solid"/>
          </a:ln>
        </p:spPr>
      </p:sp>
      <p:sp>
        <p:nvSpPr>
          <p:cNvPr id="11" name="Text 7"/>
          <p:cNvSpPr/>
          <p:nvPr/>
        </p:nvSpPr>
        <p:spPr>
          <a:xfrm>
            <a:off x="502920" y="4581144"/>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Malta ist mit 22–24°C Anfang November das WÄRMSTE Reiseziel dieser Auswahl!  Flughafen Malta (MLA) liegt 8 km südlich von Valletta — Taxi/Bus ins Zentrum ~20 Min.  Direktflüge ab DUS mit Eurowings &amp; Ryanair.  Buchen: eurowings.com · ryanair.com · skyscanner.de</a:t>
            </a:r>
            <a:endParaRPr lang="en-US" sz="1000" dirty="0"/>
          </a:p>
        </p:txBody>
      </p:sp>
      <p:sp>
        <p:nvSpPr>
          <p:cNvPr id="12" name="Shape 8"/>
          <p:cNvSpPr/>
          <p:nvPr/>
        </p:nvSpPr>
        <p:spPr>
          <a:xfrm>
            <a:off x="8046720" y="5312664"/>
            <a:ext cx="3749040" cy="777240"/>
          </a:xfrm>
          <a:prstGeom prst="rect">
            <a:avLst/>
          </a:prstGeom>
          <a:solidFill>
            <a:srgbClr val="0F3460"/>
          </a:solidFill>
          <a:ln w="12700">
            <a:solidFill>
              <a:srgbClr val="1EB4C8"/>
            </a:solidFill>
            <a:prstDash val="solid"/>
          </a:ln>
        </p:spPr>
      </p:sp>
      <p:sp>
        <p:nvSpPr>
          <p:cNvPr id="13" name="Text 9"/>
          <p:cNvSpPr/>
          <p:nvPr/>
        </p:nvSpPr>
        <p:spPr>
          <a:xfrm>
            <a:off x="8046720" y="5330952"/>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5605272"/>
            <a:ext cx="3749040" cy="438912"/>
          </a:xfrm>
          <a:prstGeom prst="rect">
            <a:avLst/>
          </a:prstGeom>
          <a:noFill/>
          <a:ln/>
        </p:spPr>
        <p:txBody>
          <a:bodyPr wrap="square" rtlCol="0" anchor="ctr"/>
          <a:lstStyle/>
          <a:p>
            <a:pPr algn="ctr" indent="0" marL="0">
              <a:buNone/>
            </a:pPr>
            <a:r>
              <a:rPr lang="en-US" sz="2000" b="1" dirty="0">
                <a:solidFill>
                  <a:srgbClr val="1EB4C8"/>
                </a:solidFill>
                <a:latin typeface="Trebuchet MS" pitchFamily="34" charset="0"/>
                <a:ea typeface="Trebuchet MS" pitchFamily="34" charset="-122"/>
                <a:cs typeface="Trebuchet MS" pitchFamily="34" charset="-120"/>
              </a:rPr>
              <a:t>€600 – €800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UNTERKUNFT</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pic>
        <p:nvPicPr>
          <p:cNvPr id="6" name="Image 0" descr="/home/user/Excelhaus/halloween_trip/malta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malta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1EB4C8"/>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St. Julian's / Sliema — 2-Zi.-Wohnung mit Terrasse &amp; Meerblick</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1EB4C8"/>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1EB4C8"/>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Terrasse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1EB4C8"/>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1EB4C8"/>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Klimaanlage ✓</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1EB4C8"/>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Meerblick mögl.</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St. Julian's / Paceville — direkt am Nachtleben, 2 Min. zu Hugo's Lounge &amp; Beach Clubs</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1EB4C8"/>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~€95</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~€285</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~€50–70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1EB4C8"/>
                </a:solidFill>
                <a:latin typeface="Trebuchet MS" pitchFamily="34" charset="0"/>
                <a:ea typeface="Trebuchet MS" pitchFamily="34" charset="-122"/>
                <a:cs typeface="Trebuchet MS" pitchFamily="34" charset="-120"/>
              </a:rPr>
              <a:t>~€335–355</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~€84–89</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1EB4C8"/>
                </a:solidFill>
                <a:latin typeface="Calibri" pitchFamily="34" charset="0"/>
                <a:ea typeface="Calibri" pitchFamily="34" charset="-122"/>
                <a:cs typeface="Calibri" pitchFamily="34" charset="-120"/>
              </a:rPr>
              <a:t>airbnb.com → Suche: St. Julian's Malta, 4 Gäste, 2 SZ, Terrasse, 30. Okt.–2. Nov.</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Alternative: Sliema (ruhiger, Wasserfront) oder Valletta (historisch, UNESCO) ebenfalls empfohlen</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TAGESPROGRAMM</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sp>
        <p:nvSpPr>
          <p:cNvPr id="6" name="Shape 4"/>
          <p:cNvSpPr/>
          <p:nvPr/>
        </p:nvSpPr>
        <p:spPr>
          <a:xfrm>
            <a:off x="274320" y="896112"/>
            <a:ext cx="5669280" cy="2743200"/>
          </a:xfrm>
          <a:prstGeom prst="rect">
            <a:avLst/>
          </a:prstGeom>
          <a:solidFill>
            <a:srgbClr val="16213E"/>
          </a:solidFill>
          <a:ln w="12700">
            <a:solidFill>
              <a:srgbClr val="1EB4C8"/>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Eurowings landet MLA ~10:00 · Taxi nach St. Julian's</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Einchecken · erstes kühles Cisk-Bier auf der Terrasse</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Valletta Altstadt-Spaziergang (UNESCO-Welterbe)</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Sliema Waterfront zum Sonnenuntergang</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Erste Bar-Nacht in Paceville: Hugo's Lounge</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Cisk 0,5l: ~€2,50 · T-Shirt-Wetter um Mitternacht!</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1EB4C8"/>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Tagesausflug Blaue Lagune (Bootsfahrt, ~€35 p.P.)</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Kristallklares Mittelmeer · letztes Bad im Oktober!</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Maltesischer Kochkurs nachmittags (€65 p.P.)</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Kaninchen-Eintopf (Fenek) + Pastizzi + lokaler Wein</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 in Paceville ab 22 Uhr</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Clubmeile: Sky Club · Footloose · Level 22</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Bis 4 Uhr morgens · alle mit Halloween-Deko</a:t>
            </a:r>
            <a:endParaRPr lang="en-US" sz="900" dirty="0"/>
          </a:p>
        </p:txBody>
      </p:sp>
      <p:sp>
        <p:nvSpPr>
          <p:cNvPr id="27" name="Shape 25"/>
          <p:cNvSpPr/>
          <p:nvPr/>
        </p:nvSpPr>
        <p:spPr>
          <a:xfrm>
            <a:off x="274320" y="3776472"/>
            <a:ext cx="5669280" cy="2743200"/>
          </a:xfrm>
          <a:prstGeom prst="rect">
            <a:avLst/>
          </a:prstGeom>
          <a:solidFill>
            <a:srgbClr val="16213E"/>
          </a:solidFill>
          <a:ln w="12700">
            <a:solidFill>
              <a:srgbClr val="1EB4C8"/>
            </a:solidFill>
            <a:prstDash val="solid"/>
          </a:ln>
        </p:spPr>
      </p:sp>
      <p:sp>
        <p:nvSpPr>
          <p:cNvPr id="28" name="Shape 26"/>
          <p:cNvSpPr/>
          <p:nvPr/>
        </p:nvSpPr>
        <p:spPr>
          <a:xfrm>
            <a:off x="274320" y="3776472"/>
            <a:ext cx="5669280" cy="384048"/>
          </a:xfrm>
          <a:prstGeom prst="rect">
            <a:avLst/>
          </a:prstGeom>
          <a:solidFill>
            <a:srgbClr val="0F3460"/>
          </a:solidFill>
          <a:ln w="12700">
            <a:solidFill>
              <a:srgbClr val="0F3460"/>
            </a:solidFill>
            <a:prstDash val="solid"/>
          </a:ln>
        </p:spPr>
      </p:sp>
      <p:sp>
        <p:nvSpPr>
          <p:cNvPr id="29" name="Text 27"/>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3 — SA., 1. NOV.</a:t>
            </a:r>
            <a:endParaRPr lang="en-US" sz="1100" dirty="0"/>
          </a:p>
        </p:txBody>
      </p:sp>
      <p:sp>
        <p:nvSpPr>
          <p:cNvPr id="30" name="Text 28"/>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Malta Erkunden</a:t>
            </a:r>
            <a:endParaRPr lang="en-US" sz="900" dirty="0"/>
          </a:p>
        </p:txBody>
      </p:sp>
      <p:sp>
        <p:nvSpPr>
          <p:cNvPr id="31" name="Text 29"/>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Mdina: "Die Stille Stadt" — mittelalterl. Festungsstadt</a:t>
            </a:r>
            <a:endParaRPr lang="en-US" sz="900" dirty="0"/>
          </a:p>
        </p:txBody>
      </p:sp>
      <p:sp>
        <p:nvSpPr>
          <p:cNvPr id="32" name="Text 30"/>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Marsaxlokk Fischmarkt: frischer Fang, bunte Boote</a:t>
            </a:r>
            <a:endParaRPr lang="en-US" sz="900" dirty="0"/>
          </a:p>
        </p:txBody>
      </p:sp>
      <p:sp>
        <p:nvSpPr>
          <p:cNvPr id="33" name="Text 31"/>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Mittagspause: Pasta + Cisk am Hafen (~€12)</a:t>
            </a:r>
            <a:endParaRPr lang="en-US" sz="900" dirty="0"/>
          </a:p>
        </p:txBody>
      </p:sp>
      <p:sp>
        <p:nvSpPr>
          <p:cNvPr id="34" name="Text 32"/>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Nachmittag: Baden an den Felsenbädern (noch warm!)</a:t>
            </a:r>
            <a:endParaRPr lang="en-US" sz="900" dirty="0"/>
          </a:p>
        </p:txBody>
      </p:sp>
      <p:sp>
        <p:nvSpPr>
          <p:cNvPr id="35" name="Text 33"/>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Nacht: Paceville + Strand-Bars</a:t>
            </a:r>
            <a:endParaRPr lang="en-US" sz="900" dirty="0"/>
          </a:p>
        </p:txBody>
      </p:sp>
      <p:sp>
        <p:nvSpPr>
          <p:cNvPr id="36" name="Shape 34"/>
          <p:cNvSpPr/>
          <p:nvPr/>
        </p:nvSpPr>
        <p:spPr>
          <a:xfrm>
            <a:off x="6217920" y="3776472"/>
            <a:ext cx="5669280" cy="2743200"/>
          </a:xfrm>
          <a:prstGeom prst="rect">
            <a:avLst/>
          </a:prstGeom>
          <a:solidFill>
            <a:srgbClr val="16213E"/>
          </a:solidFill>
          <a:ln w="12700">
            <a:solidFill>
              <a:srgbClr val="1EB4C8"/>
            </a:solidFill>
            <a:prstDash val="solid"/>
          </a:ln>
        </p:spPr>
      </p:sp>
      <p:sp>
        <p:nvSpPr>
          <p:cNvPr id="37" name="Shape 35"/>
          <p:cNvSpPr/>
          <p:nvPr/>
        </p:nvSpPr>
        <p:spPr>
          <a:xfrm>
            <a:off x="6217920" y="3776472"/>
            <a:ext cx="5669280" cy="384048"/>
          </a:xfrm>
          <a:prstGeom prst="rect">
            <a:avLst/>
          </a:prstGeom>
          <a:solidFill>
            <a:srgbClr val="0F3460"/>
          </a:solidFill>
          <a:ln w="12700">
            <a:solidFill>
              <a:srgbClr val="0F3460"/>
            </a:solidFill>
            <a:prstDash val="solid"/>
          </a:ln>
        </p:spPr>
      </p:sp>
      <p:sp>
        <p:nvSpPr>
          <p:cNvPr id="38" name="Text 36"/>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4 — SO., 2. NOV.</a:t>
            </a:r>
            <a:endParaRPr lang="en-US" sz="1100" dirty="0"/>
          </a:p>
        </p:txBody>
      </p:sp>
      <p:sp>
        <p:nvSpPr>
          <p:cNvPr id="39" name="Text 37"/>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0" name="Text 38"/>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Frühstück auf der Terrasse bei 20°C</a:t>
            </a:r>
            <a:endParaRPr lang="en-US" sz="900" dirty="0"/>
          </a:p>
        </p:txBody>
      </p:sp>
      <p:sp>
        <p:nvSpPr>
          <p:cNvPr id="41" name="Text 39"/>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Pastizzi zum Frühstück (Ricotta-Blätterteig, €0,50!)</a:t>
            </a:r>
            <a:endParaRPr lang="en-US" sz="900" dirty="0"/>
          </a:p>
        </p:txBody>
      </p:sp>
      <p:sp>
        <p:nvSpPr>
          <p:cNvPr id="42" name="Text 40"/>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Stunde am Meer (badefertig!)</a:t>
            </a:r>
            <a:endParaRPr lang="en-US" sz="900" dirty="0"/>
          </a:p>
        </p:txBody>
      </p:sp>
      <p:sp>
        <p:nvSpPr>
          <p:cNvPr id="43" name="Text 41"/>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Maltesisches Kreuz, Ftira-Brot, Cisk-Sixpack</a:t>
            </a:r>
            <a:endParaRPr lang="en-US" sz="900" dirty="0"/>
          </a:p>
        </p:txBody>
      </p:sp>
      <p:sp>
        <p:nvSpPr>
          <p:cNvPr id="44" name="Text 42"/>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Eurowings/Ryanair Rückflug nach DUS</a:t>
            </a:r>
            <a:endParaRPr lang="en-US" sz="900" dirty="0"/>
          </a:p>
        </p:txBody>
      </p:sp>
      <p:sp>
        <p:nvSpPr>
          <p:cNvPr id="45" name="Shape 43"/>
          <p:cNvSpPr/>
          <p:nvPr/>
        </p:nvSpPr>
        <p:spPr>
          <a:xfrm>
            <a:off x="274320" y="6510528"/>
            <a:ext cx="11612880" cy="201168"/>
          </a:xfrm>
          <a:prstGeom prst="rect">
            <a:avLst/>
          </a:prstGeom>
          <a:solidFill>
            <a:srgbClr val="16213E"/>
          </a:solidFill>
          <a:ln w="12700">
            <a:solidFill>
              <a:srgbClr val="0F3460"/>
            </a:solidFill>
            <a:prstDash val="solid"/>
          </a:ln>
        </p:spPr>
      </p:sp>
      <p:sp>
        <p:nvSpPr>
          <p:cNvPr id="46" name="Text 44"/>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Bootsausflug Blaue Lagune: katarinaLine.com oder lokal buchen  ·  Kochkurs: experiencemalta.com  ·  Stadtführung: visitvalletta.mt  ·  Paceville Clubs: hugo.com.mt</a:t>
            </a:r>
            <a:endParaRPr lang="en-US" sz="800" dirty="0"/>
          </a:p>
        </p:txBody>
      </p:sp>
      <p:sp>
        <p:nvSpPr>
          <p:cNvPr id="47" name="Shape 45"/>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KOSTENÜBERSICHT</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Eurowings/Ryanair  DUS ↔ MLA</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~€185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~€740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St. Julian's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~€89</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Halloween-Party</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Paceville Clubeintritt (31. Okt.) — meist günstiger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Maltesische Küche — Fenek + Pastizzi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Bootsausflug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Blaue Lagune (31. Okt. tagsüber)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Valletta Free Tour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Fisch, Pasta, Pastizzi, Hafenrestaurants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~€95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Paceville Clubs + Strandbar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Taxi Flughafen, Bus,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Malta,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1EB4C8"/>
                          </a:solidFill>
                          <a:latin typeface="Trebuchet MS" pitchFamily="34" charset="0"/>
                          <a:ea typeface="Trebuchet MS" pitchFamily="34" charset="-122"/>
                          <a:cs typeface="Trebuchet MS" pitchFamily="34" charset="-120"/>
                        </a:rPr>
                        <a:t>~€631</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~€2.523</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687568"/>
            <a:ext cx="11247120" cy="594360"/>
          </a:xfrm>
          <a:prstGeom prst="rect">
            <a:avLst/>
          </a:prstGeom>
          <a:solidFill>
            <a:srgbClr val="16213E"/>
          </a:solidFill>
          <a:ln w="12700">
            <a:solidFill>
              <a:srgbClr val="1EB4C8"/>
            </a:solidFill>
            <a:prstDash val="solid"/>
          </a:ln>
        </p:spPr>
      </p:sp>
      <p:sp>
        <p:nvSpPr>
          <p:cNvPr id="8" name="Text 5"/>
          <p:cNvSpPr/>
          <p:nvPr/>
        </p:nvSpPr>
        <p:spPr>
          <a:xfrm>
            <a:off x="594360" y="5733288"/>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Günstigste Unterkunft dieser Auswahl!  Cisk-Bier ab €2,50.  Pastizzi (maltesisches Gebäck) für €0,50.  Baden im Mittelmeer noch möglich!  Blaue Lagune ist eines der schönsten Gewässer Europas.</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home/user/Excelhaus/halloween_trip/comparison4_bg.png">    </p:cNvPr>
          <p:cNvPicPr>
            <a:picLocks noChangeAspect="1"/>
          </p:cNvPicPr>
          <p:nvPr/>
        </p:nvPicPr>
        <p:blipFill>
          <a:blip r:embed="rId1"/>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000000">
              <a:alpha val="50000"/>
            </a:srgbClr>
          </a:solidFill>
          <a:ln w="12700">
            <a:solidFill>
              <a:srgbClr val="000000"/>
            </a:solidFill>
            <a:prstDash val="solid"/>
          </a:ln>
        </p:spPr>
      </p:sp>
      <p:sp>
        <p:nvSpPr>
          <p:cNvPr id="4" name="Shape 1"/>
          <p:cNvSpPr/>
          <p:nvPr/>
        </p:nvSpPr>
        <p:spPr>
          <a:xfrm>
            <a:off x="0" y="0"/>
            <a:ext cx="12192000" cy="658368"/>
          </a:xfrm>
          <a:prstGeom prst="rect">
            <a:avLst/>
          </a:prstGeom>
          <a:solidFill>
            <a:srgbClr val="16213E">
              <a:alpha val="85000"/>
            </a:srgbClr>
          </a:solidFill>
          <a:ln w="12700">
            <a:solidFill>
              <a:srgbClr val="16213E"/>
            </a:solidFill>
            <a:prstDash val="solid"/>
          </a:ln>
        </p:spPr>
      </p:sp>
      <p:sp>
        <p:nvSpPr>
          <p:cNvPr id="5" name="Shape 2"/>
          <p:cNvSpPr/>
          <p:nvPr/>
        </p:nvSpPr>
        <p:spPr>
          <a:xfrm>
            <a:off x="0" y="0"/>
            <a:ext cx="12192000" cy="73152"/>
          </a:xfrm>
          <a:prstGeom prst="rect">
            <a:avLst/>
          </a:prstGeom>
          <a:solidFill>
            <a:srgbClr val="FF8C00"/>
          </a:solidFill>
          <a:ln w="12700">
            <a:solidFill>
              <a:srgbClr val="FF8C00"/>
            </a:solidFill>
            <a:prstDash val="solid"/>
          </a:ln>
        </p:spPr>
      </p:sp>
      <p:sp>
        <p:nvSpPr>
          <p:cNvPr id="6" name="Text 3"/>
          <p:cNvSpPr/>
          <p:nvPr/>
        </p:nvSpPr>
        <p:spPr>
          <a:xfrm>
            <a:off x="274320" y="73152"/>
            <a:ext cx="11612880" cy="585216"/>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DIREKTVERGLEICH — WO FAHREN WIR HIN?</a:t>
            </a:r>
            <a:endParaRPr lang="en-US" sz="2200" dirty="0"/>
          </a:p>
        </p:txBody>
      </p:sp>
      <p:sp>
        <p:nvSpPr>
          <p:cNvPr id="7" name="Shape 4"/>
          <p:cNvSpPr/>
          <p:nvPr/>
        </p:nvSpPr>
        <p:spPr>
          <a:xfrm>
            <a:off x="2560320" y="749808"/>
            <a:ext cx="2240280" cy="475488"/>
          </a:xfrm>
          <a:prstGeom prst="rect">
            <a:avLst/>
          </a:prstGeom>
          <a:solidFill>
            <a:srgbClr val="0F3460">
              <a:alpha val="90000"/>
            </a:srgbClr>
          </a:solidFill>
          <a:ln w="12700">
            <a:solidFill>
              <a:srgbClr val="FF8C00"/>
            </a:solidFill>
            <a:prstDash val="solid"/>
          </a:ln>
        </p:spPr>
      </p:sp>
      <p:sp>
        <p:nvSpPr>
          <p:cNvPr id="8" name="Text 5"/>
          <p:cNvSpPr/>
          <p:nvPr/>
        </p:nvSpPr>
        <p:spPr>
          <a:xfrm>
            <a:off x="2560320" y="749808"/>
            <a:ext cx="2240280" cy="475488"/>
          </a:xfrm>
          <a:prstGeom prst="rect">
            <a:avLst/>
          </a:prstGeom>
          <a:noFill/>
          <a:ln/>
        </p:spPr>
        <p:txBody>
          <a:bodyPr wrap="square" rtlCol="0" anchor="ctr"/>
          <a:lstStyle/>
          <a:p>
            <a:pPr algn="ctr" indent="0" marL="0">
              <a:buNone/>
            </a:pPr>
            <a:r>
              <a:rPr lang="en-US" sz="1500" b="1" dirty="0">
                <a:solidFill>
                  <a:srgbClr val="FF8C00"/>
                </a:solidFill>
                <a:latin typeface="Trebuchet MS" pitchFamily="34" charset="0"/>
                <a:ea typeface="Trebuchet MS" pitchFamily="34" charset="-122"/>
                <a:cs typeface="Trebuchet MS" pitchFamily="34" charset="-120"/>
              </a:rPr>
              <a:t>🇵🇹 LISSABON</a:t>
            </a:r>
            <a:endParaRPr lang="en-US" sz="1500" dirty="0"/>
          </a:p>
        </p:txBody>
      </p:sp>
      <p:sp>
        <p:nvSpPr>
          <p:cNvPr id="9" name="Shape 6"/>
          <p:cNvSpPr/>
          <p:nvPr/>
        </p:nvSpPr>
        <p:spPr>
          <a:xfrm>
            <a:off x="4937760" y="749808"/>
            <a:ext cx="2240280" cy="475488"/>
          </a:xfrm>
          <a:prstGeom prst="rect">
            <a:avLst/>
          </a:prstGeom>
          <a:solidFill>
            <a:srgbClr val="0F3460">
              <a:alpha val="90000"/>
            </a:srgbClr>
          </a:solidFill>
          <a:ln w="12700">
            <a:solidFill>
              <a:srgbClr val="E6321E"/>
            </a:solidFill>
            <a:prstDash val="solid"/>
          </a:ln>
        </p:spPr>
      </p:sp>
      <p:sp>
        <p:nvSpPr>
          <p:cNvPr id="10" name="Text 7"/>
          <p:cNvSpPr/>
          <p:nvPr/>
        </p:nvSpPr>
        <p:spPr>
          <a:xfrm>
            <a:off x="4937760" y="749808"/>
            <a:ext cx="2240280" cy="475488"/>
          </a:xfrm>
          <a:prstGeom prst="rect">
            <a:avLst/>
          </a:prstGeom>
          <a:noFill/>
          <a:ln/>
        </p:spPr>
        <p:txBody>
          <a:bodyPr wrap="square" rtlCol="0" anchor="ctr"/>
          <a:lstStyle/>
          <a:p>
            <a:pPr algn="ctr" indent="0" marL="0">
              <a:buNone/>
            </a:pPr>
            <a:r>
              <a:rPr lang="en-US" sz="1500" b="1" dirty="0">
                <a:solidFill>
                  <a:srgbClr val="E6321E"/>
                </a:solidFill>
                <a:latin typeface="Trebuchet MS" pitchFamily="34" charset="0"/>
                <a:ea typeface="Trebuchet MS" pitchFamily="34" charset="-122"/>
                <a:cs typeface="Trebuchet MS" pitchFamily="34" charset="-120"/>
              </a:rPr>
              <a:t>🇪🇸 MADRID</a:t>
            </a:r>
            <a:endParaRPr lang="en-US" sz="1500" dirty="0"/>
          </a:p>
        </p:txBody>
      </p:sp>
      <p:sp>
        <p:nvSpPr>
          <p:cNvPr id="11" name="Shape 8"/>
          <p:cNvSpPr/>
          <p:nvPr/>
        </p:nvSpPr>
        <p:spPr>
          <a:xfrm>
            <a:off x="7315200" y="749808"/>
            <a:ext cx="2240280" cy="475488"/>
          </a:xfrm>
          <a:prstGeom prst="rect">
            <a:avLst/>
          </a:prstGeom>
          <a:solidFill>
            <a:srgbClr val="0F3460">
              <a:alpha val="90000"/>
            </a:srgbClr>
          </a:solidFill>
          <a:ln w="12700">
            <a:solidFill>
              <a:srgbClr val="D4783A"/>
            </a:solidFill>
            <a:prstDash val="solid"/>
          </a:ln>
        </p:spPr>
      </p:sp>
      <p:sp>
        <p:nvSpPr>
          <p:cNvPr id="12" name="Text 9"/>
          <p:cNvSpPr/>
          <p:nvPr/>
        </p:nvSpPr>
        <p:spPr>
          <a:xfrm>
            <a:off x="7315200" y="749808"/>
            <a:ext cx="2240280" cy="475488"/>
          </a:xfrm>
          <a:prstGeom prst="rect">
            <a:avLst/>
          </a:prstGeom>
          <a:noFill/>
          <a:ln/>
        </p:spPr>
        <p:txBody>
          <a:bodyPr wrap="square" rtlCol="0" anchor="ctr"/>
          <a:lstStyle/>
          <a:p>
            <a:pPr algn="ctr" indent="0" marL="0">
              <a:buNone/>
            </a:pPr>
            <a:r>
              <a:rPr lang="en-US" sz="1500" b="1" dirty="0">
                <a:solidFill>
                  <a:srgbClr val="D4783A"/>
                </a:solidFill>
                <a:latin typeface="Trebuchet MS" pitchFamily="34" charset="0"/>
                <a:ea typeface="Trebuchet MS" pitchFamily="34" charset="-122"/>
                <a:cs typeface="Trebuchet MS" pitchFamily="34" charset="-120"/>
              </a:rPr>
              <a:t>🇮🇹 ROM</a:t>
            </a:r>
            <a:endParaRPr lang="en-US" sz="1500" dirty="0"/>
          </a:p>
        </p:txBody>
      </p:sp>
      <p:sp>
        <p:nvSpPr>
          <p:cNvPr id="13" name="Shape 10"/>
          <p:cNvSpPr/>
          <p:nvPr/>
        </p:nvSpPr>
        <p:spPr>
          <a:xfrm>
            <a:off x="9692640" y="749808"/>
            <a:ext cx="2240280" cy="475488"/>
          </a:xfrm>
          <a:prstGeom prst="rect">
            <a:avLst/>
          </a:prstGeom>
          <a:solidFill>
            <a:srgbClr val="0F3460">
              <a:alpha val="90000"/>
            </a:srgbClr>
          </a:solidFill>
          <a:ln w="12700">
            <a:solidFill>
              <a:srgbClr val="1EB4C8"/>
            </a:solidFill>
            <a:prstDash val="solid"/>
          </a:ln>
        </p:spPr>
      </p:sp>
      <p:sp>
        <p:nvSpPr>
          <p:cNvPr id="14" name="Text 11"/>
          <p:cNvSpPr/>
          <p:nvPr/>
        </p:nvSpPr>
        <p:spPr>
          <a:xfrm>
            <a:off x="9692640" y="749808"/>
            <a:ext cx="2240280" cy="475488"/>
          </a:xfrm>
          <a:prstGeom prst="rect">
            <a:avLst/>
          </a:prstGeom>
          <a:noFill/>
          <a:ln/>
        </p:spPr>
        <p:txBody>
          <a:bodyPr wrap="square" rtlCol="0" anchor="ctr"/>
          <a:lstStyle/>
          <a:p>
            <a:pPr algn="ctr" indent="0" marL="0">
              <a:buNone/>
            </a:pPr>
            <a:r>
              <a:rPr lang="en-US" sz="1500" b="1" dirty="0">
                <a:solidFill>
                  <a:srgbClr val="1EB4C8"/>
                </a:solidFill>
                <a:latin typeface="Trebuchet MS" pitchFamily="34" charset="0"/>
                <a:ea typeface="Trebuchet MS" pitchFamily="34" charset="-122"/>
                <a:cs typeface="Trebuchet MS" pitchFamily="34" charset="-120"/>
              </a:rPr>
              <a:t>🇲🇹 MALTA</a:t>
            </a:r>
            <a:endParaRPr lang="en-US" sz="1500" dirty="0"/>
          </a:p>
        </p:txBody>
      </p:sp>
      <p:sp>
        <p:nvSpPr>
          <p:cNvPr id="15" name="Shape 12"/>
          <p:cNvSpPr/>
          <p:nvPr/>
        </p:nvSpPr>
        <p:spPr>
          <a:xfrm>
            <a:off x="228600" y="1316736"/>
            <a:ext cx="2240280" cy="457200"/>
          </a:xfrm>
          <a:prstGeom prst="rect">
            <a:avLst/>
          </a:prstGeom>
          <a:solidFill>
            <a:srgbClr val="16213E">
              <a:alpha val="75000"/>
            </a:srgbClr>
          </a:solidFill>
          <a:ln w="12700">
            <a:solidFill>
              <a:srgbClr val="0F3460"/>
            </a:solidFill>
            <a:prstDash val="solid"/>
          </a:ln>
        </p:spPr>
      </p:sp>
      <p:sp>
        <p:nvSpPr>
          <p:cNvPr id="16" name="Text 13"/>
          <p:cNvSpPr/>
          <p:nvPr/>
        </p:nvSpPr>
        <p:spPr>
          <a:xfrm>
            <a:off x="274320" y="1316736"/>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Kosten p.P.</a:t>
            </a:r>
            <a:endParaRPr lang="en-US" sz="950" dirty="0"/>
          </a:p>
        </p:txBody>
      </p:sp>
      <p:sp>
        <p:nvSpPr>
          <p:cNvPr id="17" name="Shape 14"/>
          <p:cNvSpPr/>
          <p:nvPr/>
        </p:nvSpPr>
        <p:spPr>
          <a:xfrm>
            <a:off x="2560320" y="1316736"/>
            <a:ext cx="2240280" cy="457200"/>
          </a:xfrm>
          <a:prstGeom prst="rect">
            <a:avLst/>
          </a:prstGeom>
          <a:solidFill>
            <a:srgbClr val="16213E">
              <a:alpha val="75000"/>
            </a:srgbClr>
          </a:solidFill>
          <a:ln w="12700">
            <a:solidFill>
              <a:srgbClr val="0F3460"/>
            </a:solidFill>
            <a:prstDash val="solid"/>
          </a:ln>
        </p:spPr>
      </p:sp>
      <p:sp>
        <p:nvSpPr>
          <p:cNvPr id="18" name="Text 15"/>
          <p:cNvSpPr/>
          <p:nvPr/>
        </p:nvSpPr>
        <p:spPr>
          <a:xfrm>
            <a:off x="2606040" y="131673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~€735</a:t>
            </a:r>
            <a:endParaRPr lang="en-US" sz="900" dirty="0"/>
          </a:p>
        </p:txBody>
      </p:sp>
      <p:sp>
        <p:nvSpPr>
          <p:cNvPr id="19" name="Shape 16"/>
          <p:cNvSpPr/>
          <p:nvPr/>
        </p:nvSpPr>
        <p:spPr>
          <a:xfrm>
            <a:off x="4937760" y="1316736"/>
            <a:ext cx="2240280" cy="457200"/>
          </a:xfrm>
          <a:prstGeom prst="rect">
            <a:avLst/>
          </a:prstGeom>
          <a:solidFill>
            <a:srgbClr val="16213E">
              <a:alpha val="75000"/>
            </a:srgbClr>
          </a:solidFill>
          <a:ln w="12700">
            <a:solidFill>
              <a:srgbClr val="0F3460"/>
            </a:solidFill>
            <a:prstDash val="solid"/>
          </a:ln>
        </p:spPr>
      </p:sp>
      <p:sp>
        <p:nvSpPr>
          <p:cNvPr id="20" name="Text 17"/>
          <p:cNvSpPr/>
          <p:nvPr/>
        </p:nvSpPr>
        <p:spPr>
          <a:xfrm>
            <a:off x="4983480" y="131673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~€712</a:t>
            </a:r>
            <a:endParaRPr lang="en-US" sz="900" dirty="0"/>
          </a:p>
        </p:txBody>
      </p:sp>
      <p:sp>
        <p:nvSpPr>
          <p:cNvPr id="21" name="Shape 18"/>
          <p:cNvSpPr/>
          <p:nvPr/>
        </p:nvSpPr>
        <p:spPr>
          <a:xfrm>
            <a:off x="7315200" y="1316736"/>
            <a:ext cx="2240280" cy="457200"/>
          </a:xfrm>
          <a:prstGeom prst="rect">
            <a:avLst/>
          </a:prstGeom>
          <a:solidFill>
            <a:srgbClr val="16213E">
              <a:alpha val="75000"/>
            </a:srgbClr>
          </a:solidFill>
          <a:ln w="12700">
            <a:solidFill>
              <a:srgbClr val="0F3460"/>
            </a:solidFill>
            <a:prstDash val="solid"/>
          </a:ln>
        </p:spPr>
      </p:sp>
      <p:sp>
        <p:nvSpPr>
          <p:cNvPr id="22" name="Text 19"/>
          <p:cNvSpPr/>
          <p:nvPr/>
        </p:nvSpPr>
        <p:spPr>
          <a:xfrm>
            <a:off x="7360920" y="131673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~€597</a:t>
            </a:r>
            <a:endParaRPr lang="en-US" sz="900" dirty="0"/>
          </a:p>
        </p:txBody>
      </p:sp>
      <p:sp>
        <p:nvSpPr>
          <p:cNvPr id="23" name="Shape 20"/>
          <p:cNvSpPr/>
          <p:nvPr/>
        </p:nvSpPr>
        <p:spPr>
          <a:xfrm>
            <a:off x="9692640" y="1316736"/>
            <a:ext cx="2240280" cy="457200"/>
          </a:xfrm>
          <a:prstGeom prst="rect">
            <a:avLst/>
          </a:prstGeom>
          <a:solidFill>
            <a:srgbClr val="16213E">
              <a:alpha val="75000"/>
            </a:srgbClr>
          </a:solidFill>
          <a:ln w="12700">
            <a:solidFill>
              <a:srgbClr val="0F3460"/>
            </a:solidFill>
            <a:prstDash val="solid"/>
          </a:ln>
        </p:spPr>
      </p:sp>
      <p:sp>
        <p:nvSpPr>
          <p:cNvPr id="24" name="Text 21"/>
          <p:cNvSpPr/>
          <p:nvPr/>
        </p:nvSpPr>
        <p:spPr>
          <a:xfrm>
            <a:off x="9738360" y="131673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~€631</a:t>
            </a:r>
            <a:endParaRPr lang="en-US" sz="900" dirty="0"/>
          </a:p>
        </p:txBody>
      </p:sp>
      <p:sp>
        <p:nvSpPr>
          <p:cNvPr id="25" name="Shape 22"/>
          <p:cNvSpPr/>
          <p:nvPr/>
        </p:nvSpPr>
        <p:spPr>
          <a:xfrm>
            <a:off x="228600" y="1810512"/>
            <a:ext cx="2240280" cy="457200"/>
          </a:xfrm>
          <a:prstGeom prst="rect">
            <a:avLst/>
          </a:prstGeom>
          <a:solidFill>
            <a:srgbClr val="1A1A2E">
              <a:alpha val="75000"/>
            </a:srgbClr>
          </a:solidFill>
          <a:ln w="12700">
            <a:solidFill>
              <a:srgbClr val="0F3460"/>
            </a:solidFill>
            <a:prstDash val="solid"/>
          </a:ln>
        </p:spPr>
      </p:sp>
      <p:sp>
        <p:nvSpPr>
          <p:cNvPr id="26" name="Text 23"/>
          <p:cNvSpPr/>
          <p:nvPr/>
        </p:nvSpPr>
        <p:spPr>
          <a:xfrm>
            <a:off x="274320" y="1810512"/>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Flugdauer</a:t>
            </a:r>
            <a:endParaRPr lang="en-US" sz="950" dirty="0"/>
          </a:p>
        </p:txBody>
      </p:sp>
      <p:sp>
        <p:nvSpPr>
          <p:cNvPr id="27" name="Shape 24"/>
          <p:cNvSpPr/>
          <p:nvPr/>
        </p:nvSpPr>
        <p:spPr>
          <a:xfrm>
            <a:off x="2560320" y="1810512"/>
            <a:ext cx="2240280" cy="457200"/>
          </a:xfrm>
          <a:prstGeom prst="rect">
            <a:avLst/>
          </a:prstGeom>
          <a:solidFill>
            <a:srgbClr val="1A1A2E">
              <a:alpha val="75000"/>
            </a:srgbClr>
          </a:solidFill>
          <a:ln w="12700">
            <a:solidFill>
              <a:srgbClr val="0F3460"/>
            </a:solidFill>
            <a:prstDash val="solid"/>
          </a:ln>
        </p:spPr>
      </p:sp>
      <p:sp>
        <p:nvSpPr>
          <p:cNvPr id="28" name="Text 25"/>
          <p:cNvSpPr/>
          <p:nvPr/>
        </p:nvSpPr>
        <p:spPr>
          <a:xfrm>
            <a:off x="2606040" y="181051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3h 10m · DUS</a:t>
            </a:r>
            <a:endParaRPr lang="en-US" sz="900" dirty="0"/>
          </a:p>
        </p:txBody>
      </p:sp>
      <p:sp>
        <p:nvSpPr>
          <p:cNvPr id="29" name="Shape 26"/>
          <p:cNvSpPr/>
          <p:nvPr/>
        </p:nvSpPr>
        <p:spPr>
          <a:xfrm>
            <a:off x="4937760" y="1810512"/>
            <a:ext cx="2240280" cy="457200"/>
          </a:xfrm>
          <a:prstGeom prst="rect">
            <a:avLst/>
          </a:prstGeom>
          <a:solidFill>
            <a:srgbClr val="1A1A2E">
              <a:alpha val="75000"/>
            </a:srgbClr>
          </a:solidFill>
          <a:ln w="12700">
            <a:solidFill>
              <a:srgbClr val="0F3460"/>
            </a:solidFill>
            <a:prstDash val="solid"/>
          </a:ln>
        </p:spPr>
      </p:sp>
      <p:sp>
        <p:nvSpPr>
          <p:cNvPr id="30" name="Text 27"/>
          <p:cNvSpPr/>
          <p:nvPr/>
        </p:nvSpPr>
        <p:spPr>
          <a:xfrm>
            <a:off x="4983480" y="181051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2h 30m · DUS</a:t>
            </a:r>
            <a:endParaRPr lang="en-US" sz="900" dirty="0"/>
          </a:p>
        </p:txBody>
      </p:sp>
      <p:sp>
        <p:nvSpPr>
          <p:cNvPr id="31" name="Shape 28"/>
          <p:cNvSpPr/>
          <p:nvPr/>
        </p:nvSpPr>
        <p:spPr>
          <a:xfrm>
            <a:off x="7315200" y="1810512"/>
            <a:ext cx="2240280" cy="457200"/>
          </a:xfrm>
          <a:prstGeom prst="rect">
            <a:avLst/>
          </a:prstGeom>
          <a:solidFill>
            <a:srgbClr val="1A1A2E">
              <a:alpha val="75000"/>
            </a:srgbClr>
          </a:solidFill>
          <a:ln w="12700">
            <a:solidFill>
              <a:srgbClr val="0F3460"/>
            </a:solidFill>
            <a:prstDash val="solid"/>
          </a:ln>
        </p:spPr>
      </p:sp>
      <p:sp>
        <p:nvSpPr>
          <p:cNvPr id="32" name="Text 29"/>
          <p:cNvSpPr/>
          <p:nvPr/>
        </p:nvSpPr>
        <p:spPr>
          <a:xfrm>
            <a:off x="7360920" y="181051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2h 15m · DTM</a:t>
            </a:r>
            <a:endParaRPr lang="en-US" sz="900" dirty="0"/>
          </a:p>
        </p:txBody>
      </p:sp>
      <p:sp>
        <p:nvSpPr>
          <p:cNvPr id="33" name="Shape 30"/>
          <p:cNvSpPr/>
          <p:nvPr/>
        </p:nvSpPr>
        <p:spPr>
          <a:xfrm>
            <a:off x="9692640" y="1810512"/>
            <a:ext cx="2240280" cy="457200"/>
          </a:xfrm>
          <a:prstGeom prst="rect">
            <a:avLst/>
          </a:prstGeom>
          <a:solidFill>
            <a:srgbClr val="1A1A2E">
              <a:alpha val="75000"/>
            </a:srgbClr>
          </a:solidFill>
          <a:ln w="12700">
            <a:solidFill>
              <a:srgbClr val="0F3460"/>
            </a:solidFill>
            <a:prstDash val="solid"/>
          </a:ln>
        </p:spPr>
      </p:sp>
      <p:sp>
        <p:nvSpPr>
          <p:cNvPr id="34" name="Text 31"/>
          <p:cNvSpPr/>
          <p:nvPr/>
        </p:nvSpPr>
        <p:spPr>
          <a:xfrm>
            <a:off x="9738360" y="181051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~3h · DUS</a:t>
            </a:r>
            <a:endParaRPr lang="en-US" sz="900" dirty="0"/>
          </a:p>
        </p:txBody>
      </p:sp>
      <p:sp>
        <p:nvSpPr>
          <p:cNvPr id="35" name="Shape 32"/>
          <p:cNvSpPr/>
          <p:nvPr/>
        </p:nvSpPr>
        <p:spPr>
          <a:xfrm>
            <a:off x="228600" y="2304288"/>
            <a:ext cx="2240280" cy="457200"/>
          </a:xfrm>
          <a:prstGeom prst="rect">
            <a:avLst/>
          </a:prstGeom>
          <a:solidFill>
            <a:srgbClr val="16213E">
              <a:alpha val="75000"/>
            </a:srgbClr>
          </a:solidFill>
          <a:ln w="12700">
            <a:solidFill>
              <a:srgbClr val="0F3460"/>
            </a:solidFill>
            <a:prstDash val="solid"/>
          </a:ln>
        </p:spPr>
      </p:sp>
      <p:sp>
        <p:nvSpPr>
          <p:cNvPr id="36" name="Text 33"/>
          <p:cNvSpPr/>
          <p:nvPr/>
        </p:nvSpPr>
        <p:spPr>
          <a:xfrm>
            <a:off x="274320" y="2304288"/>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Flughafen</a:t>
            </a:r>
            <a:endParaRPr lang="en-US" sz="950" dirty="0"/>
          </a:p>
        </p:txBody>
      </p:sp>
      <p:sp>
        <p:nvSpPr>
          <p:cNvPr id="37" name="Shape 34"/>
          <p:cNvSpPr/>
          <p:nvPr/>
        </p:nvSpPr>
        <p:spPr>
          <a:xfrm>
            <a:off x="2560320" y="2304288"/>
            <a:ext cx="2240280" cy="457200"/>
          </a:xfrm>
          <a:prstGeom prst="rect">
            <a:avLst/>
          </a:prstGeom>
          <a:solidFill>
            <a:srgbClr val="16213E">
              <a:alpha val="75000"/>
            </a:srgbClr>
          </a:solidFill>
          <a:ln w="12700">
            <a:solidFill>
              <a:srgbClr val="0F3460"/>
            </a:solidFill>
            <a:prstDash val="solid"/>
          </a:ln>
        </p:spPr>
      </p:sp>
      <p:sp>
        <p:nvSpPr>
          <p:cNvPr id="38" name="Text 35"/>
          <p:cNvSpPr/>
          <p:nvPr/>
        </p:nvSpPr>
        <p:spPr>
          <a:xfrm>
            <a:off x="2606040" y="230428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DUS (Eurowings/TAP)</a:t>
            </a:r>
            <a:endParaRPr lang="en-US" sz="900" dirty="0"/>
          </a:p>
        </p:txBody>
      </p:sp>
      <p:sp>
        <p:nvSpPr>
          <p:cNvPr id="39" name="Shape 36"/>
          <p:cNvSpPr/>
          <p:nvPr/>
        </p:nvSpPr>
        <p:spPr>
          <a:xfrm>
            <a:off x="4937760" y="2304288"/>
            <a:ext cx="2240280" cy="457200"/>
          </a:xfrm>
          <a:prstGeom prst="rect">
            <a:avLst/>
          </a:prstGeom>
          <a:solidFill>
            <a:srgbClr val="16213E">
              <a:alpha val="75000"/>
            </a:srgbClr>
          </a:solidFill>
          <a:ln w="12700">
            <a:solidFill>
              <a:srgbClr val="0F3460"/>
            </a:solidFill>
            <a:prstDash val="solid"/>
          </a:ln>
        </p:spPr>
      </p:sp>
      <p:sp>
        <p:nvSpPr>
          <p:cNvPr id="40" name="Text 37"/>
          <p:cNvSpPr/>
          <p:nvPr/>
        </p:nvSpPr>
        <p:spPr>
          <a:xfrm>
            <a:off x="4983480" y="230428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DUS (Iberia)</a:t>
            </a:r>
            <a:endParaRPr lang="en-US" sz="900" dirty="0"/>
          </a:p>
        </p:txBody>
      </p:sp>
      <p:sp>
        <p:nvSpPr>
          <p:cNvPr id="41" name="Shape 38"/>
          <p:cNvSpPr/>
          <p:nvPr/>
        </p:nvSpPr>
        <p:spPr>
          <a:xfrm>
            <a:off x="7315200" y="2304288"/>
            <a:ext cx="2240280" cy="457200"/>
          </a:xfrm>
          <a:prstGeom prst="rect">
            <a:avLst/>
          </a:prstGeom>
          <a:solidFill>
            <a:srgbClr val="16213E">
              <a:alpha val="75000"/>
            </a:srgbClr>
          </a:solidFill>
          <a:ln w="12700">
            <a:solidFill>
              <a:srgbClr val="0F3460"/>
            </a:solidFill>
            <a:prstDash val="solid"/>
          </a:ln>
        </p:spPr>
      </p:sp>
      <p:sp>
        <p:nvSpPr>
          <p:cNvPr id="42" name="Text 39"/>
          <p:cNvSpPr/>
          <p:nvPr/>
        </p:nvSpPr>
        <p:spPr>
          <a:xfrm>
            <a:off x="7360920" y="230428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DTM (Ryanair)</a:t>
            </a:r>
            <a:endParaRPr lang="en-US" sz="900" dirty="0"/>
          </a:p>
        </p:txBody>
      </p:sp>
      <p:sp>
        <p:nvSpPr>
          <p:cNvPr id="43" name="Shape 40"/>
          <p:cNvSpPr/>
          <p:nvPr/>
        </p:nvSpPr>
        <p:spPr>
          <a:xfrm>
            <a:off x="9692640" y="2304288"/>
            <a:ext cx="2240280" cy="457200"/>
          </a:xfrm>
          <a:prstGeom prst="rect">
            <a:avLst/>
          </a:prstGeom>
          <a:solidFill>
            <a:srgbClr val="16213E">
              <a:alpha val="75000"/>
            </a:srgbClr>
          </a:solidFill>
          <a:ln w="12700">
            <a:solidFill>
              <a:srgbClr val="0F3460"/>
            </a:solidFill>
            <a:prstDash val="solid"/>
          </a:ln>
        </p:spPr>
      </p:sp>
      <p:sp>
        <p:nvSpPr>
          <p:cNvPr id="44" name="Text 41"/>
          <p:cNvSpPr/>
          <p:nvPr/>
        </p:nvSpPr>
        <p:spPr>
          <a:xfrm>
            <a:off x="9738360" y="230428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DUS (Eurowings)</a:t>
            </a:r>
            <a:endParaRPr lang="en-US" sz="900" dirty="0"/>
          </a:p>
        </p:txBody>
      </p:sp>
      <p:sp>
        <p:nvSpPr>
          <p:cNvPr id="45" name="Shape 42"/>
          <p:cNvSpPr/>
          <p:nvPr/>
        </p:nvSpPr>
        <p:spPr>
          <a:xfrm>
            <a:off x="228600" y="2798064"/>
            <a:ext cx="2240280" cy="457200"/>
          </a:xfrm>
          <a:prstGeom prst="rect">
            <a:avLst/>
          </a:prstGeom>
          <a:solidFill>
            <a:srgbClr val="1A1A2E">
              <a:alpha val="75000"/>
            </a:srgbClr>
          </a:solidFill>
          <a:ln w="12700">
            <a:solidFill>
              <a:srgbClr val="0F3460"/>
            </a:solidFill>
            <a:prstDash val="solid"/>
          </a:ln>
        </p:spPr>
      </p:sp>
      <p:sp>
        <p:nvSpPr>
          <p:cNvPr id="46" name="Text 43"/>
          <p:cNvSpPr/>
          <p:nvPr/>
        </p:nvSpPr>
        <p:spPr>
          <a:xfrm>
            <a:off x="274320" y="2798064"/>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Bierpreis (Ø)</a:t>
            </a:r>
            <a:endParaRPr lang="en-US" sz="950" dirty="0"/>
          </a:p>
        </p:txBody>
      </p:sp>
      <p:sp>
        <p:nvSpPr>
          <p:cNvPr id="47" name="Shape 44"/>
          <p:cNvSpPr/>
          <p:nvPr/>
        </p:nvSpPr>
        <p:spPr>
          <a:xfrm>
            <a:off x="2560320" y="2798064"/>
            <a:ext cx="2240280" cy="457200"/>
          </a:xfrm>
          <a:prstGeom prst="rect">
            <a:avLst/>
          </a:prstGeom>
          <a:solidFill>
            <a:srgbClr val="1A1A2E">
              <a:alpha val="75000"/>
            </a:srgbClr>
          </a:solidFill>
          <a:ln w="12700">
            <a:solidFill>
              <a:srgbClr val="0F3460"/>
            </a:solidFill>
            <a:prstDash val="solid"/>
          </a:ln>
        </p:spPr>
      </p:sp>
      <p:sp>
        <p:nvSpPr>
          <p:cNvPr id="48" name="Text 45"/>
          <p:cNvSpPr/>
          <p:nvPr/>
        </p:nvSpPr>
        <p:spPr>
          <a:xfrm>
            <a:off x="2606040" y="279806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€2–3 / Pint</a:t>
            </a:r>
            <a:endParaRPr lang="en-US" sz="900" dirty="0"/>
          </a:p>
        </p:txBody>
      </p:sp>
      <p:sp>
        <p:nvSpPr>
          <p:cNvPr id="49" name="Shape 46"/>
          <p:cNvSpPr/>
          <p:nvPr/>
        </p:nvSpPr>
        <p:spPr>
          <a:xfrm>
            <a:off x="4937760" y="2798064"/>
            <a:ext cx="2240280" cy="457200"/>
          </a:xfrm>
          <a:prstGeom prst="rect">
            <a:avLst/>
          </a:prstGeom>
          <a:solidFill>
            <a:srgbClr val="1A1A2E">
              <a:alpha val="75000"/>
            </a:srgbClr>
          </a:solidFill>
          <a:ln w="12700">
            <a:solidFill>
              <a:srgbClr val="0F3460"/>
            </a:solidFill>
            <a:prstDash val="solid"/>
          </a:ln>
        </p:spPr>
      </p:sp>
      <p:sp>
        <p:nvSpPr>
          <p:cNvPr id="50" name="Text 47"/>
          <p:cNvSpPr/>
          <p:nvPr/>
        </p:nvSpPr>
        <p:spPr>
          <a:xfrm>
            <a:off x="4983480" y="279806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€2–4 / Caña</a:t>
            </a:r>
            <a:endParaRPr lang="en-US" sz="900" dirty="0"/>
          </a:p>
        </p:txBody>
      </p:sp>
      <p:sp>
        <p:nvSpPr>
          <p:cNvPr id="51" name="Shape 48"/>
          <p:cNvSpPr/>
          <p:nvPr/>
        </p:nvSpPr>
        <p:spPr>
          <a:xfrm>
            <a:off x="7315200" y="2798064"/>
            <a:ext cx="2240280" cy="457200"/>
          </a:xfrm>
          <a:prstGeom prst="rect">
            <a:avLst/>
          </a:prstGeom>
          <a:solidFill>
            <a:srgbClr val="1A1A2E">
              <a:alpha val="75000"/>
            </a:srgbClr>
          </a:solidFill>
          <a:ln w="12700">
            <a:solidFill>
              <a:srgbClr val="0F3460"/>
            </a:solidFill>
            <a:prstDash val="solid"/>
          </a:ln>
        </p:spPr>
      </p:sp>
      <p:sp>
        <p:nvSpPr>
          <p:cNvPr id="52" name="Text 49"/>
          <p:cNvSpPr/>
          <p:nvPr/>
        </p:nvSpPr>
        <p:spPr>
          <a:xfrm>
            <a:off x="7360920" y="279806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€4–6 / Flasche</a:t>
            </a:r>
            <a:endParaRPr lang="en-US" sz="900" dirty="0"/>
          </a:p>
        </p:txBody>
      </p:sp>
      <p:sp>
        <p:nvSpPr>
          <p:cNvPr id="53" name="Shape 50"/>
          <p:cNvSpPr/>
          <p:nvPr/>
        </p:nvSpPr>
        <p:spPr>
          <a:xfrm>
            <a:off x="9692640" y="2798064"/>
            <a:ext cx="2240280" cy="457200"/>
          </a:xfrm>
          <a:prstGeom prst="rect">
            <a:avLst/>
          </a:prstGeom>
          <a:solidFill>
            <a:srgbClr val="1A1A2E">
              <a:alpha val="75000"/>
            </a:srgbClr>
          </a:solidFill>
          <a:ln w="12700">
            <a:solidFill>
              <a:srgbClr val="0F3460"/>
            </a:solidFill>
            <a:prstDash val="solid"/>
          </a:ln>
        </p:spPr>
      </p:sp>
      <p:sp>
        <p:nvSpPr>
          <p:cNvPr id="54" name="Text 51"/>
          <p:cNvSpPr/>
          <p:nvPr/>
        </p:nvSpPr>
        <p:spPr>
          <a:xfrm>
            <a:off x="9738360" y="279806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€2–3 (Cisk)</a:t>
            </a:r>
            <a:endParaRPr lang="en-US" sz="900" dirty="0"/>
          </a:p>
        </p:txBody>
      </p:sp>
      <p:sp>
        <p:nvSpPr>
          <p:cNvPr id="55" name="Shape 52"/>
          <p:cNvSpPr/>
          <p:nvPr/>
        </p:nvSpPr>
        <p:spPr>
          <a:xfrm>
            <a:off x="228600" y="3291840"/>
            <a:ext cx="2240280" cy="457200"/>
          </a:xfrm>
          <a:prstGeom prst="rect">
            <a:avLst/>
          </a:prstGeom>
          <a:solidFill>
            <a:srgbClr val="16213E">
              <a:alpha val="75000"/>
            </a:srgbClr>
          </a:solidFill>
          <a:ln w="12700">
            <a:solidFill>
              <a:srgbClr val="0F3460"/>
            </a:solidFill>
            <a:prstDash val="solid"/>
          </a:ln>
        </p:spPr>
      </p:sp>
      <p:sp>
        <p:nvSpPr>
          <p:cNvPr id="56" name="Text 53"/>
          <p:cNvSpPr/>
          <p:nvPr/>
        </p:nvSpPr>
        <p:spPr>
          <a:xfrm>
            <a:off x="274320" y="3291840"/>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Wetter Okt.</a:t>
            </a:r>
            <a:endParaRPr lang="en-US" sz="950" dirty="0"/>
          </a:p>
        </p:txBody>
      </p:sp>
      <p:sp>
        <p:nvSpPr>
          <p:cNvPr id="57" name="Shape 54"/>
          <p:cNvSpPr/>
          <p:nvPr/>
        </p:nvSpPr>
        <p:spPr>
          <a:xfrm>
            <a:off x="2560320" y="3291840"/>
            <a:ext cx="2240280" cy="457200"/>
          </a:xfrm>
          <a:prstGeom prst="rect">
            <a:avLst/>
          </a:prstGeom>
          <a:solidFill>
            <a:srgbClr val="16213E">
              <a:alpha val="75000"/>
            </a:srgbClr>
          </a:solidFill>
          <a:ln w="12700">
            <a:solidFill>
              <a:srgbClr val="0F3460"/>
            </a:solidFill>
            <a:prstDash val="solid"/>
          </a:ln>
        </p:spPr>
      </p:sp>
      <p:sp>
        <p:nvSpPr>
          <p:cNvPr id="58" name="Text 55"/>
          <p:cNvSpPr/>
          <p:nvPr/>
        </p:nvSpPr>
        <p:spPr>
          <a:xfrm>
            <a:off x="2606040" y="329184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17–22°C ☀</a:t>
            </a:r>
            <a:endParaRPr lang="en-US" sz="900" dirty="0"/>
          </a:p>
        </p:txBody>
      </p:sp>
      <p:sp>
        <p:nvSpPr>
          <p:cNvPr id="59" name="Shape 56"/>
          <p:cNvSpPr/>
          <p:nvPr/>
        </p:nvSpPr>
        <p:spPr>
          <a:xfrm>
            <a:off x="4937760" y="3291840"/>
            <a:ext cx="2240280" cy="457200"/>
          </a:xfrm>
          <a:prstGeom prst="rect">
            <a:avLst/>
          </a:prstGeom>
          <a:solidFill>
            <a:srgbClr val="16213E">
              <a:alpha val="75000"/>
            </a:srgbClr>
          </a:solidFill>
          <a:ln w="12700">
            <a:solidFill>
              <a:srgbClr val="0F3460"/>
            </a:solidFill>
            <a:prstDash val="solid"/>
          </a:ln>
        </p:spPr>
      </p:sp>
      <p:sp>
        <p:nvSpPr>
          <p:cNvPr id="60" name="Text 57"/>
          <p:cNvSpPr/>
          <p:nvPr/>
        </p:nvSpPr>
        <p:spPr>
          <a:xfrm>
            <a:off x="4983480" y="329184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18–20°C ☀</a:t>
            </a:r>
            <a:endParaRPr lang="en-US" sz="900" dirty="0"/>
          </a:p>
        </p:txBody>
      </p:sp>
      <p:sp>
        <p:nvSpPr>
          <p:cNvPr id="61" name="Shape 58"/>
          <p:cNvSpPr/>
          <p:nvPr/>
        </p:nvSpPr>
        <p:spPr>
          <a:xfrm>
            <a:off x="7315200" y="3291840"/>
            <a:ext cx="2240280" cy="457200"/>
          </a:xfrm>
          <a:prstGeom prst="rect">
            <a:avLst/>
          </a:prstGeom>
          <a:solidFill>
            <a:srgbClr val="16213E">
              <a:alpha val="75000"/>
            </a:srgbClr>
          </a:solidFill>
          <a:ln w="12700">
            <a:solidFill>
              <a:srgbClr val="0F3460"/>
            </a:solidFill>
            <a:prstDash val="solid"/>
          </a:ln>
        </p:spPr>
      </p:sp>
      <p:sp>
        <p:nvSpPr>
          <p:cNvPr id="62" name="Text 59"/>
          <p:cNvSpPr/>
          <p:nvPr/>
        </p:nvSpPr>
        <p:spPr>
          <a:xfrm>
            <a:off x="7360920" y="329184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16–19°C</a:t>
            </a:r>
            <a:endParaRPr lang="en-US" sz="900" dirty="0"/>
          </a:p>
        </p:txBody>
      </p:sp>
      <p:sp>
        <p:nvSpPr>
          <p:cNvPr id="63" name="Shape 60"/>
          <p:cNvSpPr/>
          <p:nvPr/>
        </p:nvSpPr>
        <p:spPr>
          <a:xfrm>
            <a:off x="9692640" y="3291840"/>
            <a:ext cx="2240280" cy="457200"/>
          </a:xfrm>
          <a:prstGeom prst="rect">
            <a:avLst/>
          </a:prstGeom>
          <a:solidFill>
            <a:srgbClr val="16213E">
              <a:alpha val="75000"/>
            </a:srgbClr>
          </a:solidFill>
          <a:ln w="12700">
            <a:solidFill>
              <a:srgbClr val="0F3460"/>
            </a:solidFill>
            <a:prstDash val="solid"/>
          </a:ln>
        </p:spPr>
      </p:sp>
      <p:sp>
        <p:nvSpPr>
          <p:cNvPr id="64" name="Text 61"/>
          <p:cNvSpPr/>
          <p:nvPr/>
        </p:nvSpPr>
        <p:spPr>
          <a:xfrm>
            <a:off x="9738360" y="329184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22–24°C ☀☀</a:t>
            </a:r>
            <a:endParaRPr lang="en-US" sz="900" dirty="0"/>
          </a:p>
        </p:txBody>
      </p:sp>
      <p:sp>
        <p:nvSpPr>
          <p:cNvPr id="65" name="Shape 62"/>
          <p:cNvSpPr/>
          <p:nvPr/>
        </p:nvSpPr>
        <p:spPr>
          <a:xfrm>
            <a:off x="228600" y="3785616"/>
            <a:ext cx="2240280" cy="457200"/>
          </a:xfrm>
          <a:prstGeom prst="rect">
            <a:avLst/>
          </a:prstGeom>
          <a:solidFill>
            <a:srgbClr val="1A1A2E">
              <a:alpha val="75000"/>
            </a:srgbClr>
          </a:solidFill>
          <a:ln w="12700">
            <a:solidFill>
              <a:srgbClr val="0F3460"/>
            </a:solidFill>
            <a:prstDash val="solid"/>
          </a:ln>
        </p:spPr>
      </p:sp>
      <p:sp>
        <p:nvSpPr>
          <p:cNvPr id="66" name="Text 63"/>
          <p:cNvSpPr/>
          <p:nvPr/>
        </p:nvSpPr>
        <p:spPr>
          <a:xfrm>
            <a:off x="274320" y="3785616"/>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Halloween</a:t>
            </a:r>
            <a:endParaRPr lang="en-US" sz="950" dirty="0"/>
          </a:p>
        </p:txBody>
      </p:sp>
      <p:sp>
        <p:nvSpPr>
          <p:cNvPr id="67" name="Shape 64"/>
          <p:cNvSpPr/>
          <p:nvPr/>
        </p:nvSpPr>
        <p:spPr>
          <a:xfrm>
            <a:off x="2560320" y="3785616"/>
            <a:ext cx="2240280" cy="457200"/>
          </a:xfrm>
          <a:prstGeom prst="rect">
            <a:avLst/>
          </a:prstGeom>
          <a:solidFill>
            <a:srgbClr val="1A1A2E">
              <a:alpha val="75000"/>
            </a:srgbClr>
          </a:solidFill>
          <a:ln w="12700">
            <a:solidFill>
              <a:srgbClr val="0F3460"/>
            </a:solidFill>
            <a:prstDash val="solid"/>
          </a:ln>
        </p:spPr>
      </p:sp>
      <p:sp>
        <p:nvSpPr>
          <p:cNvPr id="68" name="Text 65"/>
          <p:cNvSpPr/>
          <p:nvPr/>
        </p:nvSpPr>
        <p:spPr>
          <a:xfrm>
            <a:off x="2606040" y="378561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 Fr.+Clubs</a:t>
            </a:r>
            <a:endParaRPr lang="en-US" sz="900" dirty="0"/>
          </a:p>
        </p:txBody>
      </p:sp>
      <p:sp>
        <p:nvSpPr>
          <p:cNvPr id="69" name="Shape 66"/>
          <p:cNvSpPr/>
          <p:nvPr/>
        </p:nvSpPr>
        <p:spPr>
          <a:xfrm>
            <a:off x="4937760" y="3785616"/>
            <a:ext cx="2240280" cy="457200"/>
          </a:xfrm>
          <a:prstGeom prst="rect">
            <a:avLst/>
          </a:prstGeom>
          <a:solidFill>
            <a:srgbClr val="1A1A2E">
              <a:alpha val="75000"/>
            </a:srgbClr>
          </a:solidFill>
          <a:ln w="12700">
            <a:solidFill>
              <a:srgbClr val="0F3460"/>
            </a:solidFill>
            <a:prstDash val="solid"/>
          </a:ln>
        </p:spPr>
      </p:sp>
      <p:sp>
        <p:nvSpPr>
          <p:cNvPr id="70" name="Text 67"/>
          <p:cNvSpPr/>
          <p:nvPr/>
        </p:nvSpPr>
        <p:spPr>
          <a:xfrm>
            <a:off x="4983480" y="378561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 Fr.+Feiert.</a:t>
            </a:r>
            <a:endParaRPr lang="en-US" sz="900" dirty="0"/>
          </a:p>
        </p:txBody>
      </p:sp>
      <p:sp>
        <p:nvSpPr>
          <p:cNvPr id="71" name="Shape 68"/>
          <p:cNvSpPr/>
          <p:nvPr/>
        </p:nvSpPr>
        <p:spPr>
          <a:xfrm>
            <a:off x="7315200" y="3785616"/>
            <a:ext cx="2240280" cy="457200"/>
          </a:xfrm>
          <a:prstGeom prst="rect">
            <a:avLst/>
          </a:prstGeom>
          <a:solidFill>
            <a:srgbClr val="1A1A2E">
              <a:alpha val="75000"/>
            </a:srgbClr>
          </a:solidFill>
          <a:ln w="12700">
            <a:solidFill>
              <a:srgbClr val="0F3460"/>
            </a:solidFill>
            <a:prstDash val="solid"/>
          </a:ln>
        </p:spPr>
      </p:sp>
      <p:sp>
        <p:nvSpPr>
          <p:cNvPr id="72" name="Text 69"/>
          <p:cNvSpPr/>
          <p:nvPr/>
        </p:nvSpPr>
        <p:spPr>
          <a:xfrm>
            <a:off x="7360920" y="378561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 Testaccio</a:t>
            </a:r>
            <a:endParaRPr lang="en-US" sz="900" dirty="0"/>
          </a:p>
        </p:txBody>
      </p:sp>
      <p:sp>
        <p:nvSpPr>
          <p:cNvPr id="73" name="Shape 70"/>
          <p:cNvSpPr/>
          <p:nvPr/>
        </p:nvSpPr>
        <p:spPr>
          <a:xfrm>
            <a:off x="9692640" y="3785616"/>
            <a:ext cx="2240280" cy="457200"/>
          </a:xfrm>
          <a:prstGeom prst="rect">
            <a:avLst/>
          </a:prstGeom>
          <a:solidFill>
            <a:srgbClr val="1A1A2E">
              <a:alpha val="75000"/>
            </a:srgbClr>
          </a:solidFill>
          <a:ln w="12700">
            <a:solidFill>
              <a:srgbClr val="0F3460"/>
            </a:solidFill>
            <a:prstDash val="solid"/>
          </a:ln>
        </p:spPr>
      </p:sp>
      <p:sp>
        <p:nvSpPr>
          <p:cNvPr id="74" name="Text 71"/>
          <p:cNvSpPr/>
          <p:nvPr/>
        </p:nvSpPr>
        <p:spPr>
          <a:xfrm>
            <a:off x="9738360" y="3785616"/>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 Paceville</a:t>
            </a:r>
            <a:endParaRPr lang="en-US" sz="900" dirty="0"/>
          </a:p>
        </p:txBody>
      </p:sp>
      <p:sp>
        <p:nvSpPr>
          <p:cNvPr id="75" name="Shape 72"/>
          <p:cNvSpPr/>
          <p:nvPr/>
        </p:nvSpPr>
        <p:spPr>
          <a:xfrm>
            <a:off x="228600" y="4279392"/>
            <a:ext cx="2240280" cy="457200"/>
          </a:xfrm>
          <a:prstGeom prst="rect">
            <a:avLst/>
          </a:prstGeom>
          <a:solidFill>
            <a:srgbClr val="16213E">
              <a:alpha val="75000"/>
            </a:srgbClr>
          </a:solidFill>
          <a:ln w="12700">
            <a:solidFill>
              <a:srgbClr val="0F3460"/>
            </a:solidFill>
            <a:prstDash val="solid"/>
          </a:ln>
        </p:spPr>
      </p:sp>
      <p:sp>
        <p:nvSpPr>
          <p:cNvPr id="76" name="Text 73"/>
          <p:cNvSpPr/>
          <p:nvPr/>
        </p:nvSpPr>
        <p:spPr>
          <a:xfrm>
            <a:off x="274320" y="4279392"/>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Besonderheit</a:t>
            </a:r>
            <a:endParaRPr lang="en-US" sz="950" dirty="0"/>
          </a:p>
        </p:txBody>
      </p:sp>
      <p:sp>
        <p:nvSpPr>
          <p:cNvPr id="77" name="Shape 74"/>
          <p:cNvSpPr/>
          <p:nvPr/>
        </p:nvSpPr>
        <p:spPr>
          <a:xfrm>
            <a:off x="2560320" y="4279392"/>
            <a:ext cx="2240280" cy="457200"/>
          </a:xfrm>
          <a:prstGeom prst="rect">
            <a:avLst/>
          </a:prstGeom>
          <a:solidFill>
            <a:srgbClr val="16213E">
              <a:alpha val="75000"/>
            </a:srgbClr>
          </a:solidFill>
          <a:ln w="12700">
            <a:solidFill>
              <a:srgbClr val="0F3460"/>
            </a:solidFill>
            <a:prstDash val="solid"/>
          </a:ln>
        </p:spPr>
      </p:sp>
      <p:sp>
        <p:nvSpPr>
          <p:cNvPr id="78" name="Text 75"/>
          <p:cNvSpPr/>
          <p:nvPr/>
        </p:nvSpPr>
        <p:spPr>
          <a:xfrm>
            <a:off x="2606040" y="427939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Pink St.·Fado·Atlantik</a:t>
            </a:r>
            <a:endParaRPr lang="en-US" sz="900" dirty="0"/>
          </a:p>
        </p:txBody>
      </p:sp>
      <p:sp>
        <p:nvSpPr>
          <p:cNvPr id="79" name="Shape 76"/>
          <p:cNvSpPr/>
          <p:nvPr/>
        </p:nvSpPr>
        <p:spPr>
          <a:xfrm>
            <a:off x="4937760" y="4279392"/>
            <a:ext cx="2240280" cy="457200"/>
          </a:xfrm>
          <a:prstGeom prst="rect">
            <a:avLst/>
          </a:prstGeom>
          <a:solidFill>
            <a:srgbClr val="16213E">
              <a:alpha val="75000"/>
            </a:srgbClr>
          </a:solidFill>
          <a:ln w="12700">
            <a:solidFill>
              <a:srgbClr val="0F3460"/>
            </a:solidFill>
            <a:prstDash val="solid"/>
          </a:ln>
        </p:spPr>
      </p:sp>
      <p:sp>
        <p:nvSpPr>
          <p:cNvPr id="80" name="Text 77"/>
          <p:cNvSpPr/>
          <p:nvPr/>
        </p:nvSpPr>
        <p:spPr>
          <a:xfrm>
            <a:off x="4983480" y="427939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Malasaña·Tapas·Vermouth</a:t>
            </a:r>
            <a:endParaRPr lang="en-US" sz="900" dirty="0"/>
          </a:p>
        </p:txBody>
      </p:sp>
      <p:sp>
        <p:nvSpPr>
          <p:cNvPr id="81" name="Shape 78"/>
          <p:cNvSpPr/>
          <p:nvPr/>
        </p:nvSpPr>
        <p:spPr>
          <a:xfrm>
            <a:off x="7315200" y="4279392"/>
            <a:ext cx="2240280" cy="457200"/>
          </a:xfrm>
          <a:prstGeom prst="rect">
            <a:avLst/>
          </a:prstGeom>
          <a:solidFill>
            <a:srgbClr val="16213E">
              <a:alpha val="75000"/>
            </a:srgbClr>
          </a:solidFill>
          <a:ln w="12700">
            <a:solidFill>
              <a:srgbClr val="0F3460"/>
            </a:solidFill>
            <a:prstDash val="solid"/>
          </a:ln>
        </p:spPr>
      </p:sp>
      <p:sp>
        <p:nvSpPr>
          <p:cNvPr id="82" name="Text 79"/>
          <p:cNvSpPr/>
          <p:nvPr/>
        </p:nvSpPr>
        <p:spPr>
          <a:xfrm>
            <a:off x="7360920" y="427939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Kolosseum·Pasta·Aperol</a:t>
            </a:r>
            <a:endParaRPr lang="en-US" sz="900" dirty="0"/>
          </a:p>
        </p:txBody>
      </p:sp>
      <p:sp>
        <p:nvSpPr>
          <p:cNvPr id="83" name="Shape 80"/>
          <p:cNvSpPr/>
          <p:nvPr/>
        </p:nvSpPr>
        <p:spPr>
          <a:xfrm>
            <a:off x="9692640" y="4279392"/>
            <a:ext cx="2240280" cy="457200"/>
          </a:xfrm>
          <a:prstGeom prst="rect">
            <a:avLst/>
          </a:prstGeom>
          <a:solidFill>
            <a:srgbClr val="16213E">
              <a:alpha val="75000"/>
            </a:srgbClr>
          </a:solidFill>
          <a:ln w="12700">
            <a:solidFill>
              <a:srgbClr val="0F3460"/>
            </a:solidFill>
            <a:prstDash val="solid"/>
          </a:ln>
        </p:spPr>
      </p:sp>
      <p:sp>
        <p:nvSpPr>
          <p:cNvPr id="84" name="Text 81"/>
          <p:cNvSpPr/>
          <p:nvPr/>
        </p:nvSpPr>
        <p:spPr>
          <a:xfrm>
            <a:off x="9738360" y="4279392"/>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Blaue Lagune·Baden</a:t>
            </a:r>
            <a:endParaRPr lang="en-US" sz="900" dirty="0"/>
          </a:p>
        </p:txBody>
      </p:sp>
      <p:sp>
        <p:nvSpPr>
          <p:cNvPr id="85" name="Shape 82"/>
          <p:cNvSpPr/>
          <p:nvPr/>
        </p:nvSpPr>
        <p:spPr>
          <a:xfrm>
            <a:off x="228600" y="4773168"/>
            <a:ext cx="2240280" cy="457200"/>
          </a:xfrm>
          <a:prstGeom prst="rect">
            <a:avLst/>
          </a:prstGeom>
          <a:solidFill>
            <a:srgbClr val="1A1A2E">
              <a:alpha val="75000"/>
            </a:srgbClr>
          </a:solidFill>
          <a:ln w="12700">
            <a:solidFill>
              <a:srgbClr val="0F3460"/>
            </a:solidFill>
            <a:prstDash val="solid"/>
          </a:ln>
        </p:spPr>
      </p:sp>
      <p:sp>
        <p:nvSpPr>
          <p:cNvPr id="86" name="Text 83"/>
          <p:cNvSpPr/>
          <p:nvPr/>
        </p:nvSpPr>
        <p:spPr>
          <a:xfrm>
            <a:off x="274320" y="4773168"/>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Clubs bis</a:t>
            </a:r>
            <a:endParaRPr lang="en-US" sz="950" dirty="0"/>
          </a:p>
        </p:txBody>
      </p:sp>
      <p:sp>
        <p:nvSpPr>
          <p:cNvPr id="87" name="Shape 84"/>
          <p:cNvSpPr/>
          <p:nvPr/>
        </p:nvSpPr>
        <p:spPr>
          <a:xfrm>
            <a:off x="2560320" y="4773168"/>
            <a:ext cx="2240280" cy="457200"/>
          </a:xfrm>
          <a:prstGeom prst="rect">
            <a:avLst/>
          </a:prstGeom>
          <a:solidFill>
            <a:srgbClr val="1A1A2E">
              <a:alpha val="75000"/>
            </a:srgbClr>
          </a:solidFill>
          <a:ln w="12700">
            <a:solidFill>
              <a:srgbClr val="0F3460"/>
            </a:solidFill>
            <a:prstDash val="solid"/>
          </a:ln>
        </p:spPr>
      </p:sp>
      <p:sp>
        <p:nvSpPr>
          <p:cNvPr id="88" name="Text 85"/>
          <p:cNvSpPr/>
          <p:nvPr/>
        </p:nvSpPr>
        <p:spPr>
          <a:xfrm>
            <a:off x="2606040" y="477316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6 Uhr</a:t>
            </a:r>
            <a:endParaRPr lang="en-US" sz="900" dirty="0"/>
          </a:p>
        </p:txBody>
      </p:sp>
      <p:sp>
        <p:nvSpPr>
          <p:cNvPr id="89" name="Shape 86"/>
          <p:cNvSpPr/>
          <p:nvPr/>
        </p:nvSpPr>
        <p:spPr>
          <a:xfrm>
            <a:off x="4937760" y="4773168"/>
            <a:ext cx="2240280" cy="457200"/>
          </a:xfrm>
          <a:prstGeom prst="rect">
            <a:avLst/>
          </a:prstGeom>
          <a:solidFill>
            <a:srgbClr val="1A1A2E">
              <a:alpha val="75000"/>
            </a:srgbClr>
          </a:solidFill>
          <a:ln w="12700">
            <a:solidFill>
              <a:srgbClr val="0F3460"/>
            </a:solidFill>
            <a:prstDash val="solid"/>
          </a:ln>
        </p:spPr>
      </p:sp>
      <p:sp>
        <p:nvSpPr>
          <p:cNvPr id="90" name="Text 87"/>
          <p:cNvSpPr/>
          <p:nvPr/>
        </p:nvSpPr>
        <p:spPr>
          <a:xfrm>
            <a:off x="4983480" y="477316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7 Uhr</a:t>
            </a:r>
            <a:endParaRPr lang="en-US" sz="900" dirty="0"/>
          </a:p>
        </p:txBody>
      </p:sp>
      <p:sp>
        <p:nvSpPr>
          <p:cNvPr id="91" name="Shape 88"/>
          <p:cNvSpPr/>
          <p:nvPr/>
        </p:nvSpPr>
        <p:spPr>
          <a:xfrm>
            <a:off x="7315200" y="4773168"/>
            <a:ext cx="2240280" cy="457200"/>
          </a:xfrm>
          <a:prstGeom prst="rect">
            <a:avLst/>
          </a:prstGeom>
          <a:solidFill>
            <a:srgbClr val="1A1A2E">
              <a:alpha val="75000"/>
            </a:srgbClr>
          </a:solidFill>
          <a:ln w="12700">
            <a:solidFill>
              <a:srgbClr val="0F3460"/>
            </a:solidFill>
            <a:prstDash val="solid"/>
          </a:ln>
        </p:spPr>
      </p:sp>
      <p:sp>
        <p:nvSpPr>
          <p:cNvPr id="92" name="Text 89"/>
          <p:cNvSpPr/>
          <p:nvPr/>
        </p:nvSpPr>
        <p:spPr>
          <a:xfrm>
            <a:off x="7360920" y="477316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5 Uhr</a:t>
            </a:r>
            <a:endParaRPr lang="en-US" sz="900" dirty="0"/>
          </a:p>
        </p:txBody>
      </p:sp>
      <p:sp>
        <p:nvSpPr>
          <p:cNvPr id="93" name="Shape 90"/>
          <p:cNvSpPr/>
          <p:nvPr/>
        </p:nvSpPr>
        <p:spPr>
          <a:xfrm>
            <a:off x="9692640" y="4773168"/>
            <a:ext cx="2240280" cy="457200"/>
          </a:xfrm>
          <a:prstGeom prst="rect">
            <a:avLst/>
          </a:prstGeom>
          <a:solidFill>
            <a:srgbClr val="1A1A2E">
              <a:alpha val="75000"/>
            </a:srgbClr>
          </a:solidFill>
          <a:ln w="12700">
            <a:solidFill>
              <a:srgbClr val="0F3460"/>
            </a:solidFill>
            <a:prstDash val="solid"/>
          </a:ln>
        </p:spPr>
      </p:sp>
      <p:sp>
        <p:nvSpPr>
          <p:cNvPr id="94" name="Text 91"/>
          <p:cNvSpPr/>
          <p:nvPr/>
        </p:nvSpPr>
        <p:spPr>
          <a:xfrm>
            <a:off x="9738360" y="4773168"/>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4 Uhr</a:t>
            </a:r>
            <a:endParaRPr lang="en-US" sz="900" dirty="0"/>
          </a:p>
        </p:txBody>
      </p:sp>
      <p:sp>
        <p:nvSpPr>
          <p:cNvPr id="95" name="Shape 92"/>
          <p:cNvSpPr/>
          <p:nvPr/>
        </p:nvSpPr>
        <p:spPr>
          <a:xfrm>
            <a:off x="228600" y="5266944"/>
            <a:ext cx="2240280" cy="457200"/>
          </a:xfrm>
          <a:prstGeom prst="rect">
            <a:avLst/>
          </a:prstGeom>
          <a:solidFill>
            <a:srgbClr val="16213E">
              <a:alpha val="75000"/>
            </a:srgbClr>
          </a:solidFill>
          <a:ln w="12700">
            <a:solidFill>
              <a:srgbClr val="0F3460"/>
            </a:solidFill>
            <a:prstDash val="solid"/>
          </a:ln>
        </p:spPr>
      </p:sp>
      <p:sp>
        <p:nvSpPr>
          <p:cNvPr id="96" name="Text 93"/>
          <p:cNvSpPr/>
          <p:nvPr/>
        </p:nvSpPr>
        <p:spPr>
          <a:xfrm>
            <a:off x="274320" y="5266944"/>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Essen</a:t>
            </a:r>
            <a:endParaRPr lang="en-US" sz="950" dirty="0"/>
          </a:p>
        </p:txBody>
      </p:sp>
      <p:sp>
        <p:nvSpPr>
          <p:cNvPr id="97" name="Shape 94"/>
          <p:cNvSpPr/>
          <p:nvPr/>
        </p:nvSpPr>
        <p:spPr>
          <a:xfrm>
            <a:off x="2560320" y="5266944"/>
            <a:ext cx="2240280" cy="457200"/>
          </a:xfrm>
          <a:prstGeom prst="rect">
            <a:avLst/>
          </a:prstGeom>
          <a:solidFill>
            <a:srgbClr val="16213E">
              <a:alpha val="75000"/>
            </a:srgbClr>
          </a:solidFill>
          <a:ln w="12700">
            <a:solidFill>
              <a:srgbClr val="0F3460"/>
            </a:solidFill>
            <a:prstDash val="solid"/>
          </a:ln>
        </p:spPr>
      </p:sp>
      <p:sp>
        <p:nvSpPr>
          <p:cNvPr id="98" name="Text 95"/>
          <p:cNvSpPr/>
          <p:nvPr/>
        </p:nvSpPr>
        <p:spPr>
          <a:xfrm>
            <a:off x="2606040" y="526694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Petiscos €15–25</a:t>
            </a:r>
            <a:endParaRPr lang="en-US" sz="900" dirty="0"/>
          </a:p>
        </p:txBody>
      </p:sp>
      <p:sp>
        <p:nvSpPr>
          <p:cNvPr id="99" name="Shape 96"/>
          <p:cNvSpPr/>
          <p:nvPr/>
        </p:nvSpPr>
        <p:spPr>
          <a:xfrm>
            <a:off x="4937760" y="5266944"/>
            <a:ext cx="2240280" cy="457200"/>
          </a:xfrm>
          <a:prstGeom prst="rect">
            <a:avLst/>
          </a:prstGeom>
          <a:solidFill>
            <a:srgbClr val="16213E">
              <a:alpha val="75000"/>
            </a:srgbClr>
          </a:solidFill>
          <a:ln w="12700">
            <a:solidFill>
              <a:srgbClr val="0F3460"/>
            </a:solidFill>
            <a:prstDash val="solid"/>
          </a:ln>
        </p:spPr>
      </p:sp>
      <p:sp>
        <p:nvSpPr>
          <p:cNvPr id="100" name="Text 97"/>
          <p:cNvSpPr/>
          <p:nvPr/>
        </p:nvSpPr>
        <p:spPr>
          <a:xfrm>
            <a:off x="4983480" y="526694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Tapas €15–20</a:t>
            </a:r>
            <a:endParaRPr lang="en-US" sz="900" dirty="0"/>
          </a:p>
        </p:txBody>
      </p:sp>
      <p:sp>
        <p:nvSpPr>
          <p:cNvPr id="101" name="Shape 98"/>
          <p:cNvSpPr/>
          <p:nvPr/>
        </p:nvSpPr>
        <p:spPr>
          <a:xfrm>
            <a:off x="7315200" y="5266944"/>
            <a:ext cx="2240280" cy="457200"/>
          </a:xfrm>
          <a:prstGeom prst="rect">
            <a:avLst/>
          </a:prstGeom>
          <a:solidFill>
            <a:srgbClr val="16213E">
              <a:alpha val="75000"/>
            </a:srgbClr>
          </a:solidFill>
          <a:ln w="12700">
            <a:solidFill>
              <a:srgbClr val="0F3460"/>
            </a:solidFill>
            <a:prstDash val="solid"/>
          </a:ln>
        </p:spPr>
      </p:sp>
      <p:sp>
        <p:nvSpPr>
          <p:cNvPr id="102" name="Text 99"/>
          <p:cNvSpPr/>
          <p:nvPr/>
        </p:nvSpPr>
        <p:spPr>
          <a:xfrm>
            <a:off x="7360920" y="526694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Pizza/Pasta €15–20</a:t>
            </a:r>
            <a:endParaRPr lang="en-US" sz="900" dirty="0"/>
          </a:p>
        </p:txBody>
      </p:sp>
      <p:sp>
        <p:nvSpPr>
          <p:cNvPr id="103" name="Shape 100"/>
          <p:cNvSpPr/>
          <p:nvPr/>
        </p:nvSpPr>
        <p:spPr>
          <a:xfrm>
            <a:off x="9692640" y="5266944"/>
            <a:ext cx="2240280" cy="457200"/>
          </a:xfrm>
          <a:prstGeom prst="rect">
            <a:avLst/>
          </a:prstGeom>
          <a:solidFill>
            <a:srgbClr val="16213E">
              <a:alpha val="75000"/>
            </a:srgbClr>
          </a:solidFill>
          <a:ln w="12700">
            <a:solidFill>
              <a:srgbClr val="0F3460"/>
            </a:solidFill>
            <a:prstDash val="solid"/>
          </a:ln>
        </p:spPr>
      </p:sp>
      <p:sp>
        <p:nvSpPr>
          <p:cNvPr id="104" name="Text 101"/>
          <p:cNvSpPr/>
          <p:nvPr/>
        </p:nvSpPr>
        <p:spPr>
          <a:xfrm>
            <a:off x="9738360" y="5266944"/>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Fisch €12–20</a:t>
            </a:r>
            <a:endParaRPr lang="en-US" sz="900" dirty="0"/>
          </a:p>
        </p:txBody>
      </p:sp>
      <p:sp>
        <p:nvSpPr>
          <p:cNvPr id="105" name="Shape 102"/>
          <p:cNvSpPr/>
          <p:nvPr/>
        </p:nvSpPr>
        <p:spPr>
          <a:xfrm>
            <a:off x="228600" y="5760720"/>
            <a:ext cx="2240280" cy="457200"/>
          </a:xfrm>
          <a:prstGeom prst="rect">
            <a:avLst/>
          </a:prstGeom>
          <a:solidFill>
            <a:srgbClr val="1A1A2E">
              <a:alpha val="75000"/>
            </a:srgbClr>
          </a:solidFill>
          <a:ln w="12700">
            <a:solidFill>
              <a:srgbClr val="0F3460"/>
            </a:solidFill>
            <a:prstDash val="solid"/>
          </a:ln>
        </p:spPr>
      </p:sp>
      <p:sp>
        <p:nvSpPr>
          <p:cNvPr id="106" name="Text 103"/>
          <p:cNvSpPr/>
          <p:nvPr/>
        </p:nvSpPr>
        <p:spPr>
          <a:xfrm>
            <a:off x="274320" y="5760720"/>
            <a:ext cx="2194560" cy="457200"/>
          </a:xfrm>
          <a:prstGeom prst="rect">
            <a:avLst/>
          </a:prstGeom>
          <a:noFill/>
          <a:ln/>
        </p:spPr>
        <p:txBody>
          <a:bodyPr wrap="square" rtlCol="0" anchor="ctr"/>
          <a:lstStyle/>
          <a:p>
            <a:pPr indent="0" marL="0">
              <a:buNone/>
            </a:pPr>
            <a:r>
              <a:rPr lang="en-US" sz="950" dirty="0">
                <a:solidFill>
                  <a:srgbClr val="9CA3AF"/>
                </a:solidFill>
                <a:latin typeface="Calibri" pitchFamily="34" charset="0"/>
                <a:ea typeface="Calibri" pitchFamily="34" charset="-122"/>
                <a:cs typeface="Calibri" pitchFamily="34" charset="-120"/>
              </a:rPr>
              <a:t>🍳 Kochkurs</a:t>
            </a:r>
            <a:endParaRPr lang="en-US" sz="950" dirty="0"/>
          </a:p>
        </p:txBody>
      </p:sp>
      <p:sp>
        <p:nvSpPr>
          <p:cNvPr id="107" name="Shape 104"/>
          <p:cNvSpPr/>
          <p:nvPr/>
        </p:nvSpPr>
        <p:spPr>
          <a:xfrm>
            <a:off x="2560320" y="5760720"/>
            <a:ext cx="2240280" cy="457200"/>
          </a:xfrm>
          <a:prstGeom prst="rect">
            <a:avLst/>
          </a:prstGeom>
          <a:solidFill>
            <a:srgbClr val="1A1A2E">
              <a:alpha val="75000"/>
            </a:srgbClr>
          </a:solidFill>
          <a:ln w="12700">
            <a:solidFill>
              <a:srgbClr val="0F3460"/>
            </a:solidFill>
            <a:prstDash val="solid"/>
          </a:ln>
        </p:spPr>
      </p:sp>
      <p:sp>
        <p:nvSpPr>
          <p:cNvPr id="108" name="Text 105"/>
          <p:cNvSpPr/>
          <p:nvPr/>
        </p:nvSpPr>
        <p:spPr>
          <a:xfrm>
            <a:off x="2606040" y="576072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€110 p.P.</a:t>
            </a:r>
            <a:endParaRPr lang="en-US" sz="900" dirty="0"/>
          </a:p>
        </p:txBody>
      </p:sp>
      <p:sp>
        <p:nvSpPr>
          <p:cNvPr id="109" name="Shape 106"/>
          <p:cNvSpPr/>
          <p:nvPr/>
        </p:nvSpPr>
        <p:spPr>
          <a:xfrm>
            <a:off x="4937760" y="5760720"/>
            <a:ext cx="2240280" cy="457200"/>
          </a:xfrm>
          <a:prstGeom prst="rect">
            <a:avLst/>
          </a:prstGeom>
          <a:solidFill>
            <a:srgbClr val="1A1A2E">
              <a:alpha val="75000"/>
            </a:srgbClr>
          </a:solidFill>
          <a:ln w="12700">
            <a:solidFill>
              <a:srgbClr val="0F3460"/>
            </a:solidFill>
            <a:prstDash val="solid"/>
          </a:ln>
        </p:spPr>
      </p:sp>
      <p:sp>
        <p:nvSpPr>
          <p:cNvPr id="110" name="Text 107"/>
          <p:cNvSpPr/>
          <p:nvPr/>
        </p:nvSpPr>
        <p:spPr>
          <a:xfrm>
            <a:off x="4983480" y="576072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€85 p.P.</a:t>
            </a:r>
            <a:endParaRPr lang="en-US" sz="900" dirty="0"/>
          </a:p>
        </p:txBody>
      </p:sp>
      <p:sp>
        <p:nvSpPr>
          <p:cNvPr id="111" name="Shape 108"/>
          <p:cNvSpPr/>
          <p:nvPr/>
        </p:nvSpPr>
        <p:spPr>
          <a:xfrm>
            <a:off x="7315200" y="5760720"/>
            <a:ext cx="2240280" cy="457200"/>
          </a:xfrm>
          <a:prstGeom prst="rect">
            <a:avLst/>
          </a:prstGeom>
          <a:solidFill>
            <a:srgbClr val="1A1A2E">
              <a:alpha val="75000"/>
            </a:srgbClr>
          </a:solidFill>
          <a:ln w="12700">
            <a:solidFill>
              <a:srgbClr val="0F3460"/>
            </a:solidFill>
            <a:prstDash val="solid"/>
          </a:ln>
        </p:spPr>
      </p:sp>
      <p:sp>
        <p:nvSpPr>
          <p:cNvPr id="112" name="Text 109"/>
          <p:cNvSpPr/>
          <p:nvPr/>
        </p:nvSpPr>
        <p:spPr>
          <a:xfrm>
            <a:off x="7360920" y="576072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€65 p.P.</a:t>
            </a:r>
            <a:endParaRPr lang="en-US" sz="900" dirty="0"/>
          </a:p>
        </p:txBody>
      </p:sp>
      <p:sp>
        <p:nvSpPr>
          <p:cNvPr id="113" name="Shape 110"/>
          <p:cNvSpPr/>
          <p:nvPr/>
        </p:nvSpPr>
        <p:spPr>
          <a:xfrm>
            <a:off x="9692640" y="5760720"/>
            <a:ext cx="2240280" cy="457200"/>
          </a:xfrm>
          <a:prstGeom prst="rect">
            <a:avLst/>
          </a:prstGeom>
          <a:solidFill>
            <a:srgbClr val="1A1A2E">
              <a:alpha val="75000"/>
            </a:srgbClr>
          </a:solidFill>
          <a:ln w="12700">
            <a:solidFill>
              <a:srgbClr val="0F3460"/>
            </a:solidFill>
            <a:prstDash val="solid"/>
          </a:ln>
        </p:spPr>
      </p:sp>
      <p:sp>
        <p:nvSpPr>
          <p:cNvPr id="114" name="Text 111"/>
          <p:cNvSpPr/>
          <p:nvPr/>
        </p:nvSpPr>
        <p:spPr>
          <a:xfrm>
            <a:off x="9738360" y="5760720"/>
            <a:ext cx="2148840" cy="457200"/>
          </a:xfrm>
          <a:prstGeom prst="rect">
            <a:avLst/>
          </a:prstGeom>
          <a:noFill/>
          <a:ln/>
        </p:spPr>
        <p:txBody>
          <a:bodyPr wrap="square" rtlCol="0" anchor="ctr"/>
          <a:lstStyle/>
          <a:p>
            <a:pPr algn="ctr" indent="0" marL="0">
              <a:buNone/>
            </a:pPr>
            <a:r>
              <a:rPr lang="en-US" sz="900" dirty="0">
                <a:solidFill>
                  <a:srgbClr val="E8E8E8"/>
                </a:solidFill>
                <a:latin typeface="Calibri" pitchFamily="34" charset="0"/>
                <a:ea typeface="Calibri" pitchFamily="34" charset="-122"/>
                <a:cs typeface="Calibri" pitchFamily="34" charset="-120"/>
              </a:rPr>
              <a:t>€65 p.P.</a:t>
            </a:r>
            <a:endParaRPr lang="en-US" sz="900" dirty="0"/>
          </a:p>
        </p:txBody>
      </p:sp>
      <p:sp>
        <p:nvSpPr>
          <p:cNvPr id="115" name="Shape 112"/>
          <p:cNvSpPr/>
          <p:nvPr/>
        </p:nvSpPr>
        <p:spPr>
          <a:xfrm>
            <a:off x="228600" y="6254496"/>
            <a:ext cx="2240280" cy="457200"/>
          </a:xfrm>
          <a:prstGeom prst="rect">
            <a:avLst/>
          </a:prstGeom>
          <a:solidFill>
            <a:srgbClr val="0F3460"/>
          </a:solidFill>
          <a:ln w="12700">
            <a:solidFill>
              <a:srgbClr val="0F3460"/>
            </a:solidFill>
            <a:prstDash val="solid"/>
          </a:ln>
        </p:spPr>
      </p:sp>
      <p:sp>
        <p:nvSpPr>
          <p:cNvPr id="116" name="Text 113"/>
          <p:cNvSpPr/>
          <p:nvPr/>
        </p:nvSpPr>
        <p:spPr>
          <a:xfrm>
            <a:off x="274320" y="6254496"/>
            <a:ext cx="2194560" cy="457200"/>
          </a:xfrm>
          <a:prstGeom prst="rect">
            <a:avLst/>
          </a:prstGeom>
          <a:noFill/>
          <a:ln/>
        </p:spPr>
        <p:txBody>
          <a:bodyPr wrap="square" rtlCol="0" anchor="ctr"/>
          <a:lstStyle/>
          <a:p>
            <a:pPr indent="0" marL="0">
              <a:buNone/>
            </a:pPr>
            <a:r>
              <a:rPr lang="en-US" sz="1100" b="1" dirty="0">
                <a:solidFill>
                  <a:srgbClr val="FFC107"/>
                </a:solidFill>
                <a:latin typeface="Calibri" pitchFamily="34" charset="0"/>
                <a:ea typeface="Calibri" pitchFamily="34" charset="-122"/>
                <a:cs typeface="Calibri" pitchFamily="34" charset="-120"/>
              </a:rPr>
              <a:t>💡 Unser Tipp</a:t>
            </a:r>
            <a:endParaRPr lang="en-US" sz="1100" dirty="0"/>
          </a:p>
        </p:txBody>
      </p:sp>
      <p:sp>
        <p:nvSpPr>
          <p:cNvPr id="117" name="Shape 114"/>
          <p:cNvSpPr/>
          <p:nvPr/>
        </p:nvSpPr>
        <p:spPr>
          <a:xfrm>
            <a:off x="2560320" y="6254496"/>
            <a:ext cx="2240280" cy="457200"/>
          </a:xfrm>
          <a:prstGeom prst="rect">
            <a:avLst/>
          </a:prstGeom>
          <a:solidFill>
            <a:srgbClr val="0F3460"/>
          </a:solidFill>
          <a:ln w="12700">
            <a:solidFill>
              <a:srgbClr val="FF8C00"/>
            </a:solidFill>
            <a:prstDash val="solid"/>
          </a:ln>
        </p:spPr>
      </p:sp>
      <p:sp>
        <p:nvSpPr>
          <p:cNvPr id="118" name="Text 115"/>
          <p:cNvSpPr/>
          <p:nvPr/>
        </p:nvSpPr>
        <p:spPr>
          <a:xfrm>
            <a:off x="2606040" y="6254496"/>
            <a:ext cx="2148840" cy="457200"/>
          </a:xfrm>
          <a:prstGeom prst="rect">
            <a:avLst/>
          </a:prstGeom>
          <a:noFill/>
          <a:ln/>
        </p:spPr>
        <p:txBody>
          <a:bodyPr wrap="square" rtlCol="0" anchor="ctr"/>
          <a:lstStyle/>
          <a:p>
            <a:pPr algn="ctr" indent="0" marL="0">
              <a:buNone/>
            </a:pPr>
            <a:r>
              <a:rPr lang="en-US" sz="1050" b="1" dirty="0">
                <a:solidFill>
                  <a:srgbClr val="FF8C00"/>
                </a:solidFill>
                <a:latin typeface="Trebuchet MS" pitchFamily="34" charset="0"/>
                <a:ea typeface="Trebuchet MS" pitchFamily="34" charset="-122"/>
                <a:cs typeface="Trebuchet MS" pitchFamily="34" charset="-120"/>
              </a:rPr>
              <a:t>Atlantik-Charme+Fado</a:t>
            </a:r>
            <a:endParaRPr lang="en-US" sz="1050" dirty="0"/>
          </a:p>
        </p:txBody>
      </p:sp>
      <p:sp>
        <p:nvSpPr>
          <p:cNvPr id="119" name="Shape 116"/>
          <p:cNvSpPr/>
          <p:nvPr/>
        </p:nvSpPr>
        <p:spPr>
          <a:xfrm>
            <a:off x="4937760" y="6254496"/>
            <a:ext cx="2240280" cy="457200"/>
          </a:xfrm>
          <a:prstGeom prst="rect">
            <a:avLst/>
          </a:prstGeom>
          <a:solidFill>
            <a:srgbClr val="0F3460"/>
          </a:solidFill>
          <a:ln w="12700">
            <a:solidFill>
              <a:srgbClr val="E6321E"/>
            </a:solidFill>
            <a:prstDash val="solid"/>
          </a:ln>
        </p:spPr>
      </p:sp>
      <p:sp>
        <p:nvSpPr>
          <p:cNvPr id="120" name="Text 117"/>
          <p:cNvSpPr/>
          <p:nvPr/>
        </p:nvSpPr>
        <p:spPr>
          <a:xfrm>
            <a:off x="4983480" y="6254496"/>
            <a:ext cx="2148840" cy="457200"/>
          </a:xfrm>
          <a:prstGeom prst="rect">
            <a:avLst/>
          </a:prstGeom>
          <a:noFill/>
          <a:ln/>
        </p:spPr>
        <p:txBody>
          <a:bodyPr wrap="square" rtlCol="0" anchor="ctr"/>
          <a:lstStyle/>
          <a:p>
            <a:pPr algn="ctr" indent="0" marL="0">
              <a:buNone/>
            </a:pPr>
            <a:r>
              <a:rPr lang="en-US" sz="1050" b="1" dirty="0">
                <a:solidFill>
                  <a:srgbClr val="E6321E"/>
                </a:solidFill>
                <a:latin typeface="Trebuchet MS" pitchFamily="34" charset="0"/>
                <a:ea typeface="Trebuchet MS" pitchFamily="34" charset="-122"/>
                <a:cs typeface="Trebuchet MS" pitchFamily="34" charset="-120"/>
              </a:rPr>
              <a:t>Fr.+Feiertag = Top!</a:t>
            </a:r>
            <a:endParaRPr lang="en-US" sz="1050" dirty="0"/>
          </a:p>
        </p:txBody>
      </p:sp>
      <p:sp>
        <p:nvSpPr>
          <p:cNvPr id="121" name="Shape 118"/>
          <p:cNvSpPr/>
          <p:nvPr/>
        </p:nvSpPr>
        <p:spPr>
          <a:xfrm>
            <a:off x="7315200" y="6254496"/>
            <a:ext cx="2240280" cy="457200"/>
          </a:xfrm>
          <a:prstGeom prst="rect">
            <a:avLst/>
          </a:prstGeom>
          <a:solidFill>
            <a:srgbClr val="0F3460"/>
          </a:solidFill>
          <a:ln w="12700">
            <a:solidFill>
              <a:srgbClr val="D4783A"/>
            </a:solidFill>
            <a:prstDash val="solid"/>
          </a:ln>
        </p:spPr>
      </p:sp>
      <p:sp>
        <p:nvSpPr>
          <p:cNvPr id="122" name="Text 119"/>
          <p:cNvSpPr/>
          <p:nvPr/>
        </p:nvSpPr>
        <p:spPr>
          <a:xfrm>
            <a:off x="7360920" y="6254496"/>
            <a:ext cx="2148840" cy="457200"/>
          </a:xfrm>
          <a:prstGeom prst="rect">
            <a:avLst/>
          </a:prstGeom>
          <a:noFill/>
          <a:ln/>
        </p:spPr>
        <p:txBody>
          <a:bodyPr wrap="square" rtlCol="0" anchor="ctr"/>
          <a:lstStyle/>
          <a:p>
            <a:pPr algn="ctr" indent="0" marL="0">
              <a:buNone/>
            </a:pPr>
            <a:r>
              <a:rPr lang="en-US" sz="1050" b="1" dirty="0">
                <a:solidFill>
                  <a:srgbClr val="D4783A"/>
                </a:solidFill>
                <a:latin typeface="Trebuchet MS" pitchFamily="34" charset="0"/>
                <a:ea typeface="Trebuchet MS" pitchFamily="34" charset="-122"/>
                <a:cs typeface="Trebuchet MS" pitchFamily="34" charset="-120"/>
              </a:rPr>
              <a:t>Günstig ab DTM!</a:t>
            </a:r>
            <a:endParaRPr lang="en-US" sz="1050" dirty="0"/>
          </a:p>
        </p:txBody>
      </p:sp>
      <p:sp>
        <p:nvSpPr>
          <p:cNvPr id="123" name="Shape 120"/>
          <p:cNvSpPr/>
          <p:nvPr/>
        </p:nvSpPr>
        <p:spPr>
          <a:xfrm>
            <a:off x="9692640" y="6254496"/>
            <a:ext cx="2240280" cy="457200"/>
          </a:xfrm>
          <a:prstGeom prst="rect">
            <a:avLst/>
          </a:prstGeom>
          <a:solidFill>
            <a:srgbClr val="0F3460"/>
          </a:solidFill>
          <a:ln w="12700">
            <a:solidFill>
              <a:srgbClr val="1EB4C8"/>
            </a:solidFill>
            <a:prstDash val="solid"/>
          </a:ln>
        </p:spPr>
      </p:sp>
      <p:sp>
        <p:nvSpPr>
          <p:cNvPr id="124" name="Text 121"/>
          <p:cNvSpPr/>
          <p:nvPr/>
        </p:nvSpPr>
        <p:spPr>
          <a:xfrm>
            <a:off x="9738360" y="6254496"/>
            <a:ext cx="2148840" cy="457200"/>
          </a:xfrm>
          <a:prstGeom prst="rect">
            <a:avLst/>
          </a:prstGeom>
          <a:noFill/>
          <a:ln/>
        </p:spPr>
        <p:txBody>
          <a:bodyPr wrap="square" rtlCol="0" anchor="ctr"/>
          <a:lstStyle/>
          <a:p>
            <a:pPr algn="ctr" indent="0" marL="0">
              <a:buNone/>
            </a:pPr>
            <a:r>
              <a:rPr lang="en-US" sz="1050" b="1" dirty="0">
                <a:solidFill>
                  <a:srgbClr val="1EB4C8"/>
                </a:solidFill>
                <a:latin typeface="Trebuchet MS" pitchFamily="34" charset="0"/>
                <a:ea typeface="Trebuchet MS" pitchFamily="34" charset="-122"/>
                <a:cs typeface="Trebuchet MS" pitchFamily="34" charset="-120"/>
              </a:rPr>
              <a:t>Wärmstes+Meer!</a:t>
            </a:r>
            <a:endParaRPr lang="en-US" sz="1050" dirty="0"/>
          </a:p>
        </p:txBody>
      </p:sp>
      <p:sp>
        <p:nvSpPr>
          <p:cNvPr id="125" name="Shape 122"/>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Halloween-Trip 2025 – Lissabon vs Madrid vs Rom vs Malta</dc:title>
  <dc:subject>PptxGenJS Presentation</dc:subject>
  <dc:creator>Halloween-Trip 2025</dc:creator>
  <cp:lastModifiedBy>Halloween-Trip 2025</cp:lastModifiedBy>
  <cp:revision>1</cp:revision>
  <dcterms:created xsi:type="dcterms:W3CDTF">2026-05-28T06:08:28Z</dcterms:created>
  <dcterms:modified xsi:type="dcterms:W3CDTF">2026-05-28T06:08:28Z</dcterms:modified>
</cp:coreProperties>
</file>