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xcelhaus/halloween_trip/titl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64008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🎃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457200" y="141732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8C00"/>
                </a:solidFill>
                <a:effectLst>
                  <a:glow rad="152400">
                    <a:srgbClr val="FF8C00">
                      <a:alpha val="50000"/>
                    </a:srgbClr>
                  </a:glow>
                </a:effectLst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HALLOWEEN TRIP 2025</a:t>
            </a:r>
            <a:endParaRPr lang="en-US" sz="6200" dirty="0"/>
          </a:p>
        </p:txBody>
      </p:sp>
      <p:sp>
        <p:nvSpPr>
          <p:cNvPr id="7" name="Text 4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Oct 30 – Nov 2  ·  4 Guys  ·  European Capital  ·  Halloween Mayhem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828800" y="3383280"/>
            <a:ext cx="8531352" cy="548640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828800" y="338328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conquered:   ✓ Riga   ✓ Athens   ✓ Tirana   ✓ Belgrade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420624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NEW DESTINATIONS — LET'S VOTE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1371600" y="4983480"/>
            <a:ext cx="3931920" cy="6400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49834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885432" y="4983480"/>
            <a:ext cx="3931920" cy="6400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85432" y="49834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🇭🇺  BUDAPEST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303520" y="4983480"/>
            <a:ext cx="1581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0" y="594360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 from DUS · FMO · DTM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DESTINATION 1 — LISBON, PORTUGAL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6" name="Image 0" descr="/home/user/Excelhaus/halloween_trip/lisbo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758952"/>
            <a:ext cx="1097280" cy="4937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Nightlife Capital of the Atlantic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0" y="126187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 ·  Pink Street  ·  Alfama Fado  ·  Castelo de São Jorge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Flight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0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3h 10m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DUS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94192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4192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Beer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394192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 – €3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 per pint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204704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04704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Weather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04704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17–22°C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 October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Trip est.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~€620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person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394192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94192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394192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⭐⭐⭐⭐⭐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World-class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0204704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04704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Fly from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04704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DUS only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(Eurowings)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83680" y="4251960"/>
            <a:ext cx="53949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34340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Lisbon delivers warm Atlantic charm with some of Europe's cheapest, most vibrant nightlife. Bairro Alto bursts with 200+ bars from midnight. Pink Street clubs rage until dawn. The city fully embraces Halloween — pub crawls, costumed crowds, and massive club events. Late-October weather means terrace drinking in a t-shirt.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 — FLIGHTS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OUTBOUND: Germany → Lisbon (LIS)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920240"/>
                <a:gridCol w="1097280"/>
                <a:gridCol w="1097280"/>
                <a:gridCol w="1097280"/>
                <a:gridCol w="13716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 &amp; 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Departure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Arrival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Price/Person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Best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 morning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Bird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Eve. before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29 evening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 Portugal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10m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€150–180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€600–720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8862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RETURN: Lisbon → Germany (Nov 2)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224528"/>
          <a:ext cx="11430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371600"/>
                <a:gridCol w="1371600"/>
                <a:gridCol w="1371600"/>
                <a:gridCol w="16459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 &amp; 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Departure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Arrival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Price/Person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EW9603 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 → DUS  /  Nov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21:50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50m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4919472"/>
            <a:ext cx="11430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96519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DUS (Düsseldorf) is the ONLY airport with direct Lisbon service — Eurowings &amp; TAP Air Portugal operate daily non-stop routes.  DTM &amp; FMO require connections (8h+ total).  •  Book via eurowings.com or kayak.com  •  Round-trip average: ~€170–190pp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229600" y="5669280"/>
            <a:ext cx="3566160" cy="82296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29600" y="568756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Trip · 4 Persons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229600" y="596188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€640 – €760 total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 — ACCOMMODATION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6" name="Image 0" descr="/home/user/Excelhaus/halloween_trip/lisbon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lisbon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Bairro Alto / São Roque  —  2 Bedroom Apartment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 2 Bedrooms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 2 Bathrooms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Balcony 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Sleeps 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Central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 A/C  ✓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Bairro Alto — steps from 200+ bars, Cervejaria Ramiro, Pink Street (10 min walk)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303520" y="3108960"/>
            <a:ext cx="66751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6382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 (Oct 30 – Nov 2, 3 nights)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930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night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930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~€130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896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nights subtotal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896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~€390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8620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+ fees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8620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8279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for 4 persons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8279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C10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~€450–480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7939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7939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~€113–120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99432"/>
            <a:ext cx="6675120" cy="47548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440680" y="4599432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airbnb.com/rooms/26081783  (Bairro Alto / São Roque — verify availability)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5394960" y="516636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"Garrett 48" in Chiado — terrace, 2BR, ~€100–130/night → airbnb.com/rooms/1016061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5394960" y="55321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Book immediately — Halloween weekend sells out weeks in advance!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 — DAY-BY-DAY ITINERARY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 — THU Oct 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Day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EW9602 lands LIS 12:20 · Check into Bairro Alto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Free Tour: 3:30 PM @ Praça do Comércio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(2.5h, pay €10–15 tip · covers Baixa, Alfama, miradouros)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  Dinner: Petiscos at Tasca do Chico ~8 PM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Bairro Alto bar crawl: 200+ bars, €2–3 beers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Start @ Park Bar (rooftop) → Pavilhão Chinês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910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 — FRI Oct 31 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910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NIGHT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Cooking Lisbon Market Tour 9:30 AM (4h, €110pp)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Mercado 31 de Janeiro · 3-course meal + wine included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Book: cookinglisbon.com/market-tour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🕙  Halloween Haunts Pub Crawl 10 PM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Meet: Praça Luís de Camões, Chiado · €28pp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 bars · 1h open bar · shots · VIP club entry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🎶  After 1 AM: Brunch Electronik Halloween Special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319125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Pavilhão Carlos Lopes · Chris Liebing B2B Luke Slater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— SAT Nov 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Explore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 Late start — hangover pastel de nata @ Pasteis de Belém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🚋  Tram 28: scenic ride through Alfama to Castelo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Cerveja Musa craft brewery, Mouraria (local IPA)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🌇  Miradouro da Graça for sunset views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 Fado dinner: Tasca do Chico or Zé da Viola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Pink Street night out: Pensão Amor + Music Box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5760" y="58064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Lux Frágil riverside club (open till 6 AM)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910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4 — SUN Nov 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910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 Day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Morning coffee @ A Brasileira café, Chiado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Quick visit: Castelo de São Jorge (optional)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Souvenirs: ginjinha liqueur, tinned fish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 Transfer to DUS airport (allow 45 min to airport)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EW9603  18:00 LIS → 21:50 DUS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6510528"/>
            <a:ext cx="11612880" cy="2011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6510528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Pub Crawl ticket: eventbrite.co.uk/e/1981093800888  ·  Cooking class: cookinglisbon.com/booking  ·  Free tour: neweuropetours.eu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 — COST SUMMARY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Item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Details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 Person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× 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Flights (return)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 EW9602/9603  DUS ↔ LIS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Accommodation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Bairro Alto — 3 nights (inc. fees)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Pub Crawl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Haunts — Chiado (Oct 31)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Lisbon — Market Tour + 3-course meal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Walking 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Praça do Comércio (tip)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(3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Meals, petiscos, pastéis — avg €15–25/meal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Drinks &amp; Nightlife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Bairro Alto + Pink Street + clubs (3 nights)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Misc (transport, tips)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Bolt rides, Uber,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🏆  TOTAL ESTIMATE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CA3A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Lisbon, Oct 30 – Nov 2, 2025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C107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~€735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~€2,940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961888"/>
            <a:ext cx="11247120" cy="621792"/>
          </a:xfrm>
          <a:prstGeom prst="rect">
            <a:avLst/>
          </a:prstGeom>
          <a:solidFill>
            <a:srgbClr val="16213E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980176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Budget range: €600 – €900pp depending on party intensity.  Beer at €2–3 and supermarket runs keep costs low.  Clubs (Lux Frágil, Brunch Electronik) add €20–30 each.  Tap water is drinkable and free in most restaurants.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🇪🇸  DESTINATION 2 — MADRID, SPAIN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pic>
        <p:nvPicPr>
          <p:cNvPr id="6" name="Image 0" descr="/home/user/Excelhaus/halloween_trip/madrid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758952"/>
            <a:ext cx="1097280" cy="4937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City That Never Sleeps — Literally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0" y="1261872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Malasaña  ·  Chueca  ·  Gran Vía  ·  La Latina tapas  ·  Clubs till 7 AM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Flight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0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2h 30m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DUS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94192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4192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Beer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394192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 – €4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caña or tubo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204704" y="169164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04704" y="17373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Weather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04704" y="203911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18–20°C ☀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 October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83680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Trip est.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~€712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person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394192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94192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394192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⭐⭐⭐⭐⭐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Clubs till 7 AM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10204704" y="2926080"/>
            <a:ext cx="1691640" cy="1097280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04704" y="2971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Fly from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204704" y="3273552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DUS only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(Iberia/Eurowings)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83680" y="4251960"/>
            <a:ext cx="53949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434340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Madrid is the warmest Halloween in Europe. Oct 31 is a Friday AND Nov 1 is a Spanish public holiday — meaning absolutely everyone is out and clubs stay open until 7 AM. Malasaña's bohemian bar scene, free tapas at El Tigre, vermouth on tap at 150-year-old bodegas, and Teatro Kapital's 7-floor nightclub. T-shirt weather guaranteed.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🇪🇸  MADRID — FLIGHTS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OUTBOUND: Germany → Madrid (MAD / Barajas)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828800"/>
                <a:gridCol w="1097280"/>
                <a:gridCol w="1097280"/>
                <a:gridCol w="1097280"/>
                <a:gridCol w="14630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Airline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 &amp; 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Departure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Arrival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Price/Person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Best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Eve. Oct 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Iberia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(IB3166)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MAD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29 evening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~19:55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~22:35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8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Iberia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(IB3162)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MAD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 morning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~06:20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~08:50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Midday 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(EW)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MAD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 midday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~13:xx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MAD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€100–130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€400–520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97764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RETURN: Madrid → Germany (Nov 2)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15968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188720"/>
                <a:gridCol w="1188720"/>
                <a:gridCol w="118872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Flight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Route &amp; Date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Departure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Arrival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Price/Person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(×4)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Iberia / Eurowings  (MAD→DUS)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 → DUS  /  Nov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2h 40m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~€70–90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C10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~€280–360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4974336"/>
            <a:ext cx="11430000" cy="59436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5010912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  DUS (Düsseldorf) is the recommended airport — direct flights with Iberia (3×/day), Eurowings &amp; Vueling.  DTM (Dortmund) has no direct Madrid service.  FMO requires connections.  Book at iberia.com · eurowings.com · kayak.com  ·  Airport to city centre: Metro Line 8 (€5) or taxi (~€35 fixed)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772400" y="5669280"/>
            <a:ext cx="4023360" cy="822960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0" y="568756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Trip · 4 Persons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772400" y="5961888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€580 – €740 total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🇪🇸  MADRID — ACCOMMODATION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pic>
        <p:nvPicPr>
          <p:cNvPr id="6" name="Image 0" descr="/home/user/Excelhaus/halloween_trip/madrid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madrid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Sonder Malasaña — 2 Bedroom · Balcony · Nightlife on the Doorstep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 2 Bedrooms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 2 Bathrooms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Balcony 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Sleeps 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 A/C  ✓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🎸  Malasaña bars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Malasaña — 1 min to Calle de la Palma bars, 5 min to Gran Vía, 10 min to Puerta del Sol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303520" y="3108960"/>
            <a:ext cx="6675120" cy="1371600"/>
          </a:xfrm>
          <a:prstGeom prst="rect">
            <a:avLst/>
          </a:prstGeom>
          <a:solidFill>
            <a:srgbClr val="16213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6382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 (Oct 30 – Nov 2, 3 nights)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930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night (Sonder managed)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930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~€150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896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nights subtotal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896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~€450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8620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+ fees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8620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8279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for 4 persons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8279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~€510–530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7939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7939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~€128–133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99432"/>
            <a:ext cx="6675120" cy="47548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440680" y="4599432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632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airbnb.com/rooms/47308216  (Sonder Malasaña — professional managed, 24/7 support)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5394960" y="516636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alt: 2BR central Madrid ~€80–110/night → ~€310 total → ~€78pp total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5394960" y="5532120"/>
            <a:ext cx="649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Book immediately — Halloween weekend Madrid fills up completely!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🇪🇸  MADRID — DAY-BY-DAY ITINERARY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 — WED Oct 29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(Evening)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Iberia ~22:35 lands MAD from DUS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🚇  Metro Line 8 to centre (~€5, 20 min)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Check in Malasaña apartment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🍷  Bodega de la Ardosa: vermouth on tap since 1892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Malasaña bar crawl: Calle de la Palma, Tupperware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Beer: Mahou 5 Estrellas ~€3 · La Vía Láctea till 3 AM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91072" y="91440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 — THU Oct 30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91072" y="109728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Tour + Cooking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1335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Free Tour 11:30 AM @ Plaza Mayor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00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2.5h · Royal Palace, Sol, La Latina, historic Madrid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65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🥘  Lunch tapas on Calle de la Cava Baja (La Latina)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30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Cooking Point Tapas Class 17:30–21:30 (€85pp)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3957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7 tapas recipes + sangría · Calle de Moratín, 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60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Book: cookingpoint.es  · Group max 12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26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After: Chueca bar scene + El Tigre free tapas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— FRI Oct 31 🎃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NIGHT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🌞  Sleep in — Madrid nights go till 7 AM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 Afternoon: Prado Museum or Retiro Park stroll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 Halloween Pub Crawl 22:00 · €20pp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Meet: Mulberry's Bar, Calle de Núñez de Arce 9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 bars · tequila shots · €100 costume contest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🎶  After 1 AM: Teatro Kapital — 7 floors, till 6 AM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58064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Calle Atocha 125 · €21pp entry · most central club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5760" y="607161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OR Fabrik Halloween party (20 min Uber, bigger)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16213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3776472"/>
            <a:ext cx="566928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91072" y="3794760"/>
            <a:ext cx="5522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4 — SAT Nov 1 (hol) + Nov 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91072" y="3977640"/>
            <a:ext cx="552297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Holiday + Depart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4215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🌞  Nov 1 = ALL SAINTS DAY (public holiday in Spain)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4480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Brunch: Churros con Chocolate at Chocolatería San Ginés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47457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🏺  Mercado de San Miguel: pintxos + local wines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50109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Afternoon vermut: La Hora del Vermut (~noon–3 PM)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5276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Final night: Malasaña or Lavapiés late bars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309360" y="55412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09360" y="58064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NOV 2: DUS return flight (check Iberia/Eurowings)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309360" y="607161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Metro Line 8 to airport (~€5, allow 45 min)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74320" y="6510528"/>
            <a:ext cx="11612880" cy="201168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6510528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Pub Crawl: eventbrite.es/e/1037812363717  ·  Cooking: cookingpoint.es  ·  Free tour: neweuropetours.eu/madrid  ·  Club: teatrokapital.com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92000" cy="658368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🇪🇸  MADRID — COST SUMMARY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731520"/>
            <a:ext cx="12192000" cy="27432"/>
          </a:xfrm>
          <a:prstGeom prst="rect">
            <a:avLst/>
          </a:prstGeom>
          <a:solidFill>
            <a:srgbClr val="E6321E"/>
          </a:solidFill>
          <a:ln w="12700">
            <a:solidFill>
              <a:srgbClr val="E6321E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Item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Details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 Person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 × 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Flights (return)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Iberia / Eurowings  DUS ↔ MAD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Accommodation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Malasaña — 3 nights (inc. fees)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Pub Crawl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Crawl Madrid — Puerta del Sol (Oct 31)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Point — 7 tapas + sangría (4h)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Walking 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Plaza Mayor (tip)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(3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Tapas, churros, market food — avg €15–20/meal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Drinks &amp; Nightlife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Malasaña + Chueca + Halloween club (3 nights)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Misc (transport, tips)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Metro, Uber, souvenirs, airport taxi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8E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🏆  TOTAL ESTIMATE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CA3A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Madrid, Oct 29/30 – Nov 2, 2025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6321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~€712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8C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~€2,848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961888"/>
            <a:ext cx="11247120" cy="621792"/>
          </a:xfrm>
          <a:prstGeom prst="rect">
            <a:avLst/>
          </a:prstGeom>
          <a:solidFill>
            <a:srgbClr val="16213E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980176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Budget range: €600–900pp depending on accommodation choice and club nights.  El Tigre bar gives MASSIVE free tapas plates with every €3 beer — take advantage.  Oct 31 is a Friday + Nov 1 is a public holiday = the best possible Halloween combo in Europe.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xcelhaus/halloween_trip/comparis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2000" cy="65836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73152"/>
            <a:ext cx="114300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SIDE-BY-SIDE COMPARISON  —  WHERE ARE WE GOING?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566160" y="749808"/>
            <a:ext cx="3749040" cy="530352"/>
          </a:xfrm>
          <a:prstGeom prst="rect">
            <a:avLst/>
          </a:prstGeom>
          <a:solidFill>
            <a:srgbClr val="0F3460">
              <a:alpha val="90000"/>
            </a:srgbClr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566160" y="74980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🇵🇹  LISBON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452360" y="749808"/>
            <a:ext cx="3749040" cy="530352"/>
          </a:xfrm>
          <a:prstGeom prst="rect">
            <a:avLst/>
          </a:prstGeom>
          <a:solidFill>
            <a:srgbClr val="0F3460">
              <a:alpha val="90000"/>
            </a:srgbClr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52360" y="74980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🇪🇸  MADRID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74320" y="1371600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137160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Trip Cost (pp)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566160" y="1371600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13716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~€735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452360" y="1371600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98080" y="13716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~€712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1787652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178765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Flight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566160" y="1787652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17876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 10m · DUS only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52360" y="1787652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0" y="17876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 30m · DUS only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4320" y="2203704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220370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🛫 Airport Choice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566160" y="2203704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611880" y="220370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only (Eurowings / TAP)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52360" y="2203704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498080" y="220370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only (Iberia / Eurowings)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74320" y="2619756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0040" y="261975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Beer Price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566160" y="2619756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11880" y="261975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 – €3 per pint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52360" y="2619756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0" y="261975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 – €4 per caña / tubo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74320" y="3035808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20040" y="303580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Late Oct Weather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566160" y="3035808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611880" y="303580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17–22°C ☀ T-shirt nights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52360" y="3035808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498080" y="303580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18–20°C ☀ Warmer at night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274320" y="3451860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4518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Halloween Vibe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3566160" y="3451860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611880" y="345186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  Fri pub crawl + clubs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452360" y="3451860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498080" y="345186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⭐⭐⭐⭐⭐ Fri + PUBLIC HOLIDAY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" y="3867912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20040" y="386791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Unique Feature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3566160" y="3867912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611880" y="38679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Street · Fado · Atlantic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7452360" y="3867912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498080" y="38679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Malasaña · Tapas · Vermouth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274320" y="4283964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320040" y="428396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Nightlife Hours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3566160" y="4283964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611880" y="42839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till 2 AM · clubs till 6 AM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452360" y="4283964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498080" y="42839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Clubs till 6–7 AM · free tapas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74320" y="4700016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20040" y="470001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🍴 Food Scene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3566160" y="4700016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3611880" y="470001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Petiscos · Bacalhau · €15–25/meal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7452360" y="4700016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7498080" y="470001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Tapas · Pintxos · €15–20/meal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274320" y="5116068"/>
            <a:ext cx="320040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320040" y="511606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Pub Crawl</a:t>
            </a:r>
            <a:endParaRPr lang="en-US" sz="1050" dirty="0"/>
          </a:p>
        </p:txBody>
      </p:sp>
      <p:sp>
        <p:nvSpPr>
          <p:cNvPr id="67" name="Shape 64"/>
          <p:cNvSpPr/>
          <p:nvPr/>
        </p:nvSpPr>
        <p:spPr>
          <a:xfrm>
            <a:off x="3566160" y="5116068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611880" y="51160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Halloween Haunts · €28pp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7452360" y="5116068"/>
            <a:ext cx="3749040" cy="384048"/>
          </a:xfrm>
          <a:prstGeom prst="rect">
            <a:avLst/>
          </a:prstGeom>
          <a:solidFill>
            <a:srgbClr val="1A1A2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498080" y="51160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Crawl Madrid · €20pp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74320" y="5532120"/>
            <a:ext cx="320040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320040" y="55321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Cooking Class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3566160" y="5532120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3611880" y="553212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Cooking Lisbon · €110pp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7452360" y="5532120"/>
            <a:ext cx="3749040" cy="384048"/>
          </a:xfrm>
          <a:prstGeom prst="rect">
            <a:avLst/>
          </a:prstGeom>
          <a:solidFill>
            <a:srgbClr val="16213E">
              <a:alpha val="80000"/>
            </a:srgbClr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498080" y="553212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Cooking Point · €85pp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274320" y="5948172"/>
            <a:ext cx="320040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0040" y="594817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Our Verdict</a:t>
            </a:r>
            <a:endParaRPr lang="en-US" sz="1200" dirty="0"/>
          </a:p>
        </p:txBody>
      </p:sp>
      <p:sp>
        <p:nvSpPr>
          <p:cNvPr id="79" name="Shape 76"/>
          <p:cNvSpPr/>
          <p:nvPr/>
        </p:nvSpPr>
        <p:spPr>
          <a:xfrm>
            <a:off x="3566160" y="5948172"/>
            <a:ext cx="374904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3611880" y="594817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8C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Atlantic charm, Fado, warmer Airbnb</a:t>
            </a:r>
            <a:endParaRPr lang="en-US" sz="1150" dirty="0"/>
          </a:p>
        </p:txBody>
      </p:sp>
      <p:sp>
        <p:nvSpPr>
          <p:cNvPr id="81" name="Shape 78"/>
          <p:cNvSpPr/>
          <p:nvPr/>
        </p:nvSpPr>
        <p:spPr>
          <a:xfrm>
            <a:off x="7452360" y="5948172"/>
            <a:ext cx="3749040" cy="384048"/>
          </a:xfrm>
          <a:prstGeom prst="rect">
            <a:avLst/>
          </a:prstGeom>
          <a:solidFill>
            <a:srgbClr val="0F3460"/>
          </a:solidFill>
          <a:ln w="12700">
            <a:solidFill>
              <a:srgbClr val="E6321E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7498080" y="594817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32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Halloween in Europe 2025</a:t>
            </a:r>
            <a:endParaRPr lang="en-US" sz="1150" dirty="0"/>
          </a:p>
        </p:txBody>
      </p:sp>
      <p:sp>
        <p:nvSpPr>
          <p:cNvPr id="83" name="Shape 80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Halloween Trip 2025 – Lisbon vs Madrid</dc:title>
  <dc:subject>PptxGenJS Presentation</dc:subject>
  <dc:creator>Halloween Trip 2025</dc:creator>
  <cp:lastModifiedBy>Halloween Trip 2025</cp:lastModifiedBy>
  <cp:revision>1</cp:revision>
  <dcterms:created xsi:type="dcterms:W3CDTF">2026-05-27T21:02:37Z</dcterms:created>
  <dcterms:modified xsi:type="dcterms:W3CDTF">2026-05-27T21:02:37Z</dcterms:modified>
</cp:coreProperties>
</file>